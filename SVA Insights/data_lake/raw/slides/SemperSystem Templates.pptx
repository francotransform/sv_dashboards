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8"/>
  </p:notesMasterIdLst>
  <p:sldIdLst>
    <p:sldId id="2147478112" r:id="rId5"/>
    <p:sldId id="2147478095" r:id="rId6"/>
    <p:sldId id="2147478126" r:id="rId7"/>
    <p:sldId id="2147478117" r:id="rId8"/>
    <p:sldId id="2147478127" r:id="rId9"/>
    <p:sldId id="2147478121" r:id="rId10"/>
    <p:sldId id="2147478119" r:id="rId11"/>
    <p:sldId id="2147478122" r:id="rId12"/>
    <p:sldId id="2147478128" r:id="rId13"/>
    <p:sldId id="2147478111" r:id="rId14"/>
    <p:sldId id="2147477016" r:id="rId15"/>
    <p:sldId id="2147478123" r:id="rId16"/>
    <p:sldId id="2147478130" r:id="rId17"/>
    <p:sldId id="2147478116" r:id="rId18"/>
    <p:sldId id="2147478093" r:id="rId19"/>
    <p:sldId id="2147478131" r:id="rId20"/>
    <p:sldId id="2147478132" r:id="rId21"/>
    <p:sldId id="2147478129" r:id="rId22"/>
    <p:sldId id="2147478124" r:id="rId23"/>
    <p:sldId id="2147478115" r:id="rId24"/>
    <p:sldId id="2147478125" r:id="rId25"/>
    <p:sldId id="2147478108" r:id="rId26"/>
    <p:sldId id="2147478110" r:id="rId27"/>
    <p:sldId id="2147478113" r:id="rId28"/>
    <p:sldId id="2147478114" r:id="rId29"/>
    <p:sldId id="2147478096" r:id="rId30"/>
    <p:sldId id="2147478109" r:id="rId31"/>
    <p:sldId id="2147478099" r:id="rId32"/>
    <p:sldId id="2147478097" r:id="rId33"/>
    <p:sldId id="2147478098" r:id="rId34"/>
    <p:sldId id="2147478100" r:id="rId35"/>
    <p:sldId id="2147478101" r:id="rId36"/>
    <p:sldId id="2147478102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72"/>
    <a:srgbClr val="F0FFA2"/>
    <a:srgbClr val="F8E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sempervirensvc.sharepoint.com/sites/OutsideAdvisors/Shared%20Documents/SemperVirens%20Investment%20Advisors/Ecosystem/Portfolio/SemperSystem%20Portfolio%20Tracking_ColumnStack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Spring Health Revenue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SemperSystem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Early Revenue</c:v>
                </c:pt>
                <c:pt idx="1">
                  <c:v>Growth Revenue</c:v>
                </c:pt>
                <c:pt idx="2">
                  <c:v>Scale Revenue</c:v>
                </c:pt>
              </c:strCache>
            </c:strRef>
          </c:cat>
          <c:val>
            <c:numRef>
              <c:f>Sheet1!$B$2:$B$5</c:f>
              <c:numCache>
                <c:formatCode>"$"#,##0.00_);[Red]\("$"#,##0.00\)</c:formatCode>
                <c:ptCount val="4"/>
                <c:pt idx="0" formatCode="_([$$-409]* #,##0.00_);_([$$-409]* \(#,##0.00\);_([$$-409]* &quot;-&quot;??_);_(@_)">
                  <c:v>1000000</c:v>
                </c:pt>
                <c:pt idx="1">
                  <c:v>10000000</c:v>
                </c:pt>
                <c:pt idx="2">
                  <c:v>40000000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B3-4E04-B75D-B705690CE28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ARR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Early Revenue</c:v>
                </c:pt>
                <c:pt idx="1">
                  <c:v>Growth Revenue</c:v>
                </c:pt>
                <c:pt idx="2">
                  <c:v>Scale Revenue</c:v>
                </c:pt>
              </c:strCache>
            </c:strRef>
          </c:cat>
          <c:val>
            <c:numRef>
              <c:f>Sheet1!$C$2:$C$5</c:f>
              <c:numCache>
                <c:formatCode>_([$$-409]* #,##0.00_);_([$$-409]* \(#,##0.00\);_([$$-409]* "-"??_);_(@_)</c:formatCode>
                <c:ptCount val="4"/>
                <c:pt idx="0">
                  <c:v>4000000</c:v>
                </c:pt>
                <c:pt idx="1">
                  <c:v>40000000</c:v>
                </c:pt>
                <c:pt idx="2">
                  <c:v>500000000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FB3-4E04-B75D-B705690CE2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23098736"/>
        <c:axId val="623100176"/>
      </c:barChart>
      <c:catAx>
        <c:axId val="6230987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3100176"/>
        <c:crosses val="autoZero"/>
        <c:auto val="1"/>
        <c:lblAlgn val="ctr"/>
        <c:lblOffset val="100"/>
        <c:noMultiLvlLbl val="0"/>
      </c:catAx>
      <c:valAx>
        <c:axId val="623100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[$$-409]* #,##0.00_);_([$$-409]* \(#,##0.00\);_([$$-409]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23098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6E461-874C-9C47-9A9F-12771DBB4D3C}" type="datetimeFigureOut">
              <a:rPr lang="en-US" smtClean="0"/>
              <a:t>4/28/2025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360BF-F162-B447-9F0F-F6CD3BF06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89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360BF-F162-B447-9F0F-F6CD3BF0632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333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29FBE-9F72-0B29-A482-CDC7B93CF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F61C74-624D-7E41-49F7-1D3B79FFA3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EA0285-CC64-0610-9E68-1010B73CA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CEAFC-739C-152F-C377-272121F90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3558CA-3EB3-C84C-8CA2-B887D488FC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2098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360BF-F162-B447-9F0F-F6CD3BF0632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75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E360BF-F162-B447-9F0F-F6CD3BF0632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138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Helped land first 10 of 20 customers</a:t>
            </a:r>
            <a:r>
              <a:rPr lang="en-US" sz="1800" b="0" i="0">
                <a:solidFill>
                  <a:srgbClr val="183942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​</a:t>
            </a:r>
            <a:endParaRPr lang="en-US" b="0" i="0">
              <a:solidFill>
                <a:srgbClr val="183942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Assisted in closing a $10M deal with a top Life and Disability Broker, now worth $40M+</a:t>
            </a:r>
            <a:r>
              <a:rPr lang="en-US" sz="1800" b="0" i="0">
                <a:solidFill>
                  <a:srgbClr val="183942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​</a:t>
            </a:r>
            <a:endParaRPr lang="en-US" b="0" i="0">
              <a:solidFill>
                <a:srgbClr val="183942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Helped win a broker partnership with a top 10 broker in the country</a:t>
            </a:r>
            <a:endParaRPr lang="en-US" b="0" i="0">
              <a:solidFill>
                <a:srgbClr val="183942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E182DE-7F80-4D12-99B2-EB6A5D1BFF3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8108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Helped land first 10 of 20 customers</a:t>
            </a:r>
            <a:r>
              <a:rPr lang="en-US" sz="1800" b="0" i="0">
                <a:solidFill>
                  <a:srgbClr val="183942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​</a:t>
            </a:r>
            <a:endParaRPr lang="en-US" b="0" i="0">
              <a:solidFill>
                <a:srgbClr val="183942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Assisted in closing a $10M deal with a top Life and Disability Broker, now worth $40M+</a:t>
            </a:r>
            <a:r>
              <a:rPr lang="en-US" sz="1800" b="0" i="0">
                <a:solidFill>
                  <a:srgbClr val="183942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​</a:t>
            </a:r>
            <a:endParaRPr lang="en-US" b="0" i="0">
              <a:solidFill>
                <a:srgbClr val="183942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Helped win a broker partnership with a top 10 broker in the country</a:t>
            </a:r>
            <a:endParaRPr lang="en-US" b="0" i="0">
              <a:solidFill>
                <a:srgbClr val="183942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E182DE-7F80-4D12-99B2-EB6A5D1BFF3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6979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Helped land first 10 of 20 customers</a:t>
            </a:r>
            <a:r>
              <a:rPr lang="en-US" sz="1800" b="0" i="0">
                <a:solidFill>
                  <a:srgbClr val="183942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​</a:t>
            </a:r>
            <a:endParaRPr lang="en-US" b="0" i="0">
              <a:solidFill>
                <a:srgbClr val="183942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Assisted in closing a $10M deal with a top Life and Disability Broker, now worth $40M+</a:t>
            </a:r>
            <a:r>
              <a:rPr lang="en-US" sz="1800" b="0" i="0">
                <a:solidFill>
                  <a:srgbClr val="183942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​</a:t>
            </a:r>
            <a:endParaRPr lang="en-US" b="0" i="0">
              <a:solidFill>
                <a:srgbClr val="183942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>
                <a:solidFill>
                  <a:srgbClr val="000000"/>
                </a:solidFill>
                <a:effectLst/>
                <a:highlight>
                  <a:srgbClr val="F5F5F5"/>
                </a:highlight>
                <a:latin typeface="Calibri Light" panose="020F0302020204030204" pitchFamily="34" charset="0"/>
              </a:rPr>
              <a:t>Helped win a broker partnership with a top 10 broker in the country</a:t>
            </a:r>
            <a:endParaRPr lang="en-US" b="0" i="0">
              <a:solidFill>
                <a:srgbClr val="183942"/>
              </a:solidFill>
              <a:effectLst/>
              <a:highlight>
                <a:srgbClr val="F5F5F5"/>
              </a:highlight>
              <a:latin typeface="Arial" panose="020B0604020202020204" pitchFamily="34" charset="0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E182DE-7F80-4D12-99B2-EB6A5D1BFF3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379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E182DE-7F80-4D12-99B2-EB6A5D1BFF3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6117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E182DE-7F80-4D12-99B2-EB6A5D1BFF3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2190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FE182DE-7F80-4D12-99B2-EB6A5D1BFF3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4835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18" Type="http://schemas.openxmlformats.org/officeDocument/2006/relationships/image" Target="../media/image36.png"/><Relationship Id="rId3" Type="http://schemas.openxmlformats.org/officeDocument/2006/relationships/image" Target="../media/image18.svg"/><Relationship Id="rId21" Type="http://schemas.openxmlformats.org/officeDocument/2006/relationships/image" Target="../media/image39.svg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17" Type="http://schemas.openxmlformats.org/officeDocument/2006/relationships/image" Target="../media/image35.svg"/><Relationship Id="rId2" Type="http://schemas.openxmlformats.org/officeDocument/2006/relationships/image" Target="../media/image17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23" Type="http://schemas.openxmlformats.org/officeDocument/2006/relationships/image" Target="../media/image41.svg"/><Relationship Id="rId10" Type="http://schemas.openxmlformats.org/officeDocument/2006/relationships/image" Target="../media/image28.png"/><Relationship Id="rId19" Type="http://schemas.openxmlformats.org/officeDocument/2006/relationships/image" Target="../media/image37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Relationship Id="rId14" Type="http://schemas.openxmlformats.org/officeDocument/2006/relationships/image" Target="../media/image32.png"/><Relationship Id="rId22" Type="http://schemas.openxmlformats.org/officeDocument/2006/relationships/image" Target="../media/image40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svg"/><Relationship Id="rId18" Type="http://schemas.openxmlformats.org/officeDocument/2006/relationships/image" Target="../media/image36.png"/><Relationship Id="rId3" Type="http://schemas.openxmlformats.org/officeDocument/2006/relationships/image" Target="../media/image43.svg"/><Relationship Id="rId21" Type="http://schemas.openxmlformats.org/officeDocument/2006/relationships/image" Target="../media/image39.svg"/><Relationship Id="rId7" Type="http://schemas.openxmlformats.org/officeDocument/2006/relationships/image" Target="../media/image25.svg"/><Relationship Id="rId12" Type="http://schemas.openxmlformats.org/officeDocument/2006/relationships/image" Target="../media/image30.png"/><Relationship Id="rId17" Type="http://schemas.openxmlformats.org/officeDocument/2006/relationships/image" Target="../media/image35.svg"/><Relationship Id="rId2" Type="http://schemas.openxmlformats.org/officeDocument/2006/relationships/image" Target="../media/image42.png"/><Relationship Id="rId16" Type="http://schemas.openxmlformats.org/officeDocument/2006/relationships/image" Target="../media/image34.png"/><Relationship Id="rId20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5" Type="http://schemas.openxmlformats.org/officeDocument/2006/relationships/image" Target="../media/image33.svg"/><Relationship Id="rId23" Type="http://schemas.openxmlformats.org/officeDocument/2006/relationships/image" Target="../media/image41.svg"/><Relationship Id="rId10" Type="http://schemas.openxmlformats.org/officeDocument/2006/relationships/image" Target="../media/image28.png"/><Relationship Id="rId19" Type="http://schemas.openxmlformats.org/officeDocument/2006/relationships/image" Target="../media/image37.svg"/><Relationship Id="rId4" Type="http://schemas.openxmlformats.org/officeDocument/2006/relationships/image" Target="../media/image22.png"/><Relationship Id="rId9" Type="http://schemas.openxmlformats.org/officeDocument/2006/relationships/image" Target="../media/image27.svg"/><Relationship Id="rId14" Type="http://schemas.openxmlformats.org/officeDocument/2006/relationships/image" Target="../media/image32.png"/><Relationship Id="rId22" Type="http://schemas.openxmlformats.org/officeDocument/2006/relationships/image" Target="../media/image40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15900">
            <a:solidFill>
              <a:srgbClr val="DC0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endParaRPr lang="en-US" sz="3200" b="0" i="0">
              <a:latin typeface="Neue Haas Grotesk Text Pro" panose="020B0504020202020204" pitchFamily="34" charset="77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0" y="2"/>
            <a:ext cx="12192000" cy="855609"/>
          </a:xfrm>
          <a:prstGeom prst="rect">
            <a:avLst/>
          </a:prstGeom>
          <a:solidFill>
            <a:srgbClr val="DC0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endParaRPr lang="en-US" sz="3200" b="0" i="0">
              <a:latin typeface="Neue Haas Grotesk Text Pro" panose="020B0504020202020204" pitchFamily="34" charset="77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0227735" y="284604"/>
            <a:ext cx="1797476" cy="367229"/>
          </a:xfrm>
          <a:prstGeom prst="rect">
            <a:avLst/>
          </a:prstGeom>
          <a:solidFill>
            <a:schemeClr val="bg2">
              <a:lumMod val="1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76200" tIns="38100" rIns="76200" bIns="38100" rtlCol="0" anchor="ctr"/>
          <a:lstStyle/>
          <a:p>
            <a:pPr algn="ctr"/>
            <a:r>
              <a:rPr lang="en-US" sz="1733" b="0" i="0" spc="500">
                <a:latin typeface="Neue Haas Grotesk Text Pro" panose="020B0504020202020204" pitchFamily="34" charset="77"/>
              </a:rPr>
              <a:t>INTERNAL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76" y="195308"/>
            <a:ext cx="9878069" cy="632521"/>
          </a:xfrm>
        </p:spPr>
        <p:txBody>
          <a:bodyPr/>
          <a:lstStyle>
            <a:lvl1pPr>
              <a:defRPr sz="2667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00812CC-710C-9A7C-23C5-88450CB16D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219200"/>
            <a:ext cx="11430000" cy="5341938"/>
          </a:xfrm>
        </p:spPr>
        <p:txBody>
          <a:bodyPr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005B1CD-8AC5-2161-095B-4F7B5FCE82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1385" y="7013641"/>
            <a:ext cx="2350615" cy="36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01550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 (Dark Blu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8362F348-676F-6A5B-8B37-D36E84649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6196" y="5272391"/>
            <a:ext cx="4421389" cy="916479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49189E5-459F-C688-A8FD-16B621E7A4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r="15737" b="2202"/>
          <a:stretch/>
        </p:blipFill>
        <p:spPr>
          <a:xfrm>
            <a:off x="7418222" y="151030"/>
            <a:ext cx="4773778" cy="6706970"/>
          </a:xfrm>
          <a:prstGeom prst="rect">
            <a:avLst/>
          </a:prstGeom>
        </p:spPr>
      </p:pic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2A1DC9F-4CC6-8B0C-8A1A-792E30A82C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8453" y="3822970"/>
            <a:ext cx="6273262" cy="682055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9" name="Title 48">
            <a:extLst>
              <a:ext uri="{FF2B5EF4-FFF2-40B4-BE49-F238E27FC236}">
                <a16:creationId xmlns:a16="http://schemas.microsoft.com/office/drawing/2014/main" id="{ABA97B8B-EAEC-6A6E-7153-E7307762D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8453" y="1512266"/>
            <a:ext cx="8080394" cy="1916734"/>
          </a:xfrm>
          <a:noFill/>
        </p:spPr>
        <p:txBody>
          <a:bodyPr/>
          <a:lstStyle>
            <a:lvl1pPr>
              <a:defRPr sz="4800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 and title line 2 and a third line goes here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EDE91FE-611F-B986-1671-954D37418B53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FB0FB902-AFA7-AFC1-DE01-683BA0DD3337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01A7AD0C-1766-A6D2-FA25-731A4DB9BB19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E1C5BFB9-DBAC-FA69-57EA-F25C81E4BE9A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DD7ADF5-5866-E640-6D1A-DF0D7CDCF5A6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F2416F0-0167-D75B-9A58-5FF8CDF89D12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39124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560">
          <p15:clr>
            <a:srgbClr val="FBAE40"/>
          </p15:clr>
        </p15:guide>
        <p15:guide id="2" pos="52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 (Classic Dark Green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phic 41">
            <a:extLst>
              <a:ext uri="{FF2B5EF4-FFF2-40B4-BE49-F238E27FC236}">
                <a16:creationId xmlns:a16="http://schemas.microsoft.com/office/drawing/2014/main" id="{9B4EF4C5-351D-0B4C-FD03-FBD3BB4BD9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2016" r="19837" b="11674"/>
          <a:stretch/>
        </p:blipFill>
        <p:spPr>
          <a:xfrm>
            <a:off x="6013815" y="-1"/>
            <a:ext cx="6178185" cy="685800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F3BD68B0-820B-2D9D-12A1-6462CD8D3654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9D77BF5-F95C-B494-EA1D-2886F1437506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3AC7AF-B7CC-400F-AC9C-F49630FF18BA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D0835E-094B-6B2B-91B1-76F71A3C900D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8725BF-93FD-2057-1EA7-F239CE2E9F86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9D165B-BD32-52C3-70AF-B91B6170BE6A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pic>
        <p:nvPicPr>
          <p:cNvPr id="10" name="Graphic 9">
            <a:extLst>
              <a:ext uri="{FF2B5EF4-FFF2-40B4-BE49-F238E27FC236}">
                <a16:creationId xmlns:a16="http://schemas.microsoft.com/office/drawing/2014/main" id="{287DD694-E4B8-CB80-7639-AFECEEEC8F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6196" y="5272391"/>
            <a:ext cx="4421389" cy="916479"/>
          </a:xfrm>
          <a:prstGeom prst="rect">
            <a:avLst/>
          </a:prstGeom>
        </p:spPr>
      </p:pic>
      <p:sp>
        <p:nvSpPr>
          <p:cNvPr id="11" name="Text Placeholder 47">
            <a:extLst>
              <a:ext uri="{FF2B5EF4-FFF2-40B4-BE49-F238E27FC236}">
                <a16:creationId xmlns:a16="http://schemas.microsoft.com/office/drawing/2014/main" id="{C4BD515B-003F-55FE-8267-7139A446BA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8453" y="3822970"/>
            <a:ext cx="6273262" cy="682055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2" name="Title 48">
            <a:extLst>
              <a:ext uri="{FF2B5EF4-FFF2-40B4-BE49-F238E27FC236}">
                <a16:creationId xmlns:a16="http://schemas.microsoft.com/office/drawing/2014/main" id="{D9CC2B41-13BA-94F4-3339-DE9ADBFB86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8453" y="1512266"/>
            <a:ext cx="8080394" cy="1916734"/>
          </a:xfrm>
          <a:noFill/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 and title line 2 and a third line goes here</a:t>
            </a:r>
          </a:p>
        </p:txBody>
      </p:sp>
    </p:spTree>
    <p:extLst>
      <p:ext uri="{BB962C8B-B14F-4D97-AF65-F5344CB8AC3E}">
        <p14:creationId xmlns:p14="http://schemas.microsoft.com/office/powerpoint/2010/main" val="40882772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560">
          <p15:clr>
            <a:srgbClr val="FBAE40"/>
          </p15:clr>
        </p15:guide>
        <p15:guide id="2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 (White Background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phic 41">
            <a:extLst>
              <a:ext uri="{FF2B5EF4-FFF2-40B4-BE49-F238E27FC236}">
                <a16:creationId xmlns:a16="http://schemas.microsoft.com/office/drawing/2014/main" id="{9B4EF4C5-351D-0B4C-FD03-FBD3BB4BD9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2016" r="19837" b="11674"/>
          <a:stretch/>
        </p:blipFill>
        <p:spPr>
          <a:xfrm>
            <a:off x="6013815" y="-1"/>
            <a:ext cx="6178185" cy="6858001"/>
          </a:xfrm>
          <a:prstGeom prst="rect">
            <a:avLst/>
          </a:prstGeom>
        </p:spPr>
      </p:pic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2A1DC9F-4CC6-8B0C-8A1A-792E30A82C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8453" y="4076579"/>
            <a:ext cx="6273262" cy="1553733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3D3D3D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9" name="Title 48">
            <a:extLst>
              <a:ext uri="{FF2B5EF4-FFF2-40B4-BE49-F238E27FC236}">
                <a16:creationId xmlns:a16="http://schemas.microsoft.com/office/drawing/2014/main" id="{ABA97B8B-EAEC-6A6E-7153-E7307762D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8453" y="1963487"/>
            <a:ext cx="8080394" cy="1916734"/>
          </a:xfrm>
          <a:noFill/>
        </p:spPr>
        <p:txBody>
          <a:bodyPr/>
          <a:lstStyle>
            <a:lvl1pPr>
              <a:defRPr sz="4800">
                <a:solidFill>
                  <a:srgbClr val="3D3D3D"/>
                </a:solidFill>
              </a:defRPr>
            </a:lvl1pPr>
          </a:lstStyle>
          <a:p>
            <a:r>
              <a:rPr lang="en-US"/>
              <a:t>Click to edit master title style and title line 2 and a third line goes here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02C5D0C-34DA-F124-055E-0D3B12DCAD9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5747" y="532589"/>
            <a:ext cx="4411363" cy="9144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B19D94C4-F414-44FB-41A2-F949C1749C5B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C7DB73A-54AE-DD51-6279-733919100098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781D5C3-6F84-A1B0-77FD-00B615480846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8CCFC1-BE29-EFEE-9E8B-8D6A082DE296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DCF3E3-5B04-A6F5-5863-9709ECE39D0C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10FA4A5-25E7-BF9C-2D7A-3D7BE5C98F72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pic>
        <p:nvPicPr>
          <p:cNvPr id="11" name="Graphic 10">
            <a:extLst>
              <a:ext uri="{FF2B5EF4-FFF2-40B4-BE49-F238E27FC236}">
                <a16:creationId xmlns:a16="http://schemas.microsoft.com/office/drawing/2014/main" id="{84EFACB4-AB4A-063F-3C34-E2648D8417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12016" r="62298" b="11674"/>
          <a:stretch/>
        </p:blipFill>
        <p:spPr>
          <a:xfrm>
            <a:off x="9277875" y="-1"/>
            <a:ext cx="2905693" cy="68580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A7B0C0-1C7F-557C-E022-AEB84032A6CF}"/>
              </a:ext>
            </a:extLst>
          </p:cNvPr>
          <p:cNvSpPr txBox="1"/>
          <p:nvPr userDrawn="1"/>
        </p:nvSpPr>
        <p:spPr>
          <a:xfrm>
            <a:off x="7488820" y="-713256"/>
            <a:ext cx="400110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Neue Haas Grotesk Text Pro" panose="020B0504020202020204" pitchFamily="34" charset="77"/>
              <a:ea typeface="MS PGothic" pitchFamily="34" charset="-128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8726772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560">
          <p15:clr>
            <a:srgbClr val="FBAE40"/>
          </p15:clr>
        </p15:guide>
        <p15:guide id="2" pos="52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A8EC360-6212-BE23-5378-DA90D6B918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0552"/>
          <a:stretch/>
        </p:blipFill>
        <p:spPr>
          <a:xfrm>
            <a:off x="8624611" y="398199"/>
            <a:ext cx="3567386" cy="6459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D899FF-06EB-24C4-9E1C-D1E8AF0325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/>
          <a:lstStyle>
            <a:lvl1pPr algn="ctr"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C008E28-374F-D028-DCAE-E130693A2D02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9A08E5B-BF7A-A454-F85E-453E073F3E7F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D889034-68A5-358D-C8C3-7D1DEB12416E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7228724-8DCE-895E-261E-24A65DF1027F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65963DA-8C4D-52C2-E970-64A6D4FC9FB1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CED5966-F907-D943-F4CA-D7E8C290E821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017B8EB-36CE-FFDD-EC4C-F4EAD83A49F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139825" y="1485900"/>
            <a:ext cx="9912350" cy="4302125"/>
          </a:xfrm>
          <a:solidFill>
            <a:schemeClr val="bg1"/>
          </a:solidFill>
        </p:spPr>
        <p:txBody>
          <a:bodyPr lIns="182880" tIns="274320" rIns="182880" bIns="274320"/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181851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0"/>
          <p:cNvSpPr>
            <a:spLocks noGrp="1"/>
          </p:cNvSpPr>
          <p:nvPr>
            <p:ph sz="quarter" idx="10"/>
          </p:nvPr>
        </p:nvSpPr>
        <p:spPr>
          <a:xfrm>
            <a:off x="381947" y="1485901"/>
            <a:ext cx="11428111" cy="4491298"/>
          </a:xfrm>
        </p:spPr>
        <p:txBody>
          <a:bodyPr/>
          <a:lstStyle>
            <a:lvl1pPr>
              <a:defRPr b="0" i="0">
                <a:solidFill>
                  <a:srgbClr val="3D3D3D"/>
                </a:solidFill>
              </a:defRPr>
            </a:lvl1pPr>
            <a:lvl2pPr marL="808262" indent="-264571">
              <a:buSzPct val="80000"/>
              <a:buFont typeface="Arial" panose="020B0604020202020204" pitchFamily="34" charset="0"/>
              <a:buChar char="•"/>
              <a:defRPr b="0" i="0">
                <a:solidFill>
                  <a:srgbClr val="3D3D3D"/>
                </a:solidFill>
              </a:defRPr>
            </a:lvl2pPr>
            <a:lvl3pPr>
              <a:defRPr b="0" i="0">
                <a:solidFill>
                  <a:srgbClr val="3D3D3D"/>
                </a:solidFill>
              </a:defRPr>
            </a:lvl3pPr>
            <a:lvl4pPr>
              <a:defRPr b="0" i="0">
                <a:solidFill>
                  <a:srgbClr val="3D3D3D"/>
                </a:solidFill>
              </a:defRPr>
            </a:lvl4pPr>
            <a:lvl5pPr marL="2383776" indent="-206366">
              <a:buSzPct val="70000"/>
              <a:buFontTx/>
              <a:buBlip>
                <a:blip r:embed="rId2"/>
              </a:buBlip>
              <a:defRPr b="0" i="0">
                <a:solidFill>
                  <a:srgbClr val="3D3D3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6A6DA3F-533B-595F-3576-0EF35131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541536"/>
            <a:ext cx="11417484" cy="541179"/>
          </a:xfrm>
        </p:spPr>
        <p:txBody>
          <a:bodyPr/>
          <a:lstStyle>
            <a:lvl1pPr>
              <a:defRPr>
                <a:solidFill>
                  <a:srgbClr val="3D3D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46C99DA-8381-9AE8-58AF-7D4082B44A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4771" y="144320"/>
            <a:ext cx="1253711" cy="25987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86C50B0-76E2-247E-2C66-38CA576A867B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AD2E4DE-93E3-CC71-EC3F-42A060634968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CFB5AF-D6FD-E2F9-2A1A-F2138201F2F0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9BE7BD1-C7EA-D2D1-42BE-276352F18B79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C256C6C-62BD-300F-0A29-2EFA8AF6A15F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68054AC-DA5C-F001-A276-008FA0E8BB39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B6A60C3-C376-6A05-EA27-B1C5EF9A3DD7}"/>
              </a:ext>
            </a:extLst>
          </p:cNvPr>
          <p:cNvSpPr txBox="1"/>
          <p:nvPr userDrawn="1"/>
        </p:nvSpPr>
        <p:spPr>
          <a:xfrm>
            <a:off x="380998" y="6423000"/>
            <a:ext cx="2432482" cy="215444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/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Neue Haas Grotesk Text Pro" panose="020B0504020202020204" pitchFamily="34" charset="77"/>
              </a:rPr>
              <a:t>©</a:t>
            </a:r>
            <a:fld id="{61F36072-8A80-2B41-B404-5B6EDAA26D3D}" type="datetimeyyyy">
              <a:rPr lang="en-US" sz="800" b="0" i="0" smtClean="0">
                <a:solidFill>
                  <a:schemeClr val="bg2">
                    <a:lumMod val="75000"/>
                  </a:schemeClr>
                </a:solidFill>
                <a:latin typeface="Neue Haas Grotesk Text Pro" panose="020B0504020202020204" pitchFamily="34" charset="77"/>
              </a:rPr>
              <a:t>2025</a:t>
            </a:fld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Neue Haas Grotesk Text Pro" panose="020B0504020202020204" pitchFamily="34" charset="77"/>
              </a:rPr>
              <a:t> SemperVirens. All Rights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E5CD52-B25C-B6A0-D506-2CC8A7EC3F08}"/>
              </a:ext>
            </a:extLst>
          </p:cNvPr>
          <p:cNvSpPr txBox="1"/>
          <p:nvPr userDrawn="1"/>
        </p:nvSpPr>
        <p:spPr>
          <a:xfrm>
            <a:off x="11256885" y="6407612"/>
            <a:ext cx="530554" cy="246221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r"/>
            <a:fld id="{BBE5E1A1-B396-E94B-9848-41A86103EDCD}" type="slidenum">
              <a:rPr lang="en-US" sz="1000" b="0" i="0" smtClean="0">
                <a:solidFill>
                  <a:schemeClr val="bg2">
                    <a:lumMod val="75000"/>
                  </a:schemeClr>
                </a:solidFill>
                <a:latin typeface="Neue Haas Grotesk Text Pro" panose="020B0504020202020204" pitchFamily="34" charset="77"/>
              </a:rPr>
              <a:pPr algn="r"/>
              <a:t>‹#›</a:t>
            </a:fld>
            <a:endParaRPr lang="en-US" sz="1000" b="0" i="0">
              <a:solidFill>
                <a:schemeClr val="bg2">
                  <a:lumMod val="75000"/>
                </a:schemeClr>
              </a:solidFill>
              <a:latin typeface="Neue Haas Grotesk Tex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33673936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with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16200000">
            <a:off x="10563763" y="-883499"/>
            <a:ext cx="744741" cy="2511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 defTabSz="108786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 b="0" i="0">
              <a:solidFill>
                <a:srgbClr val="E0E3E3"/>
              </a:solidFill>
              <a:latin typeface="Neue Haas Grotesk Text Pro" panose="020B0504020202020204" pitchFamily="34" charset="77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81948" y="578692"/>
            <a:ext cx="5590218" cy="628785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3D3D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3BE392D-0F8E-9C0E-E40C-A385B2200A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485900"/>
            <a:ext cx="5590218" cy="4768851"/>
          </a:xfrm>
        </p:spPr>
        <p:txBody>
          <a:bodyPr/>
          <a:lstStyle>
            <a:lvl1pPr>
              <a:defRPr b="0" i="0">
                <a:solidFill>
                  <a:srgbClr val="3D3D3D"/>
                </a:solidFill>
              </a:defRPr>
            </a:lvl1pPr>
            <a:lvl2pPr>
              <a:defRPr b="0" i="0">
                <a:solidFill>
                  <a:srgbClr val="3D3D3D"/>
                </a:solidFill>
              </a:defRPr>
            </a:lvl2pPr>
            <a:lvl3pPr>
              <a:defRPr b="0" i="0">
                <a:solidFill>
                  <a:srgbClr val="3D3D3D"/>
                </a:solidFill>
              </a:defRPr>
            </a:lvl3pPr>
            <a:lvl4pPr>
              <a:defRPr b="0" i="0">
                <a:solidFill>
                  <a:srgbClr val="3D3D3D"/>
                </a:solidFill>
              </a:defRPr>
            </a:lvl4pPr>
            <a:lvl5pPr>
              <a:defRPr b="0" i="0">
                <a:solidFill>
                  <a:srgbClr val="3D3D3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45F4A9-8BC8-360E-4817-CF0FED2896A9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52BD325-B40B-52AD-BC5B-AB53A5E7BB56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B059C33-84EF-91CC-2DA4-72D584FE8CF5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277706C-4EE1-F8BD-9801-4B5255BD283B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47B4F88-E311-ED08-5228-74FBB23AE5E1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9B171CC-7A91-CEA5-9F84-31414367B6F4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CCB500-3712-8726-30B7-842DE74F97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57975" y="0"/>
            <a:ext cx="5590218" cy="6858000"/>
          </a:xfrm>
          <a:solidFill>
            <a:srgbClr val="F8F7F1"/>
          </a:solidFill>
        </p:spPr>
        <p:txBody>
          <a:bodyPr lIns="365760" tIns="640080" rIns="365760" bIns="365760"/>
          <a:lstStyle>
            <a:lvl1pPr>
              <a:lnSpc>
                <a:spcPct val="100000"/>
              </a:lnSpc>
              <a:spcAft>
                <a:spcPts val="800"/>
              </a:spcAft>
              <a:buClr>
                <a:schemeClr val="accent4">
                  <a:lumMod val="75000"/>
                </a:schemeClr>
              </a:buClr>
              <a:defRPr sz="1800" b="0" i="0">
                <a:solidFill>
                  <a:srgbClr val="3D3D3D"/>
                </a:solidFill>
                <a:latin typeface="Neue Haas Grotesk Text Pro" panose="020B0504020202020204" pitchFamily="34" charset="77"/>
              </a:defRPr>
            </a:lvl1pPr>
            <a:lvl2pPr>
              <a:defRPr b="1" i="0">
                <a:solidFill>
                  <a:srgbClr val="3D3D3D"/>
                </a:solidFill>
                <a:latin typeface="Aptos" panose="020B0004020202020204" pitchFamily="34" charset="0"/>
              </a:defRPr>
            </a:lvl2pPr>
            <a:lvl3pPr>
              <a:defRPr b="1" i="0">
                <a:solidFill>
                  <a:srgbClr val="3D3D3D"/>
                </a:solidFill>
                <a:latin typeface="Aptos" panose="020B0004020202020204" pitchFamily="34" charset="0"/>
              </a:defRPr>
            </a:lvl3pPr>
            <a:lvl4pPr>
              <a:defRPr b="1" i="0">
                <a:solidFill>
                  <a:srgbClr val="3D3D3D"/>
                </a:solidFill>
                <a:latin typeface="Aptos" panose="020B0004020202020204" pitchFamily="34" charset="0"/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Key Points get called out here</a:t>
            </a:r>
          </a:p>
        </p:txBody>
      </p:sp>
    </p:spTree>
    <p:extLst>
      <p:ext uri="{BB962C8B-B14F-4D97-AF65-F5344CB8AC3E}">
        <p14:creationId xmlns:p14="http://schemas.microsoft.com/office/powerpoint/2010/main" val="1179573409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16200000">
            <a:off x="10563763" y="-883499"/>
            <a:ext cx="744741" cy="2511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 defTabSz="108786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 b="0" i="0">
              <a:solidFill>
                <a:srgbClr val="E0E3E3"/>
              </a:solidFill>
              <a:latin typeface="Neue Haas Grotesk Text Pro" panose="020B0504020202020204" pitchFamily="34" charset="77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81948" y="1485900"/>
            <a:ext cx="4312376" cy="4324350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rgbClr val="3D3D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B536C58-810E-5A4A-B71B-45260EBD83A7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4D83FF-A316-814A-B108-33A1ABEECC99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6A0AE60-B3CD-5A40-A359-B8C9E891377A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4A4E958-7E74-F94F-BC03-22FDCE86F163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7E7594D-9041-9B45-A1F5-D3A3D9EBAC20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379DF4-AC4A-7D4E-B312-E3ED816E6B35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42AACAF-27CB-4539-B8B3-DF997E76A0B3}"/>
              </a:ext>
            </a:extLst>
          </p:cNvPr>
          <p:cNvCxnSpPr>
            <a:cxnSpLocks/>
          </p:cNvCxnSpPr>
          <p:nvPr userDrawn="1"/>
        </p:nvCxnSpPr>
        <p:spPr>
          <a:xfrm>
            <a:off x="5102268" y="1399429"/>
            <a:ext cx="0" cy="4558459"/>
          </a:xfrm>
          <a:prstGeom prst="line">
            <a:avLst/>
          </a:prstGeom>
          <a:ln w="12700">
            <a:gradFill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68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ADFA81-00A1-140F-54AF-1472384359EE}"/>
              </a:ext>
            </a:extLst>
          </p:cNvPr>
          <p:cNvCxnSpPr>
            <a:cxnSpLocks/>
          </p:cNvCxnSpPr>
          <p:nvPr userDrawn="1"/>
        </p:nvCxnSpPr>
        <p:spPr>
          <a:xfrm>
            <a:off x="2133553" y="302461"/>
            <a:ext cx="0" cy="485439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98E2710-4F60-C246-EFF0-D8D843A91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1733" y="378556"/>
            <a:ext cx="4876800" cy="366184"/>
          </a:xfrm>
        </p:spPr>
        <p:txBody>
          <a:bodyPr anchor="ctr"/>
          <a:lstStyle>
            <a:lvl1pPr marL="0" indent="0">
              <a:buNone/>
              <a:defRPr sz="1100" b="0" i="0" spc="333" baseline="0">
                <a:solidFill>
                  <a:srgbClr val="3D3D3D"/>
                </a:solidFill>
                <a:latin typeface="Neue Haas Grotesk Text Pro" panose="020B0504020202020204" pitchFamily="34" charset="77"/>
              </a:defRPr>
            </a:lvl1pPr>
          </a:lstStyle>
          <a:p>
            <a:pPr lvl="0"/>
            <a:r>
              <a:rPr lang="en-US"/>
              <a:t>CONTENT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CD1D5F3-244C-D46E-2ADC-247BF6514E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880" y="335378"/>
            <a:ext cx="1631981" cy="431009"/>
          </a:xfrm>
          <a:prstGeom prst="rect">
            <a:avLst/>
          </a:prstGeom>
        </p:spPr>
      </p:pic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799CC947-CB4F-BAF7-0832-89EA5A5AEEE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0212" y="1485900"/>
            <a:ext cx="6300787" cy="4324350"/>
          </a:xfrm>
        </p:spPr>
        <p:txBody>
          <a:bodyPr anchor="ctr"/>
          <a:lstStyle>
            <a:lvl1pPr>
              <a:defRPr sz="2000" b="0" i="0">
                <a:solidFill>
                  <a:srgbClr val="3D3D3D"/>
                </a:solidFill>
              </a:defRPr>
            </a:lvl1pPr>
            <a:lvl2pPr>
              <a:defRPr sz="2000" b="0" i="0">
                <a:solidFill>
                  <a:srgbClr val="3D3D3D"/>
                </a:solidFill>
              </a:defRPr>
            </a:lvl2pPr>
            <a:lvl3pPr>
              <a:defRPr sz="2000" b="0" i="0">
                <a:solidFill>
                  <a:srgbClr val="3D3D3D"/>
                </a:solidFill>
              </a:defRPr>
            </a:lvl3pPr>
            <a:lvl4pPr>
              <a:defRPr sz="2000" b="0" i="0">
                <a:solidFill>
                  <a:srgbClr val="3D3D3D"/>
                </a:solidFill>
              </a:defRPr>
            </a:lvl4pPr>
            <a:lvl5pPr>
              <a:defRPr sz="2000" b="0" i="0">
                <a:solidFill>
                  <a:srgbClr val="3D3D3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68340535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with Log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16200000">
            <a:off x="10563763" y="-883499"/>
            <a:ext cx="744741" cy="2511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 defTabSz="108786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 b="0" i="0">
              <a:solidFill>
                <a:srgbClr val="E0E3E3"/>
              </a:solidFill>
              <a:latin typeface="Neue Haas Grotesk Text Pro" panose="020B0504020202020204" pitchFamily="34" charset="77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81948" y="1230793"/>
            <a:ext cx="10973593" cy="628785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3D3D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BF8514-0E5E-4DA0-B203-E996C5E98141}"/>
              </a:ext>
            </a:extLst>
          </p:cNvPr>
          <p:cNvCxnSpPr>
            <a:cxnSpLocks/>
          </p:cNvCxnSpPr>
          <p:nvPr userDrawn="1"/>
        </p:nvCxnSpPr>
        <p:spPr>
          <a:xfrm>
            <a:off x="2133553" y="302461"/>
            <a:ext cx="0" cy="485439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E14A153-BA06-42D3-85B0-45A4428336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1733" y="378556"/>
            <a:ext cx="4876800" cy="366184"/>
          </a:xfrm>
        </p:spPr>
        <p:txBody>
          <a:bodyPr anchor="ctr"/>
          <a:lstStyle>
            <a:lvl1pPr marL="0" indent="0">
              <a:buNone/>
              <a:defRPr sz="1100" b="0" i="0" spc="333" baseline="0">
                <a:solidFill>
                  <a:srgbClr val="3D3D3D"/>
                </a:solidFill>
                <a:latin typeface="Neue Haas Grotesk Text Pro" panose="020B0504020202020204" pitchFamily="34" charset="77"/>
              </a:defRPr>
            </a:lvl1pPr>
          </a:lstStyle>
          <a:p>
            <a:pPr lvl="0"/>
            <a:r>
              <a:rPr lang="en-US"/>
              <a:t>CONTENT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3AF66C2-369D-7242-88DB-F9CB0D6A81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880" y="335378"/>
            <a:ext cx="1631981" cy="431009"/>
          </a:xfrm>
          <a:prstGeom prst="rect">
            <a:avLst/>
          </a:prstGeom>
        </p:spPr>
      </p:pic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3BE392D-0F8E-9C0E-E40C-A385B2200A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956817"/>
            <a:ext cx="11430000" cy="4297934"/>
          </a:xfrm>
        </p:spPr>
        <p:txBody>
          <a:bodyPr/>
          <a:lstStyle>
            <a:lvl1pPr>
              <a:defRPr b="0" i="0">
                <a:solidFill>
                  <a:srgbClr val="3D3D3D"/>
                </a:solidFill>
              </a:defRPr>
            </a:lvl1pPr>
            <a:lvl2pPr>
              <a:defRPr b="0" i="0">
                <a:solidFill>
                  <a:srgbClr val="3D3D3D"/>
                </a:solidFill>
              </a:defRPr>
            </a:lvl2pPr>
            <a:lvl3pPr>
              <a:defRPr b="0" i="0">
                <a:solidFill>
                  <a:srgbClr val="3D3D3D"/>
                </a:solidFill>
              </a:defRPr>
            </a:lvl3pPr>
            <a:lvl4pPr>
              <a:defRPr b="0" i="0">
                <a:solidFill>
                  <a:srgbClr val="3D3D3D"/>
                </a:solidFill>
              </a:defRPr>
            </a:lvl4pPr>
            <a:lvl5pPr>
              <a:defRPr b="0" i="0">
                <a:solidFill>
                  <a:srgbClr val="3D3D3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45F4A9-8BC8-360E-4817-CF0FED2896A9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52BD325-B40B-52AD-BC5B-AB53A5E7BB56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B059C33-84EF-91CC-2DA4-72D584FE8CF5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277706C-4EE1-F8BD-9801-4B5255BD283B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47B4F88-E311-ED08-5228-74FBB23AE5E1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9B171CC-7A91-CEA5-9F84-31414367B6F4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4315185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ox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16200000">
            <a:off x="10563763" y="-883499"/>
            <a:ext cx="744741" cy="2511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 defTabSz="108786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 b="0" i="0">
              <a:solidFill>
                <a:srgbClr val="E0E3E3"/>
              </a:solidFill>
              <a:latin typeface="Neue Haas Grotesk Text Pro" panose="020B0504020202020204" pitchFamily="34" charset="77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81948" y="1230793"/>
            <a:ext cx="10973593" cy="628785"/>
          </a:xfrm>
        </p:spPr>
        <p:txBody>
          <a:bodyPr>
            <a:normAutofit/>
          </a:bodyPr>
          <a:lstStyle>
            <a:lvl1pPr algn="l">
              <a:defRPr sz="2400">
                <a:solidFill>
                  <a:srgbClr val="3D3D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BF8514-0E5E-4DA0-B203-E996C5E98141}"/>
              </a:ext>
            </a:extLst>
          </p:cNvPr>
          <p:cNvCxnSpPr>
            <a:cxnSpLocks/>
          </p:cNvCxnSpPr>
          <p:nvPr userDrawn="1"/>
        </p:nvCxnSpPr>
        <p:spPr>
          <a:xfrm>
            <a:off x="2133553" y="302461"/>
            <a:ext cx="0" cy="485439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E14A153-BA06-42D3-85B0-45A4428336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401733" y="378556"/>
            <a:ext cx="4876800" cy="366184"/>
          </a:xfrm>
        </p:spPr>
        <p:txBody>
          <a:bodyPr anchor="ctr"/>
          <a:lstStyle>
            <a:lvl1pPr marL="0" indent="0">
              <a:buNone/>
              <a:defRPr sz="1100" b="0" i="0" spc="333" baseline="0">
                <a:solidFill>
                  <a:srgbClr val="3D3D3D"/>
                </a:solidFill>
                <a:latin typeface="Neue Haas Grotesk Text Pro" panose="020B0504020202020204" pitchFamily="34" charset="77"/>
              </a:defRPr>
            </a:lvl1pPr>
          </a:lstStyle>
          <a:p>
            <a:pPr lvl="0"/>
            <a:r>
              <a:rPr lang="en-US"/>
              <a:t>CONTENT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3AF66C2-369D-7242-88DB-F9CB0D6A81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880" y="335378"/>
            <a:ext cx="1631981" cy="431009"/>
          </a:xfrm>
          <a:prstGeom prst="rect">
            <a:avLst/>
          </a:prstGeom>
        </p:spPr>
      </p:pic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3BE392D-0F8E-9C0E-E40C-A385B2200A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976049"/>
            <a:ext cx="3623841" cy="4297934"/>
          </a:xfrm>
          <a:solidFill>
            <a:srgbClr val="F8F7F1"/>
          </a:solidFill>
        </p:spPr>
        <p:txBody>
          <a:bodyPr lIns="274320" tIns="274320" rIns="274320" bIns="274320"/>
          <a:lstStyle>
            <a:lvl1pPr>
              <a:defRPr sz="1800" b="0" i="0">
                <a:solidFill>
                  <a:srgbClr val="3D3D3D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645F4A9-8BC8-360E-4817-CF0FED2896A9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52BD325-B40B-52AD-BC5B-AB53A5E7BB56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BB059C33-84EF-91CC-2DA4-72D584FE8CF5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277706C-4EE1-F8BD-9801-4B5255BD283B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47B4F88-E311-ED08-5228-74FBB23AE5E1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9B171CC-7A91-CEA5-9F84-31414367B6F4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5E966FB7-43B8-342D-2920-CF73F779A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65511" y="1976049"/>
            <a:ext cx="3623841" cy="4297934"/>
          </a:xfrm>
          <a:solidFill>
            <a:srgbClr val="F8F7F1"/>
          </a:solidFill>
        </p:spPr>
        <p:txBody>
          <a:bodyPr lIns="274320" tIns="274320" rIns="274320" bIns="274320"/>
          <a:lstStyle>
            <a:lvl1pPr>
              <a:defRPr sz="1800" b="0" i="0">
                <a:solidFill>
                  <a:srgbClr val="3D3D3D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2">
            <a:extLst>
              <a:ext uri="{FF2B5EF4-FFF2-40B4-BE49-F238E27FC236}">
                <a16:creationId xmlns:a16="http://schemas.microsoft.com/office/drawing/2014/main" id="{2B1A1698-B435-FE91-F9D2-7EC8AA884DA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50023" y="1976049"/>
            <a:ext cx="3623841" cy="4297934"/>
          </a:xfrm>
          <a:solidFill>
            <a:srgbClr val="F8F7F1"/>
          </a:solidFill>
        </p:spPr>
        <p:txBody>
          <a:bodyPr lIns="274320" tIns="274320" rIns="274320" bIns="274320"/>
          <a:lstStyle>
            <a:lvl1pPr>
              <a:defRPr sz="1800" b="0" i="0">
                <a:solidFill>
                  <a:srgbClr val="3D3D3D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3234173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A7946-DB26-1B1D-FF95-343904ADF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3D3D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BAEDECF-874E-5E22-EBE6-D1722752C4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43485" y="1519274"/>
            <a:ext cx="2169625" cy="670573"/>
          </a:xfrm>
        </p:spPr>
        <p:txBody>
          <a:bodyPr anchor="ctr"/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+mj-lt"/>
                <a:ea typeface="Inter Extra Bold" panose="02000603000000020004" pitchFamily="2" charset="0"/>
                <a:cs typeface="Neue Haas Grotesk Text Pro" panose="020B0504020202020204" pitchFamily="34" charset="77"/>
              </a:defRPr>
            </a:lvl1pPr>
          </a:lstStyle>
          <a:p>
            <a:pPr lvl="0"/>
            <a:r>
              <a:rPr lang="en-US"/>
              <a:t>Category goes here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F687A7D-3B68-9798-0C4D-F55ACD0916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33248" y="1519274"/>
            <a:ext cx="2169625" cy="670573"/>
          </a:xfrm>
        </p:spPr>
        <p:txBody>
          <a:bodyPr anchor="ctr"/>
          <a:lstStyle>
            <a:lvl1pPr marL="0" indent="0">
              <a:buNone/>
              <a:defRPr sz="1600" b="1" i="0">
                <a:solidFill>
                  <a:schemeClr val="accent2">
                    <a:lumMod val="75000"/>
                  </a:schemeClr>
                </a:solidFill>
                <a:latin typeface="+mj-lt"/>
                <a:ea typeface="Inter Extra Bold" panose="02000603000000020004" pitchFamily="2" charset="0"/>
                <a:cs typeface="Neue Haas Grotesk Text Pro" panose="020B0504020202020204" pitchFamily="34" charset="77"/>
              </a:defRPr>
            </a:lvl1pPr>
          </a:lstStyle>
          <a:p>
            <a:pPr lvl="0"/>
            <a:r>
              <a:rPr lang="en-US"/>
              <a:t>Category goes here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9F8DE9A-383B-0EA9-B83D-C4170CA910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23011" y="1519274"/>
            <a:ext cx="2169625" cy="670573"/>
          </a:xfrm>
        </p:spPr>
        <p:txBody>
          <a:bodyPr anchor="ctr"/>
          <a:lstStyle>
            <a:lvl1pPr marL="0" indent="0">
              <a:buNone/>
              <a:defRPr sz="1600" b="1" i="0">
                <a:solidFill>
                  <a:schemeClr val="accent5">
                    <a:lumMod val="50000"/>
                  </a:schemeClr>
                </a:solidFill>
                <a:latin typeface="+mj-lt"/>
                <a:ea typeface="Inter Extra Bold" panose="02000603000000020004" pitchFamily="2" charset="0"/>
                <a:cs typeface="Neue Haas Grotesk Text Pro" panose="020B0504020202020204" pitchFamily="34" charset="77"/>
              </a:defRPr>
            </a:lvl1pPr>
          </a:lstStyle>
          <a:p>
            <a:pPr lvl="0"/>
            <a:r>
              <a:rPr lang="en-US"/>
              <a:t>Category goes here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C4DBF41-85EC-C5B0-DD12-DE9A13275C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412775" y="1519274"/>
            <a:ext cx="2169625" cy="670573"/>
          </a:xfrm>
        </p:spPr>
        <p:txBody>
          <a:bodyPr anchor="ctr"/>
          <a:lstStyle>
            <a:lvl1pPr marL="0" indent="0">
              <a:buNone/>
              <a:defRPr sz="1600" b="1" i="0">
                <a:solidFill>
                  <a:schemeClr val="accent4">
                    <a:lumMod val="75000"/>
                  </a:schemeClr>
                </a:solidFill>
                <a:latin typeface="+mj-lt"/>
                <a:ea typeface="Inter Extra Bold" panose="02000603000000020004" pitchFamily="2" charset="0"/>
                <a:cs typeface="Neue Haas Grotesk Text Pro" panose="020B0504020202020204" pitchFamily="34" charset="77"/>
              </a:defRPr>
            </a:lvl1pPr>
          </a:lstStyle>
          <a:p>
            <a:pPr lvl="0"/>
            <a:r>
              <a:rPr lang="en-US"/>
              <a:t>Category goes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356C3CE-49F8-E06D-70D9-E8A52E238AD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8342" y="3758807"/>
            <a:ext cx="937163" cy="833096"/>
          </a:xfrm>
        </p:spPr>
        <p:txBody>
          <a:bodyPr anchor="ctr"/>
          <a:lstStyle>
            <a:lvl1pPr marL="0" indent="0" algn="ctr">
              <a:spcAft>
                <a:spcPts val="600"/>
              </a:spcAft>
              <a:buClr>
                <a:schemeClr val="accent1"/>
              </a:buClr>
              <a:buFontTx/>
              <a:buNone/>
              <a:defRPr sz="1200" b="1" i="0">
                <a:solidFill>
                  <a:srgbClr val="3D3D3D"/>
                </a:solidFill>
                <a:latin typeface="Neue Haas Grotesk Text Pro" panose="020B0504020202020204" pitchFamily="34" charset="77"/>
                <a:ea typeface="Inter Extra Bold" panose="02000603000000020004" pitchFamily="2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Description Goes here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9CB6A72A-9336-EAF7-D8A2-C6021B7CFF4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342" y="1644118"/>
            <a:ext cx="937163" cy="420883"/>
          </a:xfrm>
        </p:spPr>
        <p:txBody>
          <a:bodyPr anchor="ctr"/>
          <a:lstStyle>
            <a:lvl1pPr marL="0" indent="0" algn="ctr">
              <a:spcAft>
                <a:spcPts val="600"/>
              </a:spcAft>
              <a:buClr>
                <a:schemeClr val="accent1"/>
              </a:buClr>
              <a:buFontTx/>
              <a:buNone/>
              <a:defRPr sz="1200" b="1" i="0">
                <a:solidFill>
                  <a:srgbClr val="3D3D3D"/>
                </a:solidFill>
                <a:latin typeface="Neue Haas Grotesk Text Pro" panose="020B0504020202020204" pitchFamily="34" charset="77"/>
                <a:ea typeface="Inter Extra Bold" panose="02000603000000020004" pitchFamily="2" charset="0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Label Goes Here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B7E3377C-59A9-DB56-216C-8DCE21104F00}"/>
              </a:ext>
            </a:extLst>
          </p:cNvPr>
          <p:cNvSpPr/>
          <p:nvPr userDrawn="1"/>
        </p:nvSpPr>
        <p:spPr>
          <a:xfrm>
            <a:off x="1165505" y="2493046"/>
            <a:ext cx="361867" cy="3592285"/>
          </a:xfrm>
          <a:prstGeom prst="leftBrace">
            <a:avLst>
              <a:gd name="adj1" fmla="val 0"/>
              <a:gd name="adj2" fmla="val 476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b="0" i="0">
              <a:latin typeface="Neue Haas Grotesk Text Pro" panose="020B0504020202020204" pitchFamily="34" charset="77"/>
            </a:endParaRP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9E3A02F2-8110-AE44-8297-EBC05EF1F9E5}"/>
              </a:ext>
            </a:extLst>
          </p:cNvPr>
          <p:cNvSpPr/>
          <p:nvPr userDrawn="1"/>
        </p:nvSpPr>
        <p:spPr>
          <a:xfrm>
            <a:off x="1165505" y="1519274"/>
            <a:ext cx="361867" cy="670574"/>
          </a:xfrm>
          <a:prstGeom prst="leftBrace">
            <a:avLst>
              <a:gd name="adj1" fmla="val 0"/>
              <a:gd name="adj2" fmla="val 4768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b="0" i="0">
              <a:latin typeface="Neue Haas Grotesk Text Pro" panose="020B0504020202020204" pitchFamily="34" charset="77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0476F1D-FC8D-09EE-FE3A-F0801B6F82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43063" y="2492375"/>
            <a:ext cx="2170112" cy="3729038"/>
          </a:xfrm>
        </p:spPr>
        <p:txBody>
          <a:bodyPr/>
          <a:lstStyle>
            <a:lvl1pPr>
              <a:defRPr sz="1400" b="0" i="0">
                <a:solidFill>
                  <a:srgbClr val="3D3D3D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53BED18-5A6A-F3B4-2DC1-18EDF74014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232761" y="2492375"/>
            <a:ext cx="2170112" cy="3729038"/>
          </a:xfrm>
        </p:spPr>
        <p:txBody>
          <a:bodyPr/>
          <a:lstStyle>
            <a:lvl1pPr>
              <a:defRPr sz="1400" b="0" i="0">
                <a:solidFill>
                  <a:srgbClr val="3D3D3D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EE0920F6-AC53-8CA6-F480-AD3C65E7D6B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29003" y="2492375"/>
            <a:ext cx="2170112" cy="3729038"/>
          </a:xfrm>
        </p:spPr>
        <p:txBody>
          <a:bodyPr/>
          <a:lstStyle>
            <a:lvl1pPr>
              <a:defRPr sz="1400" b="0" i="0">
                <a:solidFill>
                  <a:srgbClr val="3D3D3D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71F097B6-8423-07DF-2FDA-1355350FC49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408918" y="2492375"/>
            <a:ext cx="2170112" cy="3729038"/>
          </a:xfrm>
        </p:spPr>
        <p:txBody>
          <a:bodyPr/>
          <a:lstStyle>
            <a:lvl1pPr>
              <a:defRPr sz="1400" b="0" i="0">
                <a:solidFill>
                  <a:srgbClr val="3D3D3D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31275B2-08E2-FECF-A640-A41C13FDEA64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  <a:effectLst/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41A3573-130D-6EBB-C56B-69579B15149D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567CCDE-36C2-FE43-8DB9-30DEA92F5F5F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281CDD8-1AB4-719C-B7FB-8E235EB837E1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7813905-CEDA-817D-F23A-BE87002384E6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394D8CF-A115-DB61-2733-B96ACF6895A9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484089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Objectives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raphic 26">
            <a:extLst>
              <a:ext uri="{FF2B5EF4-FFF2-40B4-BE49-F238E27FC236}">
                <a16:creationId xmlns:a16="http://schemas.microsoft.com/office/drawing/2014/main" id="{61AB30E9-0808-5056-5694-99F9C15ACB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4143" b="14214"/>
          <a:stretch/>
        </p:blipFill>
        <p:spPr>
          <a:xfrm>
            <a:off x="9331570" y="2382714"/>
            <a:ext cx="2860430" cy="45104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3144" y="434170"/>
            <a:ext cx="8848864" cy="370153"/>
          </a:xfrm>
        </p:spPr>
        <p:txBody>
          <a:bodyPr anchor="ctr"/>
          <a:lstStyle>
            <a:lvl1pPr>
              <a:defRPr sz="1600" spc="400">
                <a:solidFill>
                  <a:srgbClr val="3D3D3D"/>
                </a:solidFill>
              </a:defRPr>
            </a:lvl1pPr>
          </a:lstStyle>
          <a:p>
            <a:r>
              <a:rPr lang="en-US"/>
              <a:t>MEETING OBJECTIVES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381001" y="2887156"/>
            <a:ext cx="9121007" cy="31219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0" indent="0">
              <a:buNone/>
              <a:defRPr lang="en-US" sz="1600" b="1" spc="400" baseline="0" dirty="0">
                <a:solidFill>
                  <a:srgbClr val="3D3D3D"/>
                </a:solidFill>
                <a:latin typeface="Neue Haas Grotesk Text Pro" panose="020B0504020202020204" pitchFamily="34" charset="77"/>
                <a:cs typeface="Browallia New" panose="020B0604020202020204" pitchFamily="34" charset="0"/>
              </a:defRPr>
            </a:lvl1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/>
              <a:t>KEY DECISIONS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61766A47-D086-C947-BC90-2AD90F7E61D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0998" y="395456"/>
            <a:ext cx="402146" cy="454189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95A4FB0-9833-3A6B-84A2-875DB32F192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9250" y="943202"/>
            <a:ext cx="9199863" cy="1684338"/>
          </a:xfrm>
          <a:solidFill>
            <a:schemeClr val="bg1">
              <a:alpha val="82968"/>
            </a:schemeClr>
          </a:solidFill>
        </p:spPr>
        <p:txBody>
          <a:bodyPr/>
          <a:lstStyle>
            <a:lvl1pPr>
              <a:defRPr sz="1600" b="0" i="0">
                <a:solidFill>
                  <a:srgbClr val="3D3D3D"/>
                </a:solidFill>
              </a:defRPr>
            </a:lvl1pPr>
            <a:lvl2pPr>
              <a:defRPr sz="1600" b="0" i="0">
                <a:solidFill>
                  <a:srgbClr val="3D3D3D"/>
                </a:solidFill>
              </a:defRPr>
            </a:lvl2pPr>
            <a:lvl3pPr>
              <a:defRPr sz="1600" b="0" i="0">
                <a:solidFill>
                  <a:srgbClr val="3D3D3D"/>
                </a:solidFill>
              </a:defRPr>
            </a:lvl3pPr>
            <a:lvl4pPr>
              <a:defRPr sz="1600" b="0" i="0">
                <a:solidFill>
                  <a:srgbClr val="3D3D3D"/>
                </a:solidFill>
              </a:defRPr>
            </a:lvl4pPr>
            <a:lvl5pPr>
              <a:defRPr sz="1600" b="0" i="0">
                <a:solidFill>
                  <a:srgbClr val="3D3D3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434BB839-BBE8-464B-5E12-CEFB77D68E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81001" y="3258138"/>
            <a:ext cx="9121008" cy="2980615"/>
          </a:xfrm>
          <a:solidFill>
            <a:schemeClr val="bg1">
              <a:alpha val="82968"/>
            </a:schemeClr>
          </a:solidFill>
        </p:spPr>
        <p:txBody>
          <a:bodyPr/>
          <a:lstStyle>
            <a:lvl1pPr>
              <a:defRPr sz="1600" b="0" i="0">
                <a:solidFill>
                  <a:srgbClr val="3D3D3D"/>
                </a:solidFill>
              </a:defRPr>
            </a:lvl1pPr>
            <a:lvl2pPr>
              <a:defRPr sz="1600" b="0" i="0">
                <a:solidFill>
                  <a:srgbClr val="3D3D3D"/>
                </a:solidFill>
              </a:defRPr>
            </a:lvl2pPr>
            <a:lvl3pPr>
              <a:defRPr sz="1600" b="0" i="0">
                <a:solidFill>
                  <a:srgbClr val="3D3D3D"/>
                </a:solidFill>
              </a:defRPr>
            </a:lvl3pPr>
            <a:lvl4pPr>
              <a:defRPr sz="1600" b="0" i="0">
                <a:solidFill>
                  <a:srgbClr val="3D3D3D"/>
                </a:solidFill>
              </a:defRPr>
            </a:lvl4pPr>
            <a:lvl5pPr>
              <a:defRPr sz="1600" b="0" i="0">
                <a:solidFill>
                  <a:srgbClr val="3D3D3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D98EB59-E7CB-8189-C185-B17F626FE972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19D15F-A3D0-4AEC-2CFE-0D40B289E4E8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13A6CAB-6D49-C28A-C33F-C0EFFAD36C18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7FDC03-2389-215F-6D69-BB8B99F78B51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D89E84B-283B-AB3A-F59E-2F48C8FB0A3F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CFF4691-BA3B-97B1-1E1F-9A228DAC65DF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170098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ntral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0735-94F2-B772-0D99-159DF086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150" y="1485900"/>
            <a:ext cx="8491700" cy="1414688"/>
          </a:xfrm>
        </p:spPr>
        <p:txBody>
          <a:bodyPr anchor="ctr"/>
          <a:lstStyle>
            <a:lvl1pPr algn="ctr">
              <a:defRPr sz="4800">
                <a:solidFill>
                  <a:srgbClr val="3D3D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E809B4-3739-025A-5A56-703BF49B38E2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422BD91-9A01-82A0-16B5-8CDA91549636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4B05229-F32D-23D8-F6D1-DC80F9898648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E547325-D674-44C9-2E52-CB1B0C62F258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9329279-C3C9-75FC-CE6C-8BE3536815D9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9DE2FC8-424E-6B90-8CF0-339A10899A63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27351DFB-2BA0-EECA-B1DC-8C679184FA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6731"/>
          <a:stretch/>
        </p:blipFill>
        <p:spPr>
          <a:xfrm rot="5400000">
            <a:off x="4839629" y="2156588"/>
            <a:ext cx="3227541" cy="617528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14C90993-1B42-304A-E865-680CA9C1F2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81625"/>
          <a:stretch/>
        </p:blipFill>
        <p:spPr>
          <a:xfrm>
            <a:off x="5779046" y="480656"/>
            <a:ext cx="633908" cy="71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646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0735-94F2-B772-0D99-159DF086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05" y="1219202"/>
            <a:ext cx="7315199" cy="3931264"/>
          </a:xfrm>
        </p:spPr>
        <p:txBody>
          <a:bodyPr anchor="ctr"/>
          <a:lstStyle>
            <a:lvl1pPr algn="l">
              <a:defRPr sz="4800">
                <a:solidFill>
                  <a:srgbClr val="3D3D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E809B4-3739-025A-5A56-703BF49B38E2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422BD91-9A01-82A0-16B5-8CDA91549636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4B05229-F32D-23D8-F6D1-DC80F9898648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E547325-D674-44C9-2E52-CB1B0C62F258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9329279-C3C9-75FC-CE6C-8BE3536815D9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9DE2FC8-424E-6B90-8CF0-339A10899A63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9D0EDA9D-052C-EA76-410E-71DBEAB5C9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r="29276" b="16951"/>
          <a:stretch/>
        </p:blipFill>
        <p:spPr>
          <a:xfrm>
            <a:off x="8127104" y="1078834"/>
            <a:ext cx="4064896" cy="577815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4A483E89-38DC-FF63-04CD-857E095DB58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01200" y="526939"/>
            <a:ext cx="2205683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422176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hite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C2BF250-EEDF-9C42-AD69-7C072C5CC96B}"/>
              </a:ext>
            </a:extLst>
          </p:cNvPr>
          <p:cNvSpPr/>
          <p:nvPr userDrawn="1"/>
        </p:nvSpPr>
        <p:spPr>
          <a:xfrm>
            <a:off x="9740632" y="116733"/>
            <a:ext cx="2322913" cy="81712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0" i="0">
              <a:latin typeface="Neue Haas Grotesk Text Pro" panose="020B0504020202020204" pitchFamily="34" charset="77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CCD936D-4122-3B1B-15B8-3CB1E8BF4D2D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  <a:effectLst/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D718B92-E568-E187-E463-2D8B9594DAA7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01159C-27A1-AD6A-9B1A-26A7979B404D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8E2669A-1D67-06FF-0677-CB752BA5856F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0110A69-38E6-9485-239C-000135D31B40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25417A2-F25B-1465-313F-6D3613F86398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126EAD18-D803-2B2D-0AEF-1AE32B8F25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4771" y="144320"/>
            <a:ext cx="1253711" cy="2598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2E2063-0283-C1D5-3A26-8E00FA9FF4B4}"/>
              </a:ext>
            </a:extLst>
          </p:cNvPr>
          <p:cNvSpPr txBox="1"/>
          <p:nvPr userDrawn="1"/>
        </p:nvSpPr>
        <p:spPr>
          <a:xfrm>
            <a:off x="380998" y="6423000"/>
            <a:ext cx="2432482" cy="215444"/>
          </a:xfrm>
          <a:prstGeom prst="rect">
            <a:avLst/>
          </a:prstGeom>
          <a:noFill/>
        </p:spPr>
        <p:txBody>
          <a:bodyPr wrap="square" lIns="0" rIns="0" rtlCol="0" anchor="t" anchorCtr="0">
            <a:noAutofit/>
          </a:bodyPr>
          <a:lstStyle/>
          <a:p>
            <a:pPr algn="l"/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Neue Haas Grotesk Text Pro" panose="020B0504020202020204" pitchFamily="34" charset="77"/>
              </a:rPr>
              <a:t>©</a:t>
            </a:r>
            <a:fld id="{61F36072-8A80-2B41-B404-5B6EDAA26D3D}" type="datetimeyyyy">
              <a:rPr lang="en-US" sz="800" b="0" i="0" smtClean="0">
                <a:solidFill>
                  <a:schemeClr val="bg2">
                    <a:lumMod val="75000"/>
                  </a:schemeClr>
                </a:solidFill>
                <a:latin typeface="Neue Haas Grotesk Text Pro" panose="020B0504020202020204" pitchFamily="34" charset="77"/>
              </a:rPr>
              <a:t>2025</a:t>
            </a:fld>
            <a:r>
              <a:rPr lang="en-US" sz="800" b="0" i="0">
                <a:solidFill>
                  <a:schemeClr val="bg2">
                    <a:lumMod val="75000"/>
                  </a:schemeClr>
                </a:solidFill>
                <a:latin typeface="Neue Haas Grotesk Text Pro" panose="020B0504020202020204" pitchFamily="34" charset="77"/>
              </a:rPr>
              <a:t> SemperVirens. All Rights Reserved.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69C895-483B-C387-559F-31B9AEA38118}"/>
              </a:ext>
            </a:extLst>
          </p:cNvPr>
          <p:cNvSpPr txBox="1"/>
          <p:nvPr userDrawn="1"/>
        </p:nvSpPr>
        <p:spPr>
          <a:xfrm>
            <a:off x="11256885" y="6407612"/>
            <a:ext cx="530554" cy="246221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r"/>
            <a:fld id="{BBE5E1A1-B396-E94B-9848-41A86103EDCD}" type="slidenum">
              <a:rPr lang="en-US" sz="1000" b="0" i="0" smtClean="0">
                <a:solidFill>
                  <a:schemeClr val="bg2">
                    <a:lumMod val="75000"/>
                  </a:schemeClr>
                </a:solidFill>
                <a:latin typeface="Neue Haas Grotesk Text Pro" panose="020B0504020202020204" pitchFamily="34" charset="77"/>
              </a:rPr>
              <a:pPr algn="r"/>
              <a:t>‹#›</a:t>
            </a:fld>
            <a:endParaRPr lang="en-US" sz="1000" b="0" i="0">
              <a:solidFill>
                <a:schemeClr val="bg2">
                  <a:lumMod val="75000"/>
                </a:schemeClr>
              </a:solidFill>
              <a:latin typeface="Neue Haas Grotesk Tex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6346082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 with Photo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riangle 28">
            <a:extLst>
              <a:ext uri="{FF2B5EF4-FFF2-40B4-BE49-F238E27FC236}">
                <a16:creationId xmlns:a16="http://schemas.microsoft.com/office/drawing/2014/main" id="{28472DA5-A572-891C-6520-D1E8FC8A600C}"/>
              </a:ext>
            </a:extLst>
          </p:cNvPr>
          <p:cNvSpPr/>
          <p:nvPr userDrawn="1"/>
        </p:nvSpPr>
        <p:spPr>
          <a:xfrm>
            <a:off x="8013304" y="679312"/>
            <a:ext cx="4178696" cy="3602324"/>
          </a:xfrm>
          <a:prstGeom prst="triangle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Neue Haas Grotesk Text Pro" panose="020B0504020202020204" pitchFamily="34" charset="77"/>
            </a:endParaRP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D1F997CD-E665-CCBB-22B5-A2195959B628}"/>
              </a:ext>
            </a:extLst>
          </p:cNvPr>
          <p:cNvSpPr/>
          <p:nvPr userDrawn="1"/>
        </p:nvSpPr>
        <p:spPr>
          <a:xfrm>
            <a:off x="8013304" y="1672610"/>
            <a:ext cx="4178696" cy="3602324"/>
          </a:xfrm>
          <a:prstGeom prst="triangle">
            <a:avLst/>
          </a:prstGeom>
          <a:noFill/>
          <a:ln w="254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Neue Haas Grotesk Text Pro" panose="020B0504020202020204" pitchFamily="34" charset="77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86BF12C-B67C-2C4A-904C-BC205E135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1" y="1223499"/>
            <a:ext cx="5745782" cy="2205501"/>
          </a:xfrm>
        </p:spPr>
        <p:txBody>
          <a:bodyPr anchor="b"/>
          <a:lstStyle>
            <a:lvl1pPr algn="l">
              <a:defRPr sz="4800">
                <a:solidFill>
                  <a:srgbClr val="3D3D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59540E3-8C49-475C-FDBF-5906B2D197C2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A35FC80-8339-A9E9-482B-C993DC15F2A2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8D124C1-BC51-4F4B-3D0F-E6102E78CF70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C919CDD-0743-5FF5-C948-D5CBB176E52D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4C90674-6233-ECDD-60DB-02C9B93026A2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AEDFF568-72CC-7CD8-C086-A41AB610ED4F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sp>
        <p:nvSpPr>
          <p:cNvPr id="25" name="Triangle 24">
            <a:extLst>
              <a:ext uri="{FF2B5EF4-FFF2-40B4-BE49-F238E27FC236}">
                <a16:creationId xmlns:a16="http://schemas.microsoft.com/office/drawing/2014/main" id="{774F3C1F-EF8A-5AA4-4B95-8A9CBBC09033}"/>
              </a:ext>
            </a:extLst>
          </p:cNvPr>
          <p:cNvSpPr/>
          <p:nvPr userDrawn="1"/>
        </p:nvSpPr>
        <p:spPr>
          <a:xfrm>
            <a:off x="8013304" y="2665908"/>
            <a:ext cx="4178696" cy="3602325"/>
          </a:xfrm>
          <a:prstGeom prst="triangle">
            <a:avLst/>
          </a:prstGeom>
          <a:noFill/>
          <a:ln w="25400">
            <a:solidFill>
              <a:schemeClr val="accent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Neue Haas Grotesk Text Pro" panose="020B0504020202020204" pitchFamily="34" charset="77"/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49329C14-C571-65FD-B307-2E94C61CECD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371875" y="1218150"/>
            <a:ext cx="3729789" cy="4726059"/>
          </a:xfrm>
          <a:solidFill>
            <a:schemeClr val="bg2"/>
          </a:solidFill>
        </p:spPr>
        <p:txBody>
          <a:bodyPr lIns="91440" rIns="91440" anchor="ctr"/>
          <a:lstStyle>
            <a:lvl1pPr algn="ctr">
              <a:defRPr b="0" i="0"/>
            </a:lvl1pPr>
          </a:lstStyle>
          <a:p>
            <a:r>
              <a:rPr lang="en-US"/>
              <a:t>Click to add picture. </a:t>
            </a:r>
            <a:br>
              <a:rPr lang="en-US"/>
            </a:br>
            <a:r>
              <a:rPr lang="en-US"/>
              <a:t>Delete if not needed.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8BE09F7-76DD-4F39-5340-75D29E0F6F5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9571" y="3643323"/>
            <a:ext cx="5788025" cy="2300886"/>
          </a:xfrm>
        </p:spPr>
        <p:txBody>
          <a:bodyPr/>
          <a:lstStyle>
            <a:lvl1pPr>
              <a:defRPr b="0" i="0"/>
            </a:lvl1pPr>
            <a:lvl2pPr marL="42671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661026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DB207E-6BD3-2848-91BF-A33B36112BD7}"/>
              </a:ext>
            </a:extLst>
          </p:cNvPr>
          <p:cNvCxnSpPr>
            <a:cxnSpLocks/>
          </p:cNvCxnSpPr>
          <p:nvPr userDrawn="1"/>
        </p:nvCxnSpPr>
        <p:spPr>
          <a:xfrm>
            <a:off x="4152411" y="2218052"/>
            <a:ext cx="0" cy="2582333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alpha val="0"/>
                  </a:schemeClr>
                </a:gs>
                <a:gs pos="24000">
                  <a:schemeClr val="accent1">
                    <a:alpha val="85000"/>
                  </a:schemeClr>
                </a:gs>
                <a:gs pos="85000">
                  <a:schemeClr val="accent1">
                    <a:alpha val="7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8C03CB5-4B97-F34F-AFBD-A6036B01AA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484" y="2569369"/>
            <a:ext cx="1457661" cy="167913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0B7D34D-4EC8-3835-8827-AF3AACE3F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6655" y="3076535"/>
            <a:ext cx="6216567" cy="664797"/>
          </a:xfrm>
        </p:spPr>
        <p:txBody>
          <a:bodyPr anchor="ctr" anchorCtr="0">
            <a:sp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7290ED-7BBC-204E-8D07-E85B3A36AE02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  <a:effectLst/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5CC85D5-5E1E-E837-4B27-A52DD72DFEF0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A610D7F-ED5F-F426-619F-2D9FDE45A12E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200B8F-3077-0C26-14DB-9BD177ECBFEE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423C2CC-917C-D764-6763-D0F8ACA44FF0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BBE3148-BA6C-3EDB-A0C1-52425E798D00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98218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16200000">
            <a:off x="2667001" y="-2667001"/>
            <a:ext cx="6858001" cy="12192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 defTabSz="108786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3200" b="0" i="0">
              <a:solidFill>
                <a:schemeClr val="tx2"/>
              </a:solidFill>
              <a:latin typeface="Neue Haas Grotesk Text Pro" panose="020B0504020202020204" pitchFamily="34" charset="77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29756CA-0BBE-6D4E-BD52-61B7A907AF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2672"/>
          <a:stretch/>
        </p:blipFill>
        <p:spPr>
          <a:xfrm>
            <a:off x="2497010" y="2348459"/>
            <a:ext cx="5928209" cy="2024696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21C94EB-AAA4-7744-AB5C-31F657503A4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E96C6862-61EB-6549-AF60-8750F89D6DE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EF8FB98-7FAA-3D4C-8CB4-855D0EF289B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D9BAB11C-F35C-5F4D-9CA5-64FD57273FB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462C5FA-BDF4-5840-B172-FC1833F140D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6002D94-09AA-E249-ADCA-576D268FC8CE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11B80438-5B48-8C41-8D4E-1D4251734821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453AAD2E-E8C7-C848-B60C-7C51C27279AD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EE511703-B372-C54A-8F72-A9BEE9C7B811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3E0851C3-FA1D-FC48-AA2A-07D34A01A17E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3748DD6-491C-D74B-A3B4-6A567D0AEB06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8C4A0E-7DE0-F445-AB9A-8EB193875E03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254A3C9-D08E-444B-BA67-26776AC4B51F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5E82318-74C9-434A-BD91-F28FF665A7A8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F767163-DBB7-2B4D-B891-9BE2994D81BE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2518B49-D482-FC40-9A05-AF879CDA4704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77663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 (Light Background)">
    <p:bg>
      <p:bgPr>
        <a:solidFill>
          <a:srgbClr val="F2EE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38C5AEC5-CB58-FBD9-8245-3856607D7FA6}"/>
              </a:ext>
            </a:extLst>
          </p:cNvPr>
          <p:cNvGrpSpPr/>
          <p:nvPr userDrawn="1"/>
        </p:nvGrpSpPr>
        <p:grpSpPr>
          <a:xfrm>
            <a:off x="7351057" y="-1"/>
            <a:ext cx="4840942" cy="6872455"/>
            <a:chOff x="7351057" y="-1"/>
            <a:chExt cx="4840942" cy="6872455"/>
          </a:xfrm>
        </p:grpSpPr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3F1DFDDB-54B1-63D8-3BC4-CFF9D2876338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20216"/>
            <a:stretch/>
          </p:blipFill>
          <p:spPr>
            <a:xfrm>
              <a:off x="7351057" y="1324535"/>
              <a:ext cx="4820846" cy="5533465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E6644094-9495-F915-4417-D600589163D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66094" b="910"/>
            <a:stretch/>
          </p:blipFill>
          <p:spPr>
            <a:xfrm rot="10800000">
              <a:off x="10557428" y="-1"/>
              <a:ext cx="1634571" cy="6872455"/>
            </a:xfrm>
            <a:prstGeom prst="rect">
              <a:avLst/>
            </a:prstGeom>
          </p:spPr>
        </p:pic>
      </p:grp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B2A1DC9F-4CC6-8B0C-8A1A-792E30A82C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8453" y="4076579"/>
            <a:ext cx="6273262" cy="1553733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49" name="Title 48">
            <a:extLst>
              <a:ext uri="{FF2B5EF4-FFF2-40B4-BE49-F238E27FC236}">
                <a16:creationId xmlns:a16="http://schemas.microsoft.com/office/drawing/2014/main" id="{ABA97B8B-EAEC-6A6E-7153-E7307762D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8453" y="1963487"/>
            <a:ext cx="8080394" cy="1916734"/>
          </a:xfrm>
          <a:noFill/>
        </p:spPr>
        <p:txBody>
          <a:bodyPr/>
          <a:lstStyle>
            <a:lvl1pPr>
              <a:defRPr sz="4800">
                <a:solidFill>
                  <a:srgbClr val="3D3D3D"/>
                </a:solidFill>
              </a:defRPr>
            </a:lvl1pPr>
          </a:lstStyle>
          <a:p>
            <a:r>
              <a:rPr lang="en-US"/>
              <a:t>Click to edit master title style and title line 2 and a third line goes here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E56EB39-5EBF-1A90-0246-BEDE75D8AF3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5747" y="677646"/>
            <a:ext cx="3396749" cy="70408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31C1F13-9295-9286-3B1C-11A9BBE679A1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25EEE6A-376A-FF32-7055-90D36A0F10C5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1F29220-A81C-0198-EAEE-F653532FB63C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17CCAAC-5E67-0A65-2FF6-EC689B74DF47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277B92B-8B3D-F739-2EB9-F138D060CEE6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0C9C935-E63A-9921-16D7-B120A4CB6985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79660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560">
          <p15:clr>
            <a:srgbClr val="FBAE40"/>
          </p15:clr>
        </p15:guide>
        <p15:guide id="2" pos="52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Light Background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0"/>
          <p:cNvSpPr>
            <a:spLocks noGrp="1"/>
          </p:cNvSpPr>
          <p:nvPr>
            <p:ph sz="quarter" idx="10"/>
          </p:nvPr>
        </p:nvSpPr>
        <p:spPr>
          <a:xfrm>
            <a:off x="381947" y="1485901"/>
            <a:ext cx="11428111" cy="4491298"/>
          </a:xfrm>
        </p:spPr>
        <p:txBody>
          <a:bodyPr/>
          <a:lstStyle>
            <a:lvl1pPr>
              <a:defRPr b="0" i="0">
                <a:solidFill>
                  <a:srgbClr val="3D3D3D"/>
                </a:solidFill>
              </a:defRPr>
            </a:lvl1pPr>
            <a:lvl2pPr marL="808262" indent="-264571">
              <a:buSzPct val="80000"/>
              <a:buFont typeface="Arial" panose="020B0604020202020204" pitchFamily="34" charset="0"/>
              <a:buChar char="•"/>
              <a:defRPr b="0" i="0">
                <a:solidFill>
                  <a:srgbClr val="3D3D3D"/>
                </a:solidFill>
              </a:defRPr>
            </a:lvl2pPr>
            <a:lvl3pPr>
              <a:defRPr b="0" i="0">
                <a:solidFill>
                  <a:srgbClr val="3D3D3D"/>
                </a:solidFill>
              </a:defRPr>
            </a:lvl3pPr>
            <a:lvl4pPr>
              <a:defRPr b="0" i="0">
                <a:solidFill>
                  <a:srgbClr val="3D3D3D"/>
                </a:solidFill>
              </a:defRPr>
            </a:lvl4pPr>
            <a:lvl5pPr marL="2383776" indent="-206366">
              <a:buSzPct val="70000"/>
              <a:buFontTx/>
              <a:buBlip>
                <a:blip r:embed="rId2"/>
              </a:buBlip>
              <a:defRPr b="0" i="0">
                <a:solidFill>
                  <a:srgbClr val="3D3D3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6A6DA3F-533B-595F-3576-0EF35131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541536"/>
            <a:ext cx="11417484" cy="541179"/>
          </a:xfrm>
        </p:spPr>
        <p:txBody>
          <a:bodyPr/>
          <a:lstStyle>
            <a:lvl1pPr>
              <a:defRPr>
                <a:solidFill>
                  <a:srgbClr val="3D3D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46C99DA-8381-9AE8-58AF-7D4082B44A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4771" y="144320"/>
            <a:ext cx="1253711" cy="25987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86C50B0-76E2-247E-2C66-38CA576A867B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AD2E4DE-93E3-CC71-EC3F-42A060634968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CFB5AF-D6FD-E2F9-2A1A-F2138201F2F0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9BE7BD1-C7EA-D2D1-42BE-276352F18B79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C256C6C-62BD-300F-0A29-2EFA8AF6A15F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68054AC-DA5C-F001-A276-008FA0E8BB39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7392623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ter Page (Whit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0735-94F2-B772-0D99-159DF086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05" y="1219202"/>
            <a:ext cx="7315199" cy="3931264"/>
          </a:xfrm>
        </p:spPr>
        <p:txBody>
          <a:bodyPr anchor="ctr"/>
          <a:lstStyle>
            <a:lvl1pPr algn="l">
              <a:defRPr sz="4800">
                <a:solidFill>
                  <a:srgbClr val="3D3D3D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E809B4-3739-025A-5A56-703BF49B38E2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422BD91-9A01-82A0-16B5-8CDA91549636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4B05229-F32D-23D8-F6D1-DC80F9898648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E547325-D674-44C9-2E52-CB1B0C62F258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9329279-C3C9-75FC-CE6C-8BE3536815D9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9DE2FC8-424E-6B90-8CF0-339A10899A63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4A483E89-38DC-FF63-04CD-857E095DB5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01200" y="526939"/>
            <a:ext cx="2205683" cy="4572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35DA7B3-08A4-242B-601D-A1DE450621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2016" r="35362" b="11674"/>
          <a:stretch/>
        </p:blipFill>
        <p:spPr>
          <a:xfrm>
            <a:off x="7210317" y="-1"/>
            <a:ext cx="498168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246047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 Background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6B3DF06-0ED8-22FE-597E-5049E2C524C4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  <a:effectLst/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1C3E951-1966-0A52-C82F-B362BAD5F1D0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5EDA461-9D16-B21C-FA54-4E5E370B4370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F7D39CD-70AD-EB6E-FA5E-FB66CD31210E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775108-A277-9701-9434-9FA8F52B5532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316D31-6D65-F0F9-F9D1-8987FBD2D15F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4048857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20"/>
          <p:cNvSpPr>
            <a:spLocks noGrp="1"/>
          </p:cNvSpPr>
          <p:nvPr>
            <p:ph sz="quarter" idx="10"/>
          </p:nvPr>
        </p:nvSpPr>
        <p:spPr>
          <a:xfrm>
            <a:off x="381947" y="1485901"/>
            <a:ext cx="11428111" cy="449129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  <a:lvl2pPr marL="808262" indent="-264571">
              <a:buSzPct val="80000"/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</a:defRPr>
            </a:lvl2pPr>
            <a:lvl3pPr>
              <a:defRPr b="0" i="0">
                <a:solidFill>
                  <a:schemeClr val="bg1"/>
                </a:solidFill>
              </a:defRPr>
            </a:lvl3pPr>
            <a:lvl4pPr>
              <a:defRPr b="0" i="0">
                <a:solidFill>
                  <a:schemeClr val="bg1"/>
                </a:solidFill>
              </a:defRPr>
            </a:lvl4pPr>
            <a:lvl5pPr marL="2383776" indent="-206366">
              <a:buSzPct val="70000"/>
              <a:buFontTx/>
              <a:buBlip>
                <a:blip r:embed="rId2"/>
              </a:buBlip>
              <a:defRPr b="0" i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E6A6DA3F-533B-595F-3576-0EF35131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541536"/>
            <a:ext cx="11417484" cy="54117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46C99DA-8381-9AE8-58AF-7D4082B44A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4771" y="144320"/>
            <a:ext cx="1253711" cy="25987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486C50B0-76E2-247E-2C66-38CA576A867B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AD2E4DE-93E3-CC71-EC3F-42A060634968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CCFB5AF-D6FD-E2F9-2A1A-F2138201F2F0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9BE7BD1-C7EA-D2D1-42BE-276352F18B79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C256C6C-62BD-300F-0A29-2EFA8AF6A15F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68054AC-DA5C-F001-A276-008FA0E8BB39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5500974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Dark Blu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FA499CE-1014-22D5-1CE9-1D531EA71940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  <a:effectLst/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A746216-5AE2-2F3C-6C74-74FF08E12E47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61161B1-56BF-750E-5029-529ED785EDCF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21B54B4-BD9D-213D-3D0A-299508DB08BA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BE56238-9870-2B3D-5EA1-DEFC99D1722A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577AB4B-F4DB-BD32-9E29-0585824FB467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2728559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 with Photo Box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le 10">
            <a:extLst>
              <a:ext uri="{FF2B5EF4-FFF2-40B4-BE49-F238E27FC236}">
                <a16:creationId xmlns:a16="http://schemas.microsoft.com/office/drawing/2014/main" id="{F52D50A3-FC67-9CDE-DB54-71BBCB959005}"/>
              </a:ext>
            </a:extLst>
          </p:cNvPr>
          <p:cNvSpPr/>
          <p:nvPr userDrawn="1"/>
        </p:nvSpPr>
        <p:spPr>
          <a:xfrm>
            <a:off x="8576601" y="436856"/>
            <a:ext cx="3615399" cy="3116722"/>
          </a:xfrm>
          <a:prstGeom prst="triangle">
            <a:avLst/>
          </a:prstGeom>
          <a:noFill/>
          <a:ln w="254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Neue Haas Grotesk Text Pro" panose="020B0504020202020204" pitchFamily="34" charset="77"/>
            </a:endParaRPr>
          </a:p>
        </p:txBody>
      </p:sp>
      <p:sp>
        <p:nvSpPr>
          <p:cNvPr id="12" name="Triangle 11">
            <a:extLst>
              <a:ext uri="{FF2B5EF4-FFF2-40B4-BE49-F238E27FC236}">
                <a16:creationId xmlns:a16="http://schemas.microsoft.com/office/drawing/2014/main" id="{0D2EE1C1-74D4-9D74-DF5E-56CEF3152BB6}"/>
              </a:ext>
            </a:extLst>
          </p:cNvPr>
          <p:cNvSpPr/>
          <p:nvPr userDrawn="1"/>
        </p:nvSpPr>
        <p:spPr>
          <a:xfrm>
            <a:off x="9329284" y="2319649"/>
            <a:ext cx="2862716" cy="2467858"/>
          </a:xfrm>
          <a:prstGeom prst="triangle">
            <a:avLst/>
          </a:prstGeom>
          <a:noFill/>
          <a:ln w="25400">
            <a:solidFill>
              <a:schemeClr val="accent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Neue Haas Grotesk Text Pro" panose="020B0504020202020204" pitchFamily="34" charset="77"/>
            </a:endParaRPr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B51580FE-8196-F324-8BC8-09FBE6AB0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0" y="1679193"/>
            <a:ext cx="6338307" cy="3761608"/>
          </a:xfrm>
        </p:spPr>
        <p:txBody>
          <a:bodyPr anchor="t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EA91D67-9ACD-8257-4F7B-EBF88687B543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94CE7FD-CDB0-5176-213C-6F98D01412CB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1C3607F-A354-D27F-0694-2C4049C06C50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28729F9-2D9D-DBFB-6790-23A265635BEC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9951B04-A919-D6D8-C6E4-7531F549C409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04C852E-171C-E2E9-C37A-66CFE678BF09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F4BEEE98-9F8C-8A9F-BB81-DF9936ABF62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371875" y="1218150"/>
            <a:ext cx="3729789" cy="4726059"/>
          </a:xfrm>
          <a:solidFill>
            <a:schemeClr val="accent5"/>
          </a:solidFill>
        </p:spPr>
        <p:txBody>
          <a:bodyPr lIns="91440" rIns="91440" anchor="ctr"/>
          <a:lstStyle>
            <a:lvl1pPr algn="ctr">
              <a:defRPr b="0" i="0"/>
            </a:lvl1pPr>
          </a:lstStyle>
          <a:p>
            <a:r>
              <a:rPr lang="en-US"/>
              <a:t>Click to add picture. </a:t>
            </a:r>
            <a:br>
              <a:rPr lang="en-US"/>
            </a:br>
            <a:r>
              <a:rPr lang="en-US"/>
              <a:t>Delete if not needed.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377176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DB207E-6BD3-2848-91BF-A33B36112BD7}"/>
              </a:ext>
            </a:extLst>
          </p:cNvPr>
          <p:cNvCxnSpPr>
            <a:cxnSpLocks/>
          </p:cNvCxnSpPr>
          <p:nvPr userDrawn="1"/>
        </p:nvCxnSpPr>
        <p:spPr>
          <a:xfrm>
            <a:off x="4152411" y="2218052"/>
            <a:ext cx="0" cy="2582333"/>
          </a:xfrm>
          <a:prstGeom prst="line">
            <a:avLst/>
          </a:prstGeom>
          <a:ln w="3175">
            <a:gradFill>
              <a:gsLst>
                <a:gs pos="0">
                  <a:schemeClr val="accent1">
                    <a:alpha val="0"/>
                  </a:schemeClr>
                </a:gs>
                <a:gs pos="24000">
                  <a:schemeClr val="accent1">
                    <a:alpha val="85000"/>
                  </a:schemeClr>
                </a:gs>
                <a:gs pos="85000">
                  <a:schemeClr val="accent1">
                    <a:alpha val="7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68C03CB5-4B97-F34F-AFBD-A6036B01AA4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07484" y="2569369"/>
            <a:ext cx="1457661" cy="1679131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0B7D34D-4EC8-3835-8827-AF3AACE3F0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6655" y="3076535"/>
            <a:ext cx="6216567" cy="664797"/>
          </a:xfrm>
        </p:spPr>
        <p:txBody>
          <a:bodyPr anchor="ctr" anchorCtr="0">
            <a:spAutoFit/>
          </a:bodyPr>
          <a:lstStyle>
            <a:lvl1pPr>
              <a:defRPr sz="4800">
                <a:solidFill>
                  <a:schemeClr val="accent4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525264-62D3-4001-EAF7-A5B99865E000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  <a:effectLst/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CAC4321-8ED1-6A55-F5D1-29103E26D3CF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9C36BE6-0C1A-5599-63DB-0A14580929D1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93CA395-9029-B0E0-5B5A-0FC92FCBBCEA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1D624E2-ADD3-AD1E-E0F2-1B4F58C7D428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701BE3D-09C8-960F-8406-641D81B54EB2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328807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 (Dark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BC919759-8310-984A-8E73-0AE0C8BB18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2672"/>
          <a:stretch/>
        </p:blipFill>
        <p:spPr>
          <a:xfrm>
            <a:off x="2497010" y="2348459"/>
            <a:ext cx="5928209" cy="202469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34D6926-6438-C44B-9ADF-60A085AFA32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71766DAB-AA2E-ED42-A34B-5FDC19A9727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B2F02C0D-473F-F54B-9E97-B4A71A4ECED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5C609A4-D695-A840-8587-F87DB55A6E1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B658EE6-E77A-FC43-A580-7A35CDD75EDB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AB7CF79D-2723-C049-AD43-45F6361DB76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C76ED65-4A06-6747-98C7-C738A7169217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1E42209-2685-6B41-92F8-2B84505F94D3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8D87B425-FD6E-1340-A951-847946C91296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C888E28D-9925-6544-9CAE-1BD945EEDA90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522268" y="2590041"/>
            <a:ext cx="1264283" cy="146182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827D6781-E3CC-044A-87EA-EA308F8CA9AA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CB458E8-2A76-3B4F-9B57-5964B9618B58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0165343-94E9-C547-BA23-940217549ED6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6A9A876-769A-7A40-B448-76EB32FA11DC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F923107A-669F-7049-9283-7F22F477CB05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D3C3540-4283-F34B-BFCC-3719F0CDB734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03974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Pag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D0735-94F2-B772-0D99-159DF086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905" y="1219202"/>
            <a:ext cx="7315199" cy="3931264"/>
          </a:xfrm>
        </p:spPr>
        <p:txBody>
          <a:bodyPr anchor="ctr"/>
          <a:lstStyle>
            <a:lvl1pPr algn="l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3E809B4-3739-025A-5A56-703BF49B38E2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422BD91-9A01-82A0-16B5-8CDA91549636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4B05229-F32D-23D8-F6D1-DC80F9898648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E547325-D674-44C9-2E52-CB1B0C62F258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9329279-C3C9-75FC-CE6C-8BE3536815D9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9DE2FC8-424E-6B90-8CF0-339A10899A63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9D0EDA9D-052C-EA76-410E-71DBEAB5C9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9276" b="18954"/>
          <a:stretch/>
        </p:blipFill>
        <p:spPr>
          <a:xfrm>
            <a:off x="8127104" y="1219200"/>
            <a:ext cx="4064896" cy="56388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978C886-0736-532B-4AB7-FF7EFF9A67C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01200" y="526939"/>
            <a:ext cx="2209800" cy="45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437541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Classic Dark Green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E7069A0-6D04-01A2-1CCF-F5A9F78E027C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  <a:effectLst/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19E97EB-BEDF-215F-8512-81A388F7B967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6C6835C-4CB0-697F-0DB9-D2AA04B980D5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97B309E-0405-6F37-4554-0C1EC8E0D0AA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7085E5-B0F1-2DBB-F044-6F916D0F621B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242E99A-A68A-D658-9DA0-1C93019BEDAE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0775972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PS White Full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91525" y="1049125"/>
            <a:ext cx="10973593" cy="628785"/>
          </a:xfrm>
        </p:spPr>
        <p:txBody>
          <a:bodyPr>
            <a:normAutofit/>
          </a:bodyPr>
          <a:lstStyle>
            <a:lvl1pPr algn="l">
              <a:defRPr sz="426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4303075" y="6449681"/>
            <a:ext cx="3585852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33" b="0" i="0">
                <a:solidFill>
                  <a:schemeClr val="bg1">
                    <a:lumMod val="65000"/>
                  </a:schemeClr>
                </a:solidFill>
                <a:latin typeface="Neue Haas Grotesk Text Pro" panose="020B0504020202020204" pitchFamily="34" charset="77"/>
              </a:rPr>
              <a:t>© 2021 SemperVirens. All rights reserved.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1B26C93-BE41-40D4-B5B4-BA1D025E7169}"/>
              </a:ext>
            </a:extLst>
          </p:cNvPr>
          <p:cNvCxnSpPr>
            <a:cxnSpLocks/>
          </p:cNvCxnSpPr>
          <p:nvPr userDrawn="1"/>
        </p:nvCxnSpPr>
        <p:spPr>
          <a:xfrm>
            <a:off x="2226543" y="302459"/>
            <a:ext cx="0" cy="485439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D9CDBEE-06D4-4DCC-BBAC-A72D420920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81840" y="378556"/>
            <a:ext cx="4876800" cy="366184"/>
          </a:xfrm>
        </p:spPr>
        <p:txBody>
          <a:bodyPr anchor="ctr"/>
          <a:lstStyle>
            <a:lvl1pPr marL="0" indent="0">
              <a:buNone/>
              <a:defRPr sz="1400" b="0" i="0" spc="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CONTENT TITLE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A98896-55C1-42E6-9842-149F051D0E58}"/>
              </a:ext>
            </a:extLst>
          </p:cNvPr>
          <p:cNvSpPr txBox="1"/>
          <p:nvPr userDrawn="1"/>
        </p:nvSpPr>
        <p:spPr>
          <a:xfrm>
            <a:off x="834289" y="6460665"/>
            <a:ext cx="1701107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33" b="0" i="0" spc="400">
                <a:solidFill>
                  <a:schemeClr val="bg1">
                    <a:lumMod val="65000"/>
                  </a:schemeClr>
                </a:solidFill>
                <a:latin typeface="Neue Haas Grotesk Text Pro" panose="020B0504020202020204" pitchFamily="34" charset="77"/>
              </a:rPr>
              <a:t>CONFIDENTIAL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897A44-96B2-1845-B661-B619B98D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862" y="335377"/>
            <a:ext cx="1631981" cy="4310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7E6BD1-B729-F841-B5D8-5C088EA8E101}"/>
              </a:ext>
            </a:extLst>
          </p:cNvPr>
          <p:cNvSpPr txBox="1"/>
          <p:nvPr userDrawn="1"/>
        </p:nvSpPr>
        <p:spPr>
          <a:xfrm>
            <a:off x="173897" y="6447745"/>
            <a:ext cx="951311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2426C29-E4CD-4846-83BC-3305DE632C7E}" type="slidenum">
              <a:rPr lang="en-US" sz="933" b="0" i="0" smtClean="0">
                <a:solidFill>
                  <a:schemeClr val="bg1">
                    <a:lumMod val="65000"/>
                  </a:schemeClr>
                </a:solidFill>
                <a:latin typeface="Neue Haas Grotesk Text Pro" panose="020B0504020202020204" pitchFamily="34" charset="77"/>
              </a:rPr>
              <a:t>‹#›</a:t>
            </a:fld>
            <a:endParaRPr lang="en-US" sz="933" b="0" i="0">
              <a:solidFill>
                <a:schemeClr val="bg1">
                  <a:lumMod val="65000"/>
                </a:schemeClr>
              </a:solidFill>
              <a:latin typeface="Neue Haas Grotesk Text Pro" panose="020B0504020202020204" pitchFamily="34" charset="77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B394AC8-99AC-9740-BE57-769C0A01D74A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A074D7F-4D62-164A-B28C-C0306C5CDA49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31111C4-252A-4642-879F-79E5AA6589C1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4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098F336-6655-9A4B-AF33-AA12436959D7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4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0E674D7-020E-FE46-9E4F-86BA3AE48E51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4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BD53E38-78C1-2246-9B46-248F3A92B73D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0" i="0">
                <a:latin typeface="Neue Haas Grotesk Text Pro" panose="020B0504020202020204" pitchFamily="34" charset="77"/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DA7B36A9-853D-E941-A137-5C08C39B1DF9}"/>
              </a:ext>
            </a:extLst>
          </p:cNvPr>
          <p:cNvSpPr/>
          <p:nvPr userDrawn="1"/>
        </p:nvSpPr>
        <p:spPr>
          <a:xfrm>
            <a:off x="9746854" y="183339"/>
            <a:ext cx="2280143" cy="69668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Neue Haas Grotesk Text Pro" panose="020B0504020202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71695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entral Mess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E4010DF-5F4E-6548-8F30-C190FC92E074}"/>
              </a:ext>
            </a:extLst>
          </p:cNvPr>
          <p:cNvSpPr/>
          <p:nvPr userDrawn="1"/>
        </p:nvSpPr>
        <p:spPr>
          <a:xfrm>
            <a:off x="649552" y="6254292"/>
            <a:ext cx="3562773" cy="58481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Neue Haas Grotesk Text Pro" panose="020B0504020202020204" pitchFamily="34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48FC52-00B0-EF4E-A3C7-B9963E0AD05B}"/>
              </a:ext>
            </a:extLst>
          </p:cNvPr>
          <p:cNvSpPr/>
          <p:nvPr userDrawn="1"/>
        </p:nvSpPr>
        <p:spPr>
          <a:xfrm>
            <a:off x="9881191" y="113415"/>
            <a:ext cx="2140688" cy="85060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Neue Haas Grotesk Text Pro" panose="020B0504020202020204" pitchFamily="34" charset="77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66E51C-3057-444A-B5DA-45BCCC1568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B0D0965-E2B5-7A46-AC8B-33F3681D2C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0000"/>
          <a:stretch/>
        </p:blipFill>
        <p:spPr>
          <a:xfrm>
            <a:off x="2" y="-740627"/>
            <a:ext cx="3956863" cy="8937856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086BF12C-B67C-2C4A-904C-BC205E135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632" y="2073242"/>
            <a:ext cx="7456104" cy="2335727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678661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PS White Fu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16200000">
            <a:off x="10563763" y="-883499"/>
            <a:ext cx="744741" cy="2511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 defTabSz="1087867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>
              <a:solidFill>
                <a:srgbClr val="E0E3E3"/>
              </a:solidFill>
              <a:latin typeface="Neue Haas Grotesk Text Pro" panose="020B0504020202020204" pitchFamily="34" charset="77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81947" y="1049126"/>
            <a:ext cx="10973593" cy="628785"/>
          </a:xfrm>
        </p:spPr>
        <p:txBody>
          <a:bodyPr>
            <a:normAutofit/>
          </a:bodyPr>
          <a:lstStyle>
            <a:lvl1pPr algn="l">
              <a:defRPr sz="426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4303075" y="6449681"/>
            <a:ext cx="3585852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33" b="0" i="0">
                <a:solidFill>
                  <a:schemeClr val="bg1">
                    <a:lumMod val="65000"/>
                  </a:schemeClr>
                </a:solidFill>
                <a:latin typeface="Neue Haas Grotesk Text Pro" panose="020B0504020202020204" pitchFamily="34" charset="77"/>
              </a:rPr>
              <a:t>© 2023 SemperVirens. All rights reserved.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068037-84E7-4C9A-821C-1A43D80541A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1808669"/>
            <a:ext cx="10972800" cy="4630233"/>
          </a:xfrm>
        </p:spPr>
        <p:txBody>
          <a:bodyPr/>
          <a:lstStyle>
            <a:lvl1pPr marL="304784" indent="-304784">
              <a:buFont typeface="Arial" panose="020B0604020202020204" pitchFamily="34" charset="0"/>
              <a:buChar char="•"/>
              <a:defRPr sz="2667" b="0" i="0">
                <a:solidFill>
                  <a:schemeClr val="tx2"/>
                </a:solidFill>
              </a:defRPr>
            </a:lvl1pPr>
            <a:lvl2pPr marL="731484" indent="-304784">
              <a:buFont typeface="Arial" panose="020B0604020202020204" pitchFamily="34" charset="0"/>
              <a:buChar char="•"/>
              <a:defRPr sz="2400" b="0" i="0">
                <a:solidFill>
                  <a:schemeClr val="tx2"/>
                </a:solidFill>
              </a:defRPr>
            </a:lvl2pPr>
            <a:lvl3pPr marL="1219140" indent="-304784">
              <a:buFont typeface="Arial" panose="020B0604020202020204" pitchFamily="34" charset="0"/>
              <a:buChar char="•"/>
              <a:defRPr sz="2133" b="0" i="0">
                <a:solidFill>
                  <a:schemeClr val="tx2"/>
                </a:solidFill>
              </a:defRPr>
            </a:lvl3pPr>
            <a:lvl4pPr marL="1858606" indent="-226208">
              <a:buFont typeface="Arial" panose="020B0604020202020204" pitchFamily="34" charset="0"/>
              <a:buChar char="•"/>
              <a:defRPr sz="1867" b="0" i="0">
                <a:solidFill>
                  <a:schemeClr val="tx2"/>
                </a:solidFill>
              </a:defRPr>
            </a:lvl4pPr>
            <a:lvl5pPr marL="2383776" indent="-206366">
              <a:buFont typeface="Arial" panose="020B0604020202020204" pitchFamily="34" charset="0"/>
              <a:buChar char="•"/>
              <a:defRPr sz="1867" b="0" i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76B50-E463-46CE-9B7D-4F8AA3F2C7FE}"/>
              </a:ext>
            </a:extLst>
          </p:cNvPr>
          <p:cNvSpPr txBox="1"/>
          <p:nvPr userDrawn="1"/>
        </p:nvSpPr>
        <p:spPr>
          <a:xfrm>
            <a:off x="834289" y="6460665"/>
            <a:ext cx="1701107" cy="2358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33" b="0" i="0" spc="400">
                <a:solidFill>
                  <a:schemeClr val="bg1">
                    <a:lumMod val="65000"/>
                  </a:schemeClr>
                </a:solidFill>
                <a:latin typeface="Neue Haas Grotesk Text Pro" panose="020B0504020202020204" pitchFamily="34" charset="77"/>
              </a:rPr>
              <a:t>CONFIDENTIAL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BF8514-0E5E-4DA0-B203-E996C5E98141}"/>
              </a:ext>
            </a:extLst>
          </p:cNvPr>
          <p:cNvCxnSpPr>
            <a:cxnSpLocks/>
          </p:cNvCxnSpPr>
          <p:nvPr userDrawn="1"/>
        </p:nvCxnSpPr>
        <p:spPr>
          <a:xfrm>
            <a:off x="2226543" y="302461"/>
            <a:ext cx="0" cy="485439"/>
          </a:xfrm>
          <a:prstGeom prst="line">
            <a:avLst/>
          </a:prstGeom>
          <a:ln w="9525" cmpd="sng">
            <a:solidFill>
              <a:schemeClr val="accent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E14A153-BA06-42D3-85B0-45A4428336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81840" y="378556"/>
            <a:ext cx="4876800" cy="366184"/>
          </a:xfrm>
        </p:spPr>
        <p:txBody>
          <a:bodyPr anchor="ctr"/>
          <a:lstStyle>
            <a:lvl1pPr marL="0" indent="0">
              <a:buNone/>
              <a:defRPr sz="1400" b="0" i="0" spc="333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CONTENT 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3AF66C2-369D-7242-88DB-F9CB0D6A81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863" y="335378"/>
            <a:ext cx="1631981" cy="4310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59E4C0A-5109-7F4E-954B-AC34C2F852D5}"/>
              </a:ext>
            </a:extLst>
          </p:cNvPr>
          <p:cNvSpPr txBox="1"/>
          <p:nvPr userDrawn="1"/>
        </p:nvSpPr>
        <p:spPr>
          <a:xfrm>
            <a:off x="173898" y="6447745"/>
            <a:ext cx="951311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2426C29-E4CD-4846-83BC-3305DE632C7E}" type="slidenum">
              <a:rPr lang="en-US" sz="933" b="0" i="0" smtClean="0">
                <a:solidFill>
                  <a:schemeClr val="bg1">
                    <a:lumMod val="65000"/>
                  </a:schemeClr>
                </a:solidFill>
                <a:latin typeface="Neue Haas Grotesk Text Pro" panose="020B0504020202020204" pitchFamily="34" charset="77"/>
              </a:rPr>
              <a:t>‹#›</a:t>
            </a:fld>
            <a:endParaRPr lang="en-US" sz="933" b="0" i="0">
              <a:solidFill>
                <a:schemeClr val="bg1">
                  <a:lumMod val="65000"/>
                </a:schemeClr>
              </a:solidFill>
              <a:latin typeface="Neue Haas Grotesk Text Pro" panose="020B0504020202020204" pitchFamily="34" charset="77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B536C58-810E-5A4A-B71B-45260EBD83A7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4D83FF-A316-814A-B108-33A1ABEECC99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6A0AE60-B3CD-5A40-A359-B8C9E891377A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4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4A4E958-7E74-F94F-BC03-22FDCE86F163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4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7E7594D-9041-9B45-A1F5-D3A3D9EBAC20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2400" b="0" i="0">
                <a:latin typeface="Neue Haas Grotesk Text Pro" panose="020B0504020202020204" pitchFamily="34" charset="77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A379DF4-AC4A-7D4E-B312-E3ED816E6B35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b="0" i="0">
                <a:latin typeface="Neue Haas Grotesk Text Pro" panose="020B0504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7297115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746E6CF-2188-F340-AAC1-285212DFABBC}"/>
              </a:ext>
            </a:extLst>
          </p:cNvPr>
          <p:cNvSpPr txBox="1"/>
          <p:nvPr userDrawn="1"/>
        </p:nvSpPr>
        <p:spPr>
          <a:xfrm>
            <a:off x="128460" y="6457297"/>
            <a:ext cx="951311" cy="23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2426C29-E4CD-4846-83BC-3305DE632C7E}" type="slidenum">
              <a:rPr lang="en-US" sz="933" smtClean="0">
                <a:solidFill>
                  <a:schemeClr val="bg1">
                    <a:lumMod val="75000"/>
                  </a:schemeClr>
                </a:solidFill>
                <a:latin typeface="+mn-lt"/>
              </a:rPr>
              <a:t>‹#›</a:t>
            </a:fld>
            <a:endParaRPr lang="en-US" sz="933">
              <a:solidFill>
                <a:schemeClr val="bg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57DE6-42B6-CD44-9145-DC39E8FD1D2B}"/>
              </a:ext>
            </a:extLst>
          </p:cNvPr>
          <p:cNvSpPr txBox="1"/>
          <p:nvPr userDrawn="1"/>
        </p:nvSpPr>
        <p:spPr>
          <a:xfrm>
            <a:off x="3360757" y="6496127"/>
            <a:ext cx="5470497" cy="25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67">
                <a:solidFill>
                  <a:schemeClr val="bg1">
                    <a:lumMod val="75000"/>
                  </a:schemeClr>
                </a:solidFill>
              </a:rPr>
              <a:t>© 2024 SemperVirens. All rights reserved.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3955C6-7A9E-440A-BEC5-8C926A32150F}"/>
              </a:ext>
            </a:extLst>
          </p:cNvPr>
          <p:cNvSpPr/>
          <p:nvPr userDrawn="1"/>
        </p:nvSpPr>
        <p:spPr>
          <a:xfrm>
            <a:off x="423336" y="372533"/>
            <a:ext cx="169333" cy="635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CB565D-9036-4F1A-83C7-770227610DD2}"/>
              </a:ext>
            </a:extLst>
          </p:cNvPr>
          <p:cNvSpPr txBox="1"/>
          <p:nvPr userDrawn="1"/>
        </p:nvSpPr>
        <p:spPr>
          <a:xfrm>
            <a:off x="702736" y="377777"/>
            <a:ext cx="8348133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endParaRPr lang="en-US" sz="3200" err="1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220243-A1A3-40DC-A0FB-87CE7F6DCC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2733" y="372533"/>
            <a:ext cx="8288867" cy="635000"/>
          </a:xfrm>
        </p:spPr>
        <p:txBody>
          <a:bodyPr anchor="ctr"/>
          <a:lstStyle>
            <a:lvl1pPr marL="0" indent="0">
              <a:buNone/>
              <a:defRPr sz="2400"/>
            </a:lvl1pPr>
            <a:lvl2pPr marL="426677" indent="0">
              <a:buNone/>
              <a:defRPr/>
            </a:lvl2pPr>
            <a:lvl3pPr marL="914309" indent="0">
              <a:buNone/>
              <a:defRPr/>
            </a:lvl3pPr>
            <a:lvl4pPr marL="1632318" indent="0">
              <a:buNone/>
              <a:defRPr/>
            </a:lvl4pPr>
            <a:lvl5pPr marL="2177304" indent="0">
              <a:buFont typeface="Arial" panose="020B0604020202020204" pitchFamily="34" charset="0"/>
              <a:buNone/>
              <a:defRPr/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39692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8000" y="274641"/>
            <a:ext cx="11074400" cy="785899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E1D8C8-BD2C-594C-9CDC-D4B628F16BCA}"/>
              </a:ext>
            </a:extLst>
          </p:cNvPr>
          <p:cNvSpPr/>
          <p:nvPr userDrawn="1"/>
        </p:nvSpPr>
        <p:spPr>
          <a:xfrm rot="5400000">
            <a:off x="6058427" y="-6058421"/>
            <a:ext cx="75159" cy="1219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195837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V Bod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16200000">
            <a:off x="10563763" y="-883499"/>
            <a:ext cx="744741" cy="2511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marL="0" marR="0" lvl="0" indent="0" algn="ctr" defTabSz="10878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E0E3E3"/>
              </a:solidFill>
              <a:effectLst/>
              <a:uLnTx/>
              <a:uFillTx/>
              <a:latin typeface="Neue Haas Grotesk Text Pro" panose="020B0504020202020204" pitchFamily="34" charset="77"/>
              <a:ea typeface="+mn-ea"/>
              <a:cs typeface="+mn-cs"/>
            </a:endParaRP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93984966-F0A6-0B45-A558-2E6A855B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47" y="548642"/>
            <a:ext cx="10973593" cy="628785"/>
          </a:xfrm>
        </p:spPr>
        <p:txBody>
          <a:bodyPr>
            <a:noAutofit/>
          </a:bodyPr>
          <a:lstStyle>
            <a:lvl1pPr algn="l">
              <a:defRPr sz="3867" b="0" i="0">
                <a:solidFill>
                  <a:schemeClr val="accent6"/>
                </a:solidFill>
                <a:latin typeface="Neue Haas Grotesk Tex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B80A9-D787-4708-93B4-A7BFE6E853C7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8B2E68-411D-4310-9B97-8B215341E7DF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Haas Grotesk Text Pro" panose="020B0504020202020204" pitchFamily="34" charset="77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E01D49-65F8-48CF-A715-EC8DE589F939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Haas Grotesk Text Pro" panose="020B0504020202020204" pitchFamily="34" charset="77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E84DCA-BF04-4F81-935A-5DFCB2962495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Haas Grotesk Text Pro" panose="020B0504020202020204" pitchFamily="34" charset="77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69D3360-BB43-4CF3-BB70-E35D63521E45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Haas Grotesk Text Pro" panose="020B0504020202020204" pitchFamily="34" charset="77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A8C59E-DC03-4219-99C0-6D0BC688F166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Haas Grotesk Text Pro" panose="020B0504020202020204" pitchFamily="34" charset="77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2386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V Bod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16200000">
            <a:off x="10563763" y="-883499"/>
            <a:ext cx="744741" cy="2511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marL="0" marR="0" lvl="0" indent="0" algn="ctr" defTabSz="10878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E0E3E3"/>
              </a:solidFill>
              <a:effectLst/>
              <a:uLnTx/>
              <a:uFillTx/>
              <a:latin typeface="Neue Haas Grotesk Text Pro" panose="020B0504020202020204" pitchFamily="34" charset="77"/>
              <a:ea typeface="+mn-ea"/>
              <a:cs typeface="+mn-cs"/>
            </a:endParaRP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93984966-F0A6-0B45-A558-2E6A855B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48" y="548642"/>
            <a:ext cx="10973593" cy="628785"/>
          </a:xfrm>
        </p:spPr>
        <p:txBody>
          <a:bodyPr>
            <a:noAutofit/>
          </a:bodyPr>
          <a:lstStyle>
            <a:lvl1pPr algn="l">
              <a:defRPr sz="3867" b="0" i="0">
                <a:solidFill>
                  <a:schemeClr val="accent6"/>
                </a:solidFill>
                <a:latin typeface="Neue Haas Grotesk Text Pro" panose="020B05040202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B80A9-D787-4708-93B4-A7BFE6E853C7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8B2E68-411D-4310-9B97-8B215341E7DF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Haas Grotesk Text Pro" panose="020B0504020202020204" pitchFamily="34" charset="77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E01D49-65F8-48CF-A715-EC8DE589F939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Haas Grotesk Text Pro" panose="020B0504020202020204" pitchFamily="34" charset="77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E84DCA-BF04-4F81-935A-5DFCB2962495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Haas Grotesk Text Pro" panose="020B0504020202020204" pitchFamily="34" charset="77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69D3360-BB43-4CF3-BB70-E35D63521E45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Haas Grotesk Text Pro" panose="020B0504020202020204" pitchFamily="34" charset="77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A8C59E-DC03-4219-99C0-6D0BC688F166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eue Haas Grotesk Text Pro" panose="020B0504020202020204" pitchFamily="34" charset="77"/>
                <a:ea typeface="+mn-ea"/>
                <a:cs typeface="+mn-cs"/>
              </a:endParaRPr>
            </a:p>
          </p:txBody>
        </p:sp>
      </p:grpSp>
      <p:pic>
        <p:nvPicPr>
          <p:cNvPr id="2" name="Graphic 1">
            <a:extLst>
              <a:ext uri="{FF2B5EF4-FFF2-40B4-BE49-F238E27FC236}">
                <a16:creationId xmlns:a16="http://schemas.microsoft.com/office/drawing/2014/main" id="{9B77D6D7-FB1E-B8AC-4595-187B1C9348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44773" y="144321"/>
            <a:ext cx="1253711" cy="259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4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V Bod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16200000">
            <a:off x="10563764" y="-883499"/>
            <a:ext cx="744741" cy="251173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marL="0" marR="0" lvl="0" indent="0" algn="ctr" defTabSz="10878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E0E3E3"/>
              </a:solidFill>
              <a:effectLst/>
              <a:uLnTx/>
              <a:uFillTx/>
              <a:latin typeface="Calibri Light"/>
              <a:ea typeface="+mn-ea"/>
              <a:cs typeface="+mn-cs"/>
            </a:endParaRPr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93984966-F0A6-0B45-A558-2E6A855B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49" y="548644"/>
            <a:ext cx="10973593" cy="628785"/>
          </a:xfrm>
        </p:spPr>
        <p:txBody>
          <a:bodyPr>
            <a:noAutofit/>
          </a:bodyPr>
          <a:lstStyle>
            <a:lvl1pPr algn="l">
              <a:defRPr sz="3867">
                <a:solidFill>
                  <a:schemeClr val="accent6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0FB80A9-D787-4708-93B4-A7BFE6E853C7}"/>
              </a:ext>
            </a:extLst>
          </p:cNvPr>
          <p:cNvGrpSpPr/>
          <p:nvPr userDrawn="1"/>
        </p:nvGrpSpPr>
        <p:grpSpPr>
          <a:xfrm>
            <a:off x="1" y="1007"/>
            <a:ext cx="12192000" cy="41636"/>
            <a:chOff x="-873150" y="-401682"/>
            <a:chExt cx="9941518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58B2E68-411D-4310-9B97-8B215341E7DF}"/>
                </a:ext>
              </a:extLst>
            </p:cNvPr>
            <p:cNvSpPr/>
            <p:nvPr userDrawn="1"/>
          </p:nvSpPr>
          <p:spPr>
            <a:xfrm rot="16200000">
              <a:off x="4081626" y="-1375725"/>
              <a:ext cx="45719" cy="1993805"/>
            </a:xfrm>
            <a:prstGeom prst="rect">
              <a:avLst/>
            </a:prstGeom>
            <a:solidFill>
              <a:srgbClr val="F4433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E01D49-65F8-48CF-A715-EC8DE589F939}"/>
                </a:ext>
              </a:extLst>
            </p:cNvPr>
            <p:cNvSpPr/>
            <p:nvPr userDrawn="1"/>
          </p:nvSpPr>
          <p:spPr>
            <a:xfrm rot="16200000">
              <a:off x="8048606" y="-1375725"/>
              <a:ext cx="45719" cy="1993805"/>
            </a:xfrm>
            <a:prstGeom prst="rect">
              <a:avLst/>
            </a:prstGeom>
            <a:solidFill>
              <a:srgbClr val="0079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6E84DCA-BF04-4F81-935A-5DFCB2962495}"/>
                </a:ext>
              </a:extLst>
            </p:cNvPr>
            <p:cNvSpPr/>
            <p:nvPr userDrawn="1"/>
          </p:nvSpPr>
          <p:spPr>
            <a:xfrm rot="16200000">
              <a:off x="2094699" y="-1375725"/>
              <a:ext cx="45719" cy="1993805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69D3360-BB43-4CF3-BB70-E35D63521E45}"/>
                </a:ext>
              </a:extLst>
            </p:cNvPr>
            <p:cNvSpPr/>
            <p:nvPr userDrawn="1"/>
          </p:nvSpPr>
          <p:spPr>
            <a:xfrm rot="16200000">
              <a:off x="100893" y="-1375725"/>
              <a:ext cx="45719" cy="1993805"/>
            </a:xfrm>
            <a:prstGeom prst="rect">
              <a:avLst/>
            </a:prstGeom>
            <a:solidFill>
              <a:srgbClr val="81C78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A8C59E-DC03-4219-99C0-6D0BC688F166}"/>
                </a:ext>
              </a:extLst>
            </p:cNvPr>
            <p:cNvSpPr/>
            <p:nvPr userDrawn="1"/>
          </p:nvSpPr>
          <p:spPr>
            <a:xfrm rot="16200000">
              <a:off x="6068555" y="-1375725"/>
              <a:ext cx="45719" cy="199380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6095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896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380999" y="541536"/>
            <a:ext cx="114300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style.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80998" y="1485900"/>
            <a:ext cx="11430001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91440" rIns="0" bIns="9144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0170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</p:sldLayoutIdLst>
  <p:transition>
    <p:fade/>
  </p:transition>
  <p:hf sldNum="0" hdr="0" ftr="0" dt="0"/>
  <p:txStyles>
    <p:titleStyle>
      <a:lvl1pPr algn="l" defTabSz="543705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 i="0" kern="1200" spc="20" baseline="0">
          <a:solidFill>
            <a:srgbClr val="3D3D3D"/>
          </a:solidFill>
          <a:latin typeface="Neue Haas Grotesk Text Pro" panose="020B0504020202020204" pitchFamily="34" charset="77"/>
          <a:ea typeface="MS PGothic" pitchFamily="34" charset="-128"/>
          <a:cs typeface="Browallia New" panose="020B0604020202020204" pitchFamily="34" charset="0"/>
        </a:defRPr>
      </a:lvl1pPr>
      <a:lvl2pPr algn="l" defTabSz="543705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533">
          <a:solidFill>
            <a:srgbClr val="286664"/>
          </a:solidFill>
          <a:latin typeface="Cambria" charset="0"/>
          <a:ea typeface="MS PGothic" pitchFamily="34" charset="-128"/>
          <a:cs typeface="Cambria" charset="0"/>
        </a:defRPr>
      </a:lvl2pPr>
      <a:lvl3pPr algn="l" defTabSz="543705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533">
          <a:solidFill>
            <a:srgbClr val="286664"/>
          </a:solidFill>
          <a:latin typeface="Cambria" charset="0"/>
          <a:ea typeface="MS PGothic" pitchFamily="34" charset="-128"/>
          <a:cs typeface="Cambria" charset="0"/>
        </a:defRPr>
      </a:lvl3pPr>
      <a:lvl4pPr algn="l" defTabSz="543705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533">
          <a:solidFill>
            <a:srgbClr val="286664"/>
          </a:solidFill>
          <a:latin typeface="Cambria" charset="0"/>
          <a:ea typeface="MS PGothic" pitchFamily="34" charset="-128"/>
          <a:cs typeface="Cambria" charset="0"/>
        </a:defRPr>
      </a:lvl4pPr>
      <a:lvl5pPr algn="l" defTabSz="543705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533">
          <a:solidFill>
            <a:srgbClr val="286664"/>
          </a:solidFill>
          <a:latin typeface="Cambria" charset="0"/>
          <a:ea typeface="MS PGothic" pitchFamily="34" charset="-128"/>
          <a:cs typeface="Cambria" charset="0"/>
        </a:defRPr>
      </a:lvl5pPr>
      <a:lvl6pPr marL="380990" algn="l" defTabSz="543705" rtl="0" eaLnBrk="1" fontAlgn="base" hangingPunct="1">
        <a:spcBef>
          <a:spcPct val="0"/>
        </a:spcBef>
        <a:spcAft>
          <a:spcPct val="0"/>
        </a:spcAft>
        <a:defRPr sz="5067">
          <a:solidFill>
            <a:srgbClr val="1C4846"/>
          </a:solidFill>
          <a:latin typeface="Calibri" charset="0"/>
          <a:ea typeface="ＭＳ Ｐゴシック" charset="0"/>
          <a:cs typeface="ＭＳ Ｐゴシック" charset="0"/>
        </a:defRPr>
      </a:lvl6pPr>
      <a:lvl7pPr marL="761981" algn="l" defTabSz="543705" rtl="0" eaLnBrk="1" fontAlgn="base" hangingPunct="1">
        <a:spcBef>
          <a:spcPct val="0"/>
        </a:spcBef>
        <a:spcAft>
          <a:spcPct val="0"/>
        </a:spcAft>
        <a:defRPr sz="5067">
          <a:solidFill>
            <a:srgbClr val="1C4846"/>
          </a:solidFill>
          <a:latin typeface="Calibri" charset="0"/>
          <a:ea typeface="ＭＳ Ｐゴシック" charset="0"/>
          <a:cs typeface="ＭＳ Ｐゴシック" charset="0"/>
        </a:defRPr>
      </a:lvl7pPr>
      <a:lvl8pPr marL="1142971" algn="l" defTabSz="543705" rtl="0" eaLnBrk="1" fontAlgn="base" hangingPunct="1">
        <a:spcBef>
          <a:spcPct val="0"/>
        </a:spcBef>
        <a:spcAft>
          <a:spcPct val="0"/>
        </a:spcAft>
        <a:defRPr sz="5067">
          <a:solidFill>
            <a:srgbClr val="1C4846"/>
          </a:solidFill>
          <a:latin typeface="Calibri" charset="0"/>
          <a:ea typeface="ＭＳ Ｐゴシック" charset="0"/>
          <a:cs typeface="ＭＳ Ｐゴシック" charset="0"/>
        </a:defRPr>
      </a:lvl8pPr>
      <a:lvl9pPr marL="1523962" algn="l" defTabSz="543705" rtl="0" eaLnBrk="1" fontAlgn="base" hangingPunct="1">
        <a:spcBef>
          <a:spcPct val="0"/>
        </a:spcBef>
        <a:spcAft>
          <a:spcPct val="0"/>
        </a:spcAft>
        <a:defRPr sz="5067">
          <a:solidFill>
            <a:srgbClr val="1C4846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213352" indent="-213352" algn="l" defTabSz="543705" rtl="0" eaLnBrk="1" fontAlgn="base" hangingPunct="1">
        <a:lnSpc>
          <a:spcPct val="90000"/>
        </a:lnSpc>
        <a:spcBef>
          <a:spcPts val="400"/>
        </a:spcBef>
        <a:spcAft>
          <a:spcPts val="400"/>
        </a:spcAft>
        <a:buSzPct val="80000"/>
        <a:buFont typeface="Wingdings" pitchFamily="2" charset="2"/>
        <a:buChar char="ü"/>
        <a:defRPr sz="2000" b="0" i="0" kern="1200">
          <a:solidFill>
            <a:srgbClr val="3D3D3D"/>
          </a:solidFill>
          <a:latin typeface="Neue Haas Grotesk Text Pro" panose="020B0504020202020204" pitchFamily="34" charset="77"/>
          <a:ea typeface="MS PGothic" pitchFamily="34" charset="-128"/>
          <a:cs typeface="Calibri Light"/>
        </a:defRPr>
      </a:lvl1pPr>
      <a:lvl2pPr marL="640062" indent="-213352" algn="l" defTabSz="543705" rtl="0" eaLnBrk="1" fontAlgn="base" hangingPunct="1">
        <a:lnSpc>
          <a:spcPct val="90000"/>
        </a:lnSpc>
        <a:spcBef>
          <a:spcPts val="400"/>
        </a:spcBef>
        <a:spcAft>
          <a:spcPts val="400"/>
        </a:spcAft>
        <a:buSzPct val="100000"/>
        <a:buFont typeface="Arial"/>
        <a:buChar char="•"/>
        <a:defRPr sz="2000" b="0" i="0" kern="1200">
          <a:solidFill>
            <a:srgbClr val="3D3D3D"/>
          </a:solidFill>
          <a:latin typeface="Neue Haas Grotesk Text Pro" panose="020B0504020202020204" pitchFamily="34" charset="77"/>
          <a:ea typeface="MS PGothic" pitchFamily="34" charset="-128"/>
          <a:cs typeface="Calibri Light"/>
        </a:defRPr>
      </a:lvl2pPr>
      <a:lvl3pPr marL="1127730" indent="-213352" algn="l" defTabSz="543705" rtl="0" eaLnBrk="1" fontAlgn="base" hangingPunct="1">
        <a:lnSpc>
          <a:spcPct val="90000"/>
        </a:lnSpc>
        <a:spcBef>
          <a:spcPts val="400"/>
        </a:spcBef>
        <a:spcAft>
          <a:spcPts val="400"/>
        </a:spcAft>
        <a:buSzPct val="80000"/>
        <a:buFont typeface="Lucida Grande" charset="0"/>
        <a:buChar char="−"/>
        <a:defRPr sz="2000" b="0" i="0" kern="1200">
          <a:solidFill>
            <a:srgbClr val="3D3D3D"/>
          </a:solidFill>
          <a:latin typeface="Neue Haas Grotesk Text Pro" panose="020B0504020202020204" pitchFamily="34" charset="77"/>
          <a:ea typeface="MS PGothic" pitchFamily="34" charset="-128"/>
          <a:cs typeface="Calibri Light"/>
        </a:defRPr>
      </a:lvl3pPr>
      <a:lvl4pPr marL="1858652" indent="-226213" algn="l" defTabSz="543705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Font typeface="Arial" pitchFamily="34" charset="0"/>
        <a:buChar char="•"/>
        <a:defRPr sz="2000" b="0" i="0" kern="1200">
          <a:solidFill>
            <a:srgbClr val="3D3D3D"/>
          </a:solidFill>
          <a:latin typeface="Neue Haas Grotesk Text Pro" panose="020B0504020202020204" pitchFamily="34" charset="77"/>
          <a:ea typeface="MS PGothic" pitchFamily="34" charset="-128"/>
          <a:cs typeface="Calibri Light"/>
        </a:defRPr>
      </a:lvl4pPr>
      <a:lvl5pPr marL="2383836" indent="-206370" algn="l" defTabSz="543705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SzPct val="70000"/>
        <a:buBlip>
          <a:blip r:embed="rId39"/>
        </a:buBlip>
        <a:defRPr sz="2000" b="0" i="0" kern="1200">
          <a:solidFill>
            <a:srgbClr val="3D3D3D"/>
          </a:solidFill>
          <a:latin typeface="Neue Haas Grotesk Text Pro" panose="020B0504020202020204" pitchFamily="34" charset="77"/>
          <a:ea typeface="MS PGothic" pitchFamily="34" charset="-128"/>
          <a:cs typeface="Calibri Light"/>
        </a:defRPr>
      </a:lvl5pPr>
      <a:lvl6pPr marL="2993346" indent="-272123" algn="l" defTabSz="54424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7592" indent="-272123" algn="l" defTabSz="54424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837" indent="-272123" algn="l" defTabSz="54424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6082" indent="-272123" algn="l" defTabSz="544245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4245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4245" algn="l" defTabSz="544245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88490" algn="l" defTabSz="544245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2735" algn="l" defTabSz="544245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76980" algn="l" defTabSz="544245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1224" algn="l" defTabSz="544245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65469" algn="l" defTabSz="544245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09714" algn="l" defTabSz="544245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53959" algn="l" defTabSz="544245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240">
          <p15:clr>
            <a:srgbClr val="F26B43"/>
          </p15:clr>
        </p15:guide>
        <p15:guide id="3" pos="7440">
          <p15:clr>
            <a:srgbClr val="F26B43"/>
          </p15:clr>
        </p15:guide>
        <p15:guide id="4" orient="horz" pos="768">
          <p15:clr>
            <a:srgbClr val="F26B43"/>
          </p15:clr>
        </p15:guide>
        <p15:guide id="5" orient="horz" pos="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5" Type="http://schemas.openxmlformats.org/officeDocument/2006/relationships/hyperlink" Target="mailto:Dalton@sempervirensvc.com" TargetMode="Externa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6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hyperlink" Target="mailto:Dalton@sempervirensvc.com" TargetMode="External"/><Relationship Id="rId5" Type="http://schemas.microsoft.com/office/2007/relationships/hdphoto" Target="../media/hdphoto2.wdp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6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hyperlink" Target="mailto:Dalton@sempervirensvc.com" TargetMode="External"/><Relationship Id="rId5" Type="http://schemas.microsoft.com/office/2007/relationships/hdphoto" Target="../media/hdphoto2.wdp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4" Type="http://schemas.openxmlformats.org/officeDocument/2006/relationships/chart" Target="../charts/char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3101483"/>
            <a:ext cx="11831257" cy="649922"/>
          </a:xfrm>
          <a:prstGeom prst="rect">
            <a:avLst/>
          </a:prstGeom>
          <a:noFill/>
          <a:ln w="6350">
            <a:noFill/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</a:t>
            </a:r>
            <a:r>
              <a:rPr lang="en-US" sz="4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Internal Reporting</a:t>
            </a:r>
            <a:endParaRPr lang="en-US" sz="4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48081425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13457" y="489213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Portfolio Revenue Metrics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88560-1B0D-E54A-53FB-9DE38021A37D}"/>
              </a:ext>
            </a:extLst>
          </p:cNvPr>
          <p:cNvSpPr txBox="1"/>
          <p:nvPr/>
        </p:nvSpPr>
        <p:spPr>
          <a:xfrm>
            <a:off x="1003106" y="1379866"/>
            <a:ext cx="1253330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59,406,425.40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F86ACA-2B8F-64A7-9F2D-C95D62041D0A}"/>
              </a:ext>
            </a:extLst>
          </p:cNvPr>
          <p:cNvSpPr txBox="1"/>
          <p:nvPr/>
        </p:nvSpPr>
        <p:spPr>
          <a:xfrm>
            <a:off x="2336285" y="1388936"/>
            <a:ext cx="558640" cy="27398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C4F00-3C69-47DD-9619-9FA39DCF0186}"/>
              </a:ext>
            </a:extLst>
          </p:cNvPr>
          <p:cNvSpPr txBox="1"/>
          <p:nvPr/>
        </p:nvSpPr>
        <p:spPr>
          <a:xfrm>
            <a:off x="119688" y="5766711"/>
            <a:ext cx="11807119" cy="612934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*SemperSystem ARR Tracking is non-exhaustive across the entirety of the portfolio. Data includes PY6 Q4 SemperSystem activation tracking and early reporting from PY7 activations which currently has ~10 portfolio companies reporting.</a:t>
            </a:r>
          </a:p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^Pipeline revenue is not adjusted to include probability of close.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439706-DDDD-9330-DF1C-6E601FCF5773}"/>
              </a:ext>
            </a:extLst>
          </p:cNvPr>
          <p:cNvSpPr txBox="1"/>
          <p:nvPr/>
        </p:nvSpPr>
        <p:spPr>
          <a:xfrm>
            <a:off x="2288548" y="990262"/>
            <a:ext cx="4000938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Influence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6BED3D-6896-05D0-8B33-21C7A8A95EA3}"/>
              </a:ext>
            </a:extLst>
          </p:cNvPr>
          <p:cNvSpPr txBox="1"/>
          <p:nvPr/>
        </p:nvSpPr>
        <p:spPr>
          <a:xfrm>
            <a:off x="113457" y="994177"/>
            <a:ext cx="213664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Revenue Impact*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3F45FA-E8C1-6EA4-C08C-F9251627D693}"/>
              </a:ext>
            </a:extLst>
          </p:cNvPr>
          <p:cNvSpPr txBox="1"/>
          <p:nvPr/>
        </p:nvSpPr>
        <p:spPr>
          <a:xfrm>
            <a:off x="997376" y="1702689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$8,312,275.40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BC9217-AABE-A8F4-2D5C-CEB5D7D624BB}"/>
              </a:ext>
            </a:extLst>
          </p:cNvPr>
          <p:cNvSpPr txBox="1"/>
          <p:nvPr/>
        </p:nvSpPr>
        <p:spPr>
          <a:xfrm>
            <a:off x="1008412" y="2066076"/>
            <a:ext cx="125272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$1,094,150.00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C40F81-5C14-88FF-900A-AD763852F5D4}"/>
              </a:ext>
            </a:extLst>
          </p:cNvPr>
          <p:cNvSpPr txBox="1"/>
          <p:nvPr/>
        </p:nvSpPr>
        <p:spPr>
          <a:xfrm>
            <a:off x="91154" y="1382336"/>
            <a:ext cx="832104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All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FAD97F-2F0F-D2B6-4B0E-7EE3C5A5663F}"/>
              </a:ext>
            </a:extLst>
          </p:cNvPr>
          <p:cNvSpPr txBox="1"/>
          <p:nvPr/>
        </p:nvSpPr>
        <p:spPr>
          <a:xfrm>
            <a:off x="85424" y="1717917"/>
            <a:ext cx="832104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69D404-FC5D-6EC8-165E-C0DFF63CE871}"/>
              </a:ext>
            </a:extLst>
          </p:cNvPr>
          <p:cNvSpPr txBox="1"/>
          <p:nvPr/>
        </p:nvSpPr>
        <p:spPr>
          <a:xfrm>
            <a:off x="85424" y="2050444"/>
            <a:ext cx="832104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56E465-955D-1C58-17F7-F302C0995FDA}"/>
              </a:ext>
            </a:extLst>
          </p:cNvPr>
          <p:cNvSpPr txBox="1"/>
          <p:nvPr/>
        </p:nvSpPr>
        <p:spPr>
          <a:xfrm>
            <a:off x="97035" y="2492983"/>
            <a:ext cx="835923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Pipeline^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49D54-EE91-4ED2-2E82-8C538C9C8815}"/>
              </a:ext>
            </a:extLst>
          </p:cNvPr>
          <p:cNvSpPr txBox="1"/>
          <p:nvPr/>
        </p:nvSpPr>
        <p:spPr>
          <a:xfrm>
            <a:off x="1010935" y="2508156"/>
            <a:ext cx="1252728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$9,910,445.00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1A073-5EFD-7135-171A-A950A9D6AA10}"/>
              </a:ext>
            </a:extLst>
          </p:cNvPr>
          <p:cNvSpPr txBox="1"/>
          <p:nvPr/>
        </p:nvSpPr>
        <p:spPr>
          <a:xfrm>
            <a:off x="4329943" y="1361385"/>
            <a:ext cx="640194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A37809-B2CC-E0CD-F8F2-42173FD41514}"/>
              </a:ext>
            </a:extLst>
          </p:cNvPr>
          <p:cNvSpPr txBox="1"/>
          <p:nvPr/>
        </p:nvSpPr>
        <p:spPr>
          <a:xfrm>
            <a:off x="2986922" y="1384022"/>
            <a:ext cx="1252728" cy="27432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44,802,918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17A53F-B4EC-3102-EA99-41A5D176513D}"/>
              </a:ext>
            </a:extLst>
          </p:cNvPr>
          <p:cNvSpPr txBox="1"/>
          <p:nvPr/>
        </p:nvSpPr>
        <p:spPr>
          <a:xfrm>
            <a:off x="5036757" y="1374832"/>
            <a:ext cx="1252728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$4,603,510.40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B0242F-346C-E0A1-6BEB-E7B4AC60E14D}"/>
              </a:ext>
            </a:extLst>
          </p:cNvPr>
          <p:cNvSpPr txBox="1"/>
          <p:nvPr/>
        </p:nvSpPr>
        <p:spPr>
          <a:xfrm>
            <a:off x="2336283" y="1766682"/>
            <a:ext cx="557784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F0B324-1236-E67A-2154-0951C39035C8}"/>
              </a:ext>
            </a:extLst>
          </p:cNvPr>
          <p:cNvSpPr txBox="1"/>
          <p:nvPr/>
        </p:nvSpPr>
        <p:spPr>
          <a:xfrm>
            <a:off x="4329942" y="1766682"/>
            <a:ext cx="640080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ABB1EC-D226-2E41-3542-CC787204EE04}"/>
              </a:ext>
            </a:extLst>
          </p:cNvPr>
          <p:cNvSpPr txBox="1"/>
          <p:nvPr/>
        </p:nvSpPr>
        <p:spPr>
          <a:xfrm>
            <a:off x="2973069" y="1776998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$4,802,918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CA1CAD-AEA6-EDFB-A268-AC8956720A83}"/>
              </a:ext>
            </a:extLst>
          </p:cNvPr>
          <p:cNvSpPr txBox="1"/>
          <p:nvPr/>
        </p:nvSpPr>
        <p:spPr>
          <a:xfrm>
            <a:off x="5036757" y="1766682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$3,509,357.40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0EA094-358F-1542-20CC-CA4F3C7715A2}"/>
              </a:ext>
            </a:extLst>
          </p:cNvPr>
          <p:cNvSpPr txBox="1"/>
          <p:nvPr/>
        </p:nvSpPr>
        <p:spPr>
          <a:xfrm>
            <a:off x="2336283" y="2092965"/>
            <a:ext cx="557784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2DB5E5-505B-10B7-14D5-49B0FFE46FBF}"/>
              </a:ext>
            </a:extLst>
          </p:cNvPr>
          <p:cNvSpPr txBox="1"/>
          <p:nvPr/>
        </p:nvSpPr>
        <p:spPr>
          <a:xfrm>
            <a:off x="4329942" y="2096177"/>
            <a:ext cx="640080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F92EF5-0610-38E1-4CBE-824C8B5D6CAB}"/>
              </a:ext>
            </a:extLst>
          </p:cNvPr>
          <p:cNvSpPr txBox="1"/>
          <p:nvPr/>
        </p:nvSpPr>
        <p:spPr>
          <a:xfrm>
            <a:off x="2986922" y="2089486"/>
            <a:ext cx="1252728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TBD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9BA41C-8ED3-09F5-C6ED-5B90ADED9C1D}"/>
              </a:ext>
            </a:extLst>
          </p:cNvPr>
          <p:cNvSpPr txBox="1"/>
          <p:nvPr/>
        </p:nvSpPr>
        <p:spPr>
          <a:xfrm>
            <a:off x="5060314" y="2092593"/>
            <a:ext cx="1252728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$1,094,150.00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0EA75D-6C73-D200-395D-9F2BE0F27B8B}"/>
              </a:ext>
            </a:extLst>
          </p:cNvPr>
          <p:cNvSpPr txBox="1"/>
          <p:nvPr/>
        </p:nvSpPr>
        <p:spPr>
          <a:xfrm>
            <a:off x="2343511" y="2503551"/>
            <a:ext cx="557784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3CA7ED-F63A-EA94-C7E1-3C44197DD2E0}"/>
              </a:ext>
            </a:extLst>
          </p:cNvPr>
          <p:cNvSpPr txBox="1"/>
          <p:nvPr/>
        </p:nvSpPr>
        <p:spPr>
          <a:xfrm>
            <a:off x="4325728" y="2512084"/>
            <a:ext cx="640080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BC2B7F-4024-978D-BE3C-C21B88815395}"/>
              </a:ext>
            </a:extLst>
          </p:cNvPr>
          <p:cNvSpPr txBox="1"/>
          <p:nvPr/>
        </p:nvSpPr>
        <p:spPr>
          <a:xfrm>
            <a:off x="2995023" y="2492735"/>
            <a:ext cx="1252728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$ 9,910,445.00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1AF083-1251-50A8-BC46-5390C684DC21}"/>
              </a:ext>
            </a:extLst>
          </p:cNvPr>
          <p:cNvSpPr txBox="1"/>
          <p:nvPr/>
        </p:nvSpPr>
        <p:spPr>
          <a:xfrm>
            <a:off x="5020504" y="2475056"/>
            <a:ext cx="1252728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TBD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D8999C-D020-8806-E7AA-9E6C4812F316}"/>
              </a:ext>
            </a:extLst>
          </p:cNvPr>
          <p:cNvSpPr txBox="1"/>
          <p:nvPr/>
        </p:nvSpPr>
        <p:spPr>
          <a:xfrm>
            <a:off x="8194705" y="1001927"/>
            <a:ext cx="1514621" cy="287242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Client Growth 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7D404E-D4A4-F585-A86C-D6E4FA5B8974}"/>
              </a:ext>
            </a:extLst>
          </p:cNvPr>
          <p:cNvSpPr txBox="1"/>
          <p:nvPr/>
        </p:nvSpPr>
        <p:spPr>
          <a:xfrm>
            <a:off x="8194705" y="1388082"/>
            <a:ext cx="1517904" cy="274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470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97B488-E7A9-2E51-0EB8-0CF65AF0EE3D}"/>
              </a:ext>
            </a:extLst>
          </p:cNvPr>
          <p:cNvSpPr txBox="1"/>
          <p:nvPr/>
        </p:nvSpPr>
        <p:spPr>
          <a:xfrm>
            <a:off x="8194705" y="1737904"/>
            <a:ext cx="1517904" cy="2743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B2406E-0389-23F5-0B21-8A4C5813B77D}"/>
              </a:ext>
            </a:extLst>
          </p:cNvPr>
          <p:cNvSpPr txBox="1"/>
          <p:nvPr/>
        </p:nvSpPr>
        <p:spPr>
          <a:xfrm>
            <a:off x="8197667" y="2101298"/>
            <a:ext cx="1517904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8545AC-5047-8EDC-1619-3CA2EF7FB927}"/>
              </a:ext>
            </a:extLst>
          </p:cNvPr>
          <p:cNvSpPr txBox="1"/>
          <p:nvPr/>
        </p:nvSpPr>
        <p:spPr>
          <a:xfrm>
            <a:off x="8194705" y="2483958"/>
            <a:ext cx="1517904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1AFCAD-E21C-304F-58BA-B952C8324F96}"/>
              </a:ext>
            </a:extLst>
          </p:cNvPr>
          <p:cNvSpPr txBox="1"/>
          <p:nvPr/>
        </p:nvSpPr>
        <p:spPr>
          <a:xfrm>
            <a:off x="9801999" y="976993"/>
            <a:ext cx="2136648" cy="28724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Channel Partnerships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37B493-27D0-83ED-5616-BAEE8E4FB225}"/>
              </a:ext>
            </a:extLst>
          </p:cNvPr>
          <p:cNvSpPr txBox="1"/>
          <p:nvPr/>
        </p:nvSpPr>
        <p:spPr>
          <a:xfrm>
            <a:off x="9787111" y="1360340"/>
            <a:ext cx="2139696" cy="2743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27</a:t>
            </a:r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292361-A05F-7793-F271-143DB9D89453}"/>
              </a:ext>
            </a:extLst>
          </p:cNvPr>
          <p:cNvSpPr txBox="1"/>
          <p:nvPr/>
        </p:nvSpPr>
        <p:spPr>
          <a:xfrm>
            <a:off x="9801998" y="1724715"/>
            <a:ext cx="2139696" cy="2743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22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6A8C1C-5500-39FE-6037-CBCC04D5C779}"/>
              </a:ext>
            </a:extLst>
          </p:cNvPr>
          <p:cNvSpPr txBox="1"/>
          <p:nvPr/>
        </p:nvSpPr>
        <p:spPr>
          <a:xfrm>
            <a:off x="9763554" y="2073000"/>
            <a:ext cx="2139696" cy="274320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TBD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27334F-C595-9A54-A3BA-15292F89C5FE}"/>
              </a:ext>
            </a:extLst>
          </p:cNvPr>
          <p:cNvSpPr txBox="1"/>
          <p:nvPr/>
        </p:nvSpPr>
        <p:spPr>
          <a:xfrm>
            <a:off x="9801998" y="2483958"/>
            <a:ext cx="2139696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34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E273EDD-EC83-CC9F-9B83-9A4FE7FAE8A4}"/>
              </a:ext>
            </a:extLst>
          </p:cNvPr>
          <p:cNvCxnSpPr>
            <a:cxnSpLocks/>
          </p:cNvCxnSpPr>
          <p:nvPr/>
        </p:nvCxnSpPr>
        <p:spPr>
          <a:xfrm>
            <a:off x="80913" y="2401618"/>
            <a:ext cx="11896344" cy="1916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4272F85-48DF-0015-3C59-638C87B97E38}"/>
              </a:ext>
            </a:extLst>
          </p:cNvPr>
          <p:cNvSpPr txBox="1"/>
          <p:nvPr/>
        </p:nvSpPr>
        <p:spPr>
          <a:xfrm>
            <a:off x="113458" y="2874606"/>
            <a:ext cx="11832336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PY7 Q2 Activation Outcomes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8335CA5-8ADE-503F-20AC-510ED3F5518C}"/>
              </a:ext>
            </a:extLst>
          </p:cNvPr>
          <p:cNvSpPr txBox="1"/>
          <p:nvPr/>
        </p:nvSpPr>
        <p:spPr>
          <a:xfrm>
            <a:off x="97035" y="3241213"/>
            <a:ext cx="11899952" cy="1926840"/>
          </a:xfrm>
          <a:prstGeom prst="roundRect">
            <a:avLst/>
          </a:prstGeom>
          <a:noFill/>
          <a:ln>
            <a:solidFill>
              <a:schemeClr val="tx1"/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Channel Partnerships: Introduced</a:t>
            </a: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Ashby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to Remote at HR Tech dinner leading to a highly requested integration partnership (over $2M in revenue retention</a:t>
            </a:r>
            <a:endParaRPr lang="en-US" sz="11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</a:rPr>
              <a:t>Channel Partnership: Back channeled a highly requested integration to ADP Marketplace for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</a:rPr>
              <a:t>Ashby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</a:rPr>
              <a:t>(over $1M in revenue retention + unlocks ENT deals)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Light"/>
            </a:endParaRP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</a:rPr>
              <a:t>Revenue Growth: UPS expanded partnership to 5 states with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</a:rPr>
              <a:t>Patch Caregiving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Light"/>
            </a:endParaRP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</a:rPr>
              <a:t>Market Feedback: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</a:rPr>
              <a:t>Patch Caregiving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</a:rPr>
              <a:t>met with the CPO at MGM and was able to efficiently test a market approach pivoting their strategy. 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Light"/>
            </a:endParaRP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</a:rPr>
              <a:t>Market Feedback + Client Opportunity:  CHRO at Ford provided pitch assistance to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</a:rPr>
              <a:t>Patch Caregiving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</a:rPr>
              <a:t>on their approach to manufacturers.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</a:rPr>
              <a:t>Patch Caregiving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 Light"/>
              </a:rPr>
              <a:t>is currently in discussions with General Motors’ Total Rewards leader following a SemperVirens Total Rewards Feedback Session. </a:t>
            </a:r>
            <a:endParaRPr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Light"/>
            </a:endParaRP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Client Opportunity: 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Ashby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hosted 2x dinners w/ CHROs &amp; CPOs at target accounts including Okta, Brex and Pepsi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MetLife</a:t>
            </a:r>
            <a:endParaRPr lang="en-US" sz="120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ITC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48F6A3-05A0-9D52-61D2-F7DE73DAD817}"/>
              </a:ext>
            </a:extLst>
          </p:cNvPr>
          <p:cNvSpPr txBox="1"/>
          <p:nvPr/>
        </p:nvSpPr>
        <p:spPr>
          <a:xfrm>
            <a:off x="6344182" y="998821"/>
            <a:ext cx="1814390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Exposure Opportunity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B45CF-9DD3-D8B1-E67C-0173A24B2522}"/>
              </a:ext>
            </a:extLst>
          </p:cNvPr>
          <p:cNvSpPr txBox="1"/>
          <p:nvPr/>
        </p:nvSpPr>
        <p:spPr>
          <a:xfrm>
            <a:off x="6365322" y="1378825"/>
            <a:ext cx="1793249" cy="27177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E745F-7D6C-189C-B6BA-8422C3920042}"/>
              </a:ext>
            </a:extLst>
          </p:cNvPr>
          <p:cNvSpPr txBox="1"/>
          <p:nvPr/>
        </p:nvSpPr>
        <p:spPr>
          <a:xfrm>
            <a:off x="6382970" y="1716123"/>
            <a:ext cx="1793249" cy="2717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2DD8FD-8CCF-86E2-53EF-E21A01CD38AB}"/>
              </a:ext>
            </a:extLst>
          </p:cNvPr>
          <p:cNvSpPr txBox="1"/>
          <p:nvPr/>
        </p:nvSpPr>
        <p:spPr>
          <a:xfrm>
            <a:off x="6354752" y="2089486"/>
            <a:ext cx="1793249" cy="271777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269B86-1697-7ACD-92DE-9F5DF024B8E2}"/>
              </a:ext>
            </a:extLst>
          </p:cNvPr>
          <p:cNvSpPr txBox="1"/>
          <p:nvPr/>
        </p:nvSpPr>
        <p:spPr>
          <a:xfrm>
            <a:off x="6365321" y="2506094"/>
            <a:ext cx="1793249" cy="271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94028122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6" y="475102"/>
            <a:ext cx="11832336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Product Revenue Tracking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98CAD-0FFE-776A-EA94-55FA5D3C72C3}"/>
              </a:ext>
            </a:extLst>
          </p:cNvPr>
          <p:cNvSpPr txBox="1"/>
          <p:nvPr/>
        </p:nvSpPr>
        <p:spPr>
          <a:xfrm>
            <a:off x="189854" y="1281470"/>
            <a:ext cx="3827582" cy="287242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Client Growth 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903E08-AA49-AFBA-113A-F96330F44EEA}"/>
              </a:ext>
            </a:extLst>
          </p:cNvPr>
          <p:cNvSpPr txBox="1"/>
          <p:nvPr/>
        </p:nvSpPr>
        <p:spPr>
          <a:xfrm>
            <a:off x="8174565" y="1281470"/>
            <a:ext cx="3827582" cy="28724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Channel Partnerships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29B65-A7DF-39C1-784B-2108BC5925CF}"/>
              </a:ext>
            </a:extLst>
          </p:cNvPr>
          <p:cNvSpPr txBox="1"/>
          <p:nvPr/>
        </p:nvSpPr>
        <p:spPr>
          <a:xfrm>
            <a:off x="4172884" y="890887"/>
            <a:ext cx="3840480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Early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E5E768-A7F7-A403-66BA-B5E85753FDEF}"/>
              </a:ext>
            </a:extLst>
          </p:cNvPr>
          <p:cNvSpPr txBox="1"/>
          <p:nvPr/>
        </p:nvSpPr>
        <p:spPr>
          <a:xfrm>
            <a:off x="176955" y="890887"/>
            <a:ext cx="3840480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New Investment/Seed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A6BE5F-2FAD-F8CD-107D-7F81844914C3}"/>
              </a:ext>
            </a:extLst>
          </p:cNvPr>
          <p:cNvSpPr txBox="1"/>
          <p:nvPr/>
        </p:nvSpPr>
        <p:spPr>
          <a:xfrm>
            <a:off x="8161667" y="890887"/>
            <a:ext cx="3840480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Scale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3BE248-BDD5-276F-0306-7E35A7E9E762}"/>
              </a:ext>
            </a:extLst>
          </p:cNvPr>
          <p:cNvSpPr txBox="1"/>
          <p:nvPr/>
        </p:nvSpPr>
        <p:spPr>
          <a:xfrm>
            <a:off x="4172884" y="1281470"/>
            <a:ext cx="3827582" cy="28724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Channel Partnerships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801641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80371" y="3104039"/>
            <a:ext cx="11831257" cy="649922"/>
          </a:xfrm>
          <a:prstGeom prst="rect">
            <a:avLst/>
          </a:prstGeom>
          <a:noFill/>
          <a:ln w="6350">
            <a:noFill/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</a:t>
            </a:r>
            <a:r>
              <a:rPr lang="en-US" sz="4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Data Center</a:t>
            </a:r>
            <a:endParaRPr lang="en-US" sz="4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412912398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475102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Reporting Evolution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82E6AC-0D9B-C5BC-7382-0736761107E5}"/>
              </a:ext>
            </a:extLst>
          </p:cNvPr>
          <p:cNvSpPr txBox="1"/>
          <p:nvPr/>
        </p:nvSpPr>
        <p:spPr>
          <a:xfrm>
            <a:off x="5440178" y="1338641"/>
            <a:ext cx="213664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Gap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D70136-2BFD-5E54-2ADB-29CE0CF3B5DB}"/>
              </a:ext>
            </a:extLst>
          </p:cNvPr>
          <p:cNvSpPr txBox="1"/>
          <p:nvPr/>
        </p:nvSpPr>
        <p:spPr>
          <a:xfrm>
            <a:off x="7655554" y="1338641"/>
            <a:ext cx="213664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Action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6C9D22-A3C1-C22E-DE0F-722E65D7F507}"/>
              </a:ext>
            </a:extLst>
          </p:cNvPr>
          <p:cNvSpPr txBox="1"/>
          <p:nvPr/>
        </p:nvSpPr>
        <p:spPr>
          <a:xfrm>
            <a:off x="5440177" y="1722021"/>
            <a:ext cx="2136647" cy="27241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Sequoia Reporting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19FDCB-01F5-3409-177A-0DE6B1010B01}"/>
              </a:ext>
            </a:extLst>
          </p:cNvPr>
          <p:cNvSpPr txBox="1"/>
          <p:nvPr/>
        </p:nvSpPr>
        <p:spPr>
          <a:xfrm>
            <a:off x="7655553" y="1722020"/>
            <a:ext cx="2136647" cy="27241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Sequoia Reporting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07A3B6-F3FC-65BA-723B-5BB88B3FE57E}"/>
              </a:ext>
            </a:extLst>
          </p:cNvPr>
          <p:cNvSpPr txBox="1"/>
          <p:nvPr/>
        </p:nvSpPr>
        <p:spPr>
          <a:xfrm>
            <a:off x="9870930" y="1338641"/>
            <a:ext cx="213664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Progress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1B4A7F-B05B-EEC3-80CA-8488BB2F3DC9}"/>
              </a:ext>
            </a:extLst>
          </p:cNvPr>
          <p:cNvSpPr txBox="1"/>
          <p:nvPr/>
        </p:nvSpPr>
        <p:spPr>
          <a:xfrm>
            <a:off x="9870930" y="1722020"/>
            <a:ext cx="2136647" cy="27241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Erin emailed Bob on 11/21/24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A4777F-1DE3-49A9-ECDC-267E74BE955B}"/>
              </a:ext>
            </a:extLst>
          </p:cNvPr>
          <p:cNvSpPr txBox="1"/>
          <p:nvPr/>
        </p:nvSpPr>
        <p:spPr>
          <a:xfrm>
            <a:off x="5440177" y="2090573"/>
            <a:ext cx="2136647" cy="27241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Transform ROI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81D4F3-A2FD-1879-AA30-0EF757E296E7}"/>
              </a:ext>
            </a:extLst>
          </p:cNvPr>
          <p:cNvSpPr txBox="1"/>
          <p:nvPr/>
        </p:nvSpPr>
        <p:spPr>
          <a:xfrm>
            <a:off x="7655553" y="2090572"/>
            <a:ext cx="2136647" cy="27241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Request from portfolio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7CA019-F6A9-C222-0D8D-13E1BCC40188}"/>
              </a:ext>
            </a:extLst>
          </p:cNvPr>
          <p:cNvSpPr txBox="1"/>
          <p:nvPr/>
        </p:nvSpPr>
        <p:spPr>
          <a:xfrm>
            <a:off x="9870930" y="2090572"/>
            <a:ext cx="2136647" cy="27241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Include in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typeform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F1350D-FAFA-C259-A32C-BDE1A3A17728}"/>
              </a:ext>
            </a:extLst>
          </p:cNvPr>
          <p:cNvSpPr txBox="1"/>
          <p:nvPr/>
        </p:nvSpPr>
        <p:spPr>
          <a:xfrm>
            <a:off x="5440176" y="2473954"/>
            <a:ext cx="2136647" cy="27241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Holistic </a:t>
            </a: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SvS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impact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AF6157-04A1-A03D-B19F-582015312320}"/>
              </a:ext>
            </a:extLst>
          </p:cNvPr>
          <p:cNvSpPr txBox="1"/>
          <p:nvPr/>
        </p:nvSpPr>
        <p:spPr>
          <a:xfrm>
            <a:off x="7655552" y="2473954"/>
            <a:ext cx="2136647" cy="27241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Typeform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51AB11-A32D-8DDF-64DB-070BEBDCEF35}"/>
              </a:ext>
            </a:extLst>
          </p:cNvPr>
          <p:cNvSpPr txBox="1"/>
          <p:nvPr/>
        </p:nvSpPr>
        <p:spPr>
          <a:xfrm>
            <a:off x="9870930" y="2473954"/>
            <a:ext cx="2136647" cy="27241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Typeform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A53C73-5F14-6D56-CBCD-68C701C89EF1}"/>
              </a:ext>
            </a:extLst>
          </p:cNvPr>
          <p:cNvSpPr txBox="1"/>
          <p:nvPr/>
        </p:nvSpPr>
        <p:spPr>
          <a:xfrm>
            <a:off x="5440176" y="2857334"/>
            <a:ext cx="2136647" cy="438912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SvS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Predictive Modeling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B2714A-C10F-F057-9F24-9B381119BE53}"/>
              </a:ext>
            </a:extLst>
          </p:cNvPr>
          <p:cNvSpPr txBox="1"/>
          <p:nvPr/>
        </p:nvSpPr>
        <p:spPr>
          <a:xfrm>
            <a:off x="7655552" y="2842505"/>
            <a:ext cx="2136647" cy="442674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Create predictions based on current reporting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5A920C-B1CE-87BE-2C7C-F1B51F4AE47E}"/>
              </a:ext>
            </a:extLst>
          </p:cNvPr>
          <p:cNvSpPr txBox="1"/>
          <p:nvPr/>
        </p:nvSpPr>
        <p:spPr>
          <a:xfrm>
            <a:off x="9870930" y="2840623"/>
            <a:ext cx="2136647" cy="442674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Dalton to create a predictive model</a:t>
            </a:r>
          </a:p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4C86BD-99FE-B09B-FF00-C7D4A0C800A1}"/>
              </a:ext>
            </a:extLst>
          </p:cNvPr>
          <p:cNvSpPr txBox="1"/>
          <p:nvPr/>
        </p:nvSpPr>
        <p:spPr>
          <a:xfrm>
            <a:off x="5440176" y="3407211"/>
            <a:ext cx="2136647" cy="27241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Robby’s brain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220F78-CDEE-E2B7-3AC4-AA0F6BEAFF4D}"/>
              </a:ext>
            </a:extLst>
          </p:cNvPr>
          <p:cNvSpPr txBox="1"/>
          <p:nvPr/>
        </p:nvSpPr>
        <p:spPr>
          <a:xfrm>
            <a:off x="7655552" y="3407211"/>
            <a:ext cx="2136647" cy="27241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Dalton to schedule time w/ Robby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947BF2-FBB8-739B-A3BE-FCD53DEE5ED8}"/>
              </a:ext>
            </a:extLst>
          </p:cNvPr>
          <p:cNvSpPr txBox="1"/>
          <p:nvPr/>
        </p:nvSpPr>
        <p:spPr>
          <a:xfrm>
            <a:off x="9870930" y="3407211"/>
            <a:ext cx="2136647" cy="27241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TBD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303A1A-4498-8AB3-FC00-44DD8A0EDAC7}"/>
              </a:ext>
            </a:extLst>
          </p:cNvPr>
          <p:cNvSpPr txBox="1"/>
          <p:nvPr/>
        </p:nvSpPr>
        <p:spPr>
          <a:xfrm>
            <a:off x="5440812" y="948814"/>
            <a:ext cx="6567402" cy="287242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Action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9045A6-6E41-6C0A-7AD0-BF40C0427D06}"/>
              </a:ext>
            </a:extLst>
          </p:cNvPr>
          <p:cNvSpPr txBox="1"/>
          <p:nvPr/>
        </p:nvSpPr>
        <p:spPr>
          <a:xfrm>
            <a:off x="176954" y="948814"/>
            <a:ext cx="5194221" cy="2872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Current Data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C09B4A-6F26-F639-F862-A3C48CF3719A}"/>
              </a:ext>
            </a:extLst>
          </p:cNvPr>
          <p:cNvSpPr txBox="1"/>
          <p:nvPr/>
        </p:nvSpPr>
        <p:spPr>
          <a:xfrm>
            <a:off x="176954" y="1352679"/>
            <a:ext cx="1718753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# of Companies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F886CE-184D-FC4F-46F1-9F7ACA4D9D0A}"/>
              </a:ext>
            </a:extLst>
          </p:cNvPr>
          <p:cNvSpPr txBox="1"/>
          <p:nvPr/>
        </p:nvSpPr>
        <p:spPr>
          <a:xfrm>
            <a:off x="176954" y="1736058"/>
            <a:ext cx="1718753" cy="287242"/>
          </a:xfrm>
          <a:prstGeom prst="roundRect">
            <a:avLst/>
          </a:prstGeom>
          <a:noFill/>
          <a:ln>
            <a:noFill/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10 out of ~65 reporting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CD375BD-81BD-F63F-3B41-F7FD3B267EF8}"/>
              </a:ext>
            </a:extLst>
          </p:cNvPr>
          <p:cNvSpPr txBox="1"/>
          <p:nvPr/>
        </p:nvSpPr>
        <p:spPr>
          <a:xfrm>
            <a:off x="1979736" y="1360086"/>
            <a:ext cx="1588655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Activations Reporting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FA757F-4C2F-2F68-C9B8-A81D0C1C5D0F}"/>
              </a:ext>
            </a:extLst>
          </p:cNvPr>
          <p:cNvSpPr txBox="1"/>
          <p:nvPr/>
        </p:nvSpPr>
        <p:spPr>
          <a:xfrm>
            <a:off x="1979739" y="1720115"/>
            <a:ext cx="1588656" cy="287242"/>
          </a:xfrm>
          <a:prstGeom prst="roundRect">
            <a:avLst/>
          </a:prstGeom>
          <a:noFill/>
          <a:ln>
            <a:noFill/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PY7 Q2 Activations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DEB06A-90FC-3A4E-3D43-08D0DC650130}"/>
              </a:ext>
            </a:extLst>
          </p:cNvPr>
          <p:cNvSpPr txBox="1"/>
          <p:nvPr/>
        </p:nvSpPr>
        <p:spPr>
          <a:xfrm>
            <a:off x="1979738" y="2041112"/>
            <a:ext cx="1588654" cy="287242"/>
          </a:xfrm>
          <a:prstGeom prst="roundRect">
            <a:avLst/>
          </a:prstGeom>
          <a:noFill/>
          <a:ln>
            <a:noFill/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PY7 Q3 Activations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86D519-53E4-B7DD-1987-014CACB8FE62}"/>
              </a:ext>
            </a:extLst>
          </p:cNvPr>
          <p:cNvSpPr txBox="1"/>
          <p:nvPr/>
        </p:nvSpPr>
        <p:spPr>
          <a:xfrm>
            <a:off x="1979735" y="2372728"/>
            <a:ext cx="1588655" cy="287242"/>
          </a:xfrm>
          <a:prstGeom prst="roundRect">
            <a:avLst/>
          </a:prstGeom>
          <a:noFill/>
          <a:ln>
            <a:noFill/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Spring Health Broker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5D7DB4-DA63-5BDF-1FA2-F1C5D5BC6C55}"/>
              </a:ext>
            </a:extLst>
          </p:cNvPr>
          <p:cNvSpPr txBox="1"/>
          <p:nvPr/>
        </p:nvSpPr>
        <p:spPr>
          <a:xfrm>
            <a:off x="1940705" y="2691696"/>
            <a:ext cx="1666714" cy="287242"/>
          </a:xfrm>
          <a:prstGeom prst="roundRect">
            <a:avLst/>
          </a:prstGeom>
          <a:noFill/>
          <a:ln>
            <a:noFill/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 err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Rightway</a:t>
            </a: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 Sequoia deal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AD6350-54CB-C8B0-D79F-29A0DCA6F83C}"/>
              </a:ext>
            </a:extLst>
          </p:cNvPr>
          <p:cNvSpPr txBox="1"/>
          <p:nvPr/>
        </p:nvSpPr>
        <p:spPr>
          <a:xfrm>
            <a:off x="3652421" y="1359970"/>
            <a:ext cx="1718754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Major Gaps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DE31D0-9FC1-879D-EE76-FD795534B8A4}"/>
              </a:ext>
            </a:extLst>
          </p:cNvPr>
          <p:cNvSpPr txBox="1"/>
          <p:nvPr/>
        </p:nvSpPr>
        <p:spPr>
          <a:xfrm>
            <a:off x="3652420" y="1750975"/>
            <a:ext cx="1588654" cy="287242"/>
          </a:xfrm>
          <a:prstGeom prst="roundRect">
            <a:avLst/>
          </a:prstGeom>
          <a:noFill/>
          <a:ln>
            <a:noFill/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PY1 – PY6 Activations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0DCA35B-8FE1-51C5-A3AA-F8A3E35DC987}"/>
              </a:ext>
            </a:extLst>
          </p:cNvPr>
          <p:cNvSpPr txBox="1"/>
          <p:nvPr/>
        </p:nvSpPr>
        <p:spPr>
          <a:xfrm>
            <a:off x="3652420" y="2043860"/>
            <a:ext cx="1591056" cy="287242"/>
          </a:xfrm>
          <a:prstGeom prst="roundRect">
            <a:avLst/>
          </a:prstGeom>
          <a:noFill/>
          <a:ln>
            <a:noFill/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Warrant Tracking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2013DD-BC21-AA86-F541-7FE7030429B4}"/>
              </a:ext>
            </a:extLst>
          </p:cNvPr>
          <p:cNvSpPr txBox="1"/>
          <p:nvPr/>
        </p:nvSpPr>
        <p:spPr>
          <a:xfrm>
            <a:off x="5440173" y="3739301"/>
            <a:ext cx="2136647" cy="612648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Targeted outreach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F15C9A-A569-84AE-67F7-4F915C8C844C}"/>
              </a:ext>
            </a:extLst>
          </p:cNvPr>
          <p:cNvSpPr txBox="1"/>
          <p:nvPr/>
        </p:nvSpPr>
        <p:spPr>
          <a:xfrm>
            <a:off x="7655547" y="3761101"/>
            <a:ext cx="2136647" cy="612934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Based on Robby’s knowledge, target specific </a:t>
            </a:r>
            <a:r>
              <a:rPr lang="en-US" sz="1000" err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portcos</a:t>
            </a:r>
            <a:r>
              <a:rPr lang="en-US" sz="10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 for deeper look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4538B0-3235-9159-99AB-AAD65DA80E33}"/>
              </a:ext>
            </a:extLst>
          </p:cNvPr>
          <p:cNvSpPr txBox="1"/>
          <p:nvPr/>
        </p:nvSpPr>
        <p:spPr>
          <a:xfrm>
            <a:off x="9870927" y="3739301"/>
            <a:ext cx="2136647" cy="612648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TBD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03203B-3CDA-1BCC-9E48-E5CD3E03A767}"/>
              </a:ext>
            </a:extLst>
          </p:cNvPr>
          <p:cNvSpPr txBox="1"/>
          <p:nvPr/>
        </p:nvSpPr>
        <p:spPr>
          <a:xfrm>
            <a:off x="176954" y="4448690"/>
            <a:ext cx="11830620" cy="29691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Timeline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B29032-AC5B-5EA4-40B7-CF8A562303B1}"/>
              </a:ext>
            </a:extLst>
          </p:cNvPr>
          <p:cNvCxnSpPr/>
          <p:nvPr/>
        </p:nvCxnSpPr>
        <p:spPr>
          <a:xfrm>
            <a:off x="176954" y="5697415"/>
            <a:ext cx="1183062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90EE076-587F-C01C-8743-DDEB943FC71A}"/>
              </a:ext>
            </a:extLst>
          </p:cNvPr>
          <p:cNvSpPr txBox="1"/>
          <p:nvPr/>
        </p:nvSpPr>
        <p:spPr>
          <a:xfrm>
            <a:off x="2517939" y="5756898"/>
            <a:ext cx="1350763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Launch portfolio outreach 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EF6E37-9A22-F951-B265-22E2B2C25C04}"/>
              </a:ext>
            </a:extLst>
          </p:cNvPr>
          <p:cNvSpPr txBox="1"/>
          <p:nvPr/>
        </p:nvSpPr>
        <p:spPr>
          <a:xfrm>
            <a:off x="176954" y="4840047"/>
            <a:ext cx="11830620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BAB7475-3DC7-A8CB-B4AB-9F5967AD1E35}"/>
              </a:ext>
            </a:extLst>
          </p:cNvPr>
          <p:cNvCxnSpPr/>
          <p:nvPr/>
        </p:nvCxnSpPr>
        <p:spPr>
          <a:xfrm>
            <a:off x="176954" y="5513420"/>
            <a:ext cx="0" cy="36799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8CE2089-20EE-BCF7-36E4-4EAA20368628}"/>
              </a:ext>
            </a:extLst>
          </p:cNvPr>
          <p:cNvCxnSpPr/>
          <p:nvPr/>
        </p:nvCxnSpPr>
        <p:spPr>
          <a:xfrm>
            <a:off x="2481540" y="5513420"/>
            <a:ext cx="0" cy="36799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57A696C-B7F5-E8F2-36DD-1A776A318E92}"/>
              </a:ext>
            </a:extLst>
          </p:cNvPr>
          <p:cNvCxnSpPr/>
          <p:nvPr/>
        </p:nvCxnSpPr>
        <p:spPr>
          <a:xfrm>
            <a:off x="6090699" y="5513420"/>
            <a:ext cx="0" cy="36799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D12F4F6-EDA0-436D-3BED-2D0FD65331C9}"/>
              </a:ext>
            </a:extLst>
          </p:cNvPr>
          <p:cNvCxnSpPr/>
          <p:nvPr/>
        </p:nvCxnSpPr>
        <p:spPr>
          <a:xfrm>
            <a:off x="9071811" y="5497694"/>
            <a:ext cx="0" cy="36799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E8CE1F8-2805-DE3E-0867-3F40727E4087}"/>
              </a:ext>
            </a:extLst>
          </p:cNvPr>
          <p:cNvCxnSpPr/>
          <p:nvPr/>
        </p:nvCxnSpPr>
        <p:spPr>
          <a:xfrm>
            <a:off x="12007574" y="5497694"/>
            <a:ext cx="0" cy="36799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273AD545-3031-FF86-9C66-75D21F3E8E73}"/>
              </a:ext>
            </a:extLst>
          </p:cNvPr>
          <p:cNvSpPr txBox="1"/>
          <p:nvPr/>
        </p:nvSpPr>
        <p:spPr>
          <a:xfrm>
            <a:off x="970464" y="5166502"/>
            <a:ext cx="675382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Q1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1A7D65-1E31-52BE-D8AA-77BFE2BF3C3F}"/>
              </a:ext>
            </a:extLst>
          </p:cNvPr>
          <p:cNvSpPr txBox="1"/>
          <p:nvPr/>
        </p:nvSpPr>
        <p:spPr>
          <a:xfrm>
            <a:off x="243766" y="5767215"/>
            <a:ext cx="693391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Dashboard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ECCD393-5048-94D0-AE51-8BC55A5C76E5}"/>
              </a:ext>
            </a:extLst>
          </p:cNvPr>
          <p:cNvSpPr txBox="1"/>
          <p:nvPr/>
        </p:nvSpPr>
        <p:spPr>
          <a:xfrm>
            <a:off x="960613" y="5772960"/>
            <a:ext cx="693391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Tracking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11777C-9779-0702-581C-4A05715D13E7}"/>
              </a:ext>
            </a:extLst>
          </p:cNvPr>
          <p:cNvSpPr txBox="1"/>
          <p:nvPr/>
        </p:nvSpPr>
        <p:spPr>
          <a:xfrm>
            <a:off x="3888415" y="5756576"/>
            <a:ext cx="978991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Sequoia Reports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DB305A9-EDAE-1B5E-9AC0-D931EB525DFC}"/>
              </a:ext>
            </a:extLst>
          </p:cNvPr>
          <p:cNvSpPr txBox="1"/>
          <p:nvPr/>
        </p:nvSpPr>
        <p:spPr>
          <a:xfrm>
            <a:off x="3805918" y="5165619"/>
            <a:ext cx="675382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Q2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3F20B0-6A1F-6423-BBBD-778F0DCF3BCB}"/>
              </a:ext>
            </a:extLst>
          </p:cNvPr>
          <p:cNvSpPr txBox="1"/>
          <p:nvPr/>
        </p:nvSpPr>
        <p:spPr>
          <a:xfrm>
            <a:off x="7239129" y="5172751"/>
            <a:ext cx="675382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Q3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843BE08-7111-403F-5C8C-FBD927718907}"/>
              </a:ext>
            </a:extLst>
          </p:cNvPr>
          <p:cNvSpPr txBox="1"/>
          <p:nvPr/>
        </p:nvSpPr>
        <p:spPr>
          <a:xfrm>
            <a:off x="10263772" y="5164465"/>
            <a:ext cx="675382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Q4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961D85D-2BF5-A607-21CF-F21A8AB857C3}"/>
              </a:ext>
            </a:extLst>
          </p:cNvPr>
          <p:cNvSpPr txBox="1"/>
          <p:nvPr/>
        </p:nvSpPr>
        <p:spPr>
          <a:xfrm>
            <a:off x="238646" y="6033801"/>
            <a:ext cx="1350763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Success Plans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BF575BD-5EFB-C7C2-7F30-5DF607FA32B6}"/>
              </a:ext>
            </a:extLst>
          </p:cNvPr>
          <p:cNvSpPr txBox="1"/>
          <p:nvPr/>
        </p:nvSpPr>
        <p:spPr>
          <a:xfrm>
            <a:off x="2543458" y="6023393"/>
            <a:ext cx="1158580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Robby Brain Dump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847A911-2C66-F5C5-0EF5-0BE5A1ADDC0A}"/>
              </a:ext>
            </a:extLst>
          </p:cNvPr>
          <p:cNvSpPr txBox="1"/>
          <p:nvPr/>
        </p:nvSpPr>
        <p:spPr>
          <a:xfrm>
            <a:off x="6134085" y="5759252"/>
            <a:ext cx="1442735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SvS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Predictive Modeling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E3076B-1CD6-9078-CB30-9CBEA0D67E14}"/>
              </a:ext>
            </a:extLst>
          </p:cNvPr>
          <p:cNvSpPr txBox="1"/>
          <p:nvPr/>
        </p:nvSpPr>
        <p:spPr>
          <a:xfrm>
            <a:off x="3758723" y="6004750"/>
            <a:ext cx="1238374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SvS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Ecosystem Map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1E25810-AA15-7BB9-DF2A-655F8A805BC1}"/>
              </a:ext>
            </a:extLst>
          </p:cNvPr>
          <p:cNvSpPr txBox="1"/>
          <p:nvPr/>
        </p:nvSpPr>
        <p:spPr>
          <a:xfrm>
            <a:off x="6137442" y="6024844"/>
            <a:ext cx="1238374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SvS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Ecosystem Impact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F71CC8-1F2D-1DF6-AF13-F2A00336155F}"/>
              </a:ext>
            </a:extLst>
          </p:cNvPr>
          <p:cNvSpPr txBox="1"/>
          <p:nvPr/>
        </p:nvSpPr>
        <p:spPr>
          <a:xfrm>
            <a:off x="1985706" y="3027247"/>
            <a:ext cx="1666714" cy="287242"/>
          </a:xfrm>
          <a:prstGeom prst="roundRect">
            <a:avLst/>
          </a:prstGeom>
          <a:noFill/>
          <a:ln>
            <a:noFill/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 err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Wagmo</a:t>
            </a: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 ADP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A63B987-7190-688C-EB3C-70B0819B61C8}"/>
              </a:ext>
            </a:extLst>
          </p:cNvPr>
          <p:cNvSpPr txBox="1"/>
          <p:nvPr/>
        </p:nvSpPr>
        <p:spPr>
          <a:xfrm>
            <a:off x="1985706" y="3392384"/>
            <a:ext cx="1666714" cy="287242"/>
          </a:xfrm>
          <a:prstGeom prst="roundRect">
            <a:avLst/>
          </a:prstGeom>
          <a:noFill/>
          <a:ln>
            <a:noFill/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Ashby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7453C3-D154-7F12-D565-2784E5137AAF}"/>
              </a:ext>
            </a:extLst>
          </p:cNvPr>
          <p:cNvSpPr txBox="1"/>
          <p:nvPr/>
        </p:nvSpPr>
        <p:spPr>
          <a:xfrm>
            <a:off x="4893340" y="5742439"/>
            <a:ext cx="978991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Data Center 1.0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B89D9DC-02CC-464F-8565-2E8135C2E7C1}"/>
              </a:ext>
            </a:extLst>
          </p:cNvPr>
          <p:cNvSpPr txBox="1"/>
          <p:nvPr/>
        </p:nvSpPr>
        <p:spPr>
          <a:xfrm>
            <a:off x="10969243" y="5765328"/>
            <a:ext cx="978991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Data Center 2.0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98044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13457" y="489213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</a:t>
            </a:r>
            <a:r>
              <a:rPr lang="en-US" sz="2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Data Center 1.0 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88560-1B0D-E54A-53FB-9DE38021A37D}"/>
              </a:ext>
            </a:extLst>
          </p:cNvPr>
          <p:cNvSpPr txBox="1"/>
          <p:nvPr/>
        </p:nvSpPr>
        <p:spPr>
          <a:xfrm>
            <a:off x="1003106" y="2420876"/>
            <a:ext cx="1253330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59,406,425.40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F86ACA-2B8F-64A7-9F2D-C95D62041D0A}"/>
              </a:ext>
            </a:extLst>
          </p:cNvPr>
          <p:cNvSpPr txBox="1"/>
          <p:nvPr/>
        </p:nvSpPr>
        <p:spPr>
          <a:xfrm>
            <a:off x="2336285" y="2429946"/>
            <a:ext cx="558640" cy="27398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C4F00-3C69-47DD-9619-9FA39DCF0186}"/>
              </a:ext>
            </a:extLst>
          </p:cNvPr>
          <p:cNvSpPr txBox="1"/>
          <p:nvPr/>
        </p:nvSpPr>
        <p:spPr>
          <a:xfrm>
            <a:off x="119688" y="3910180"/>
            <a:ext cx="11807119" cy="612934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*SemperSystem ARR Tracking is non-exhaustive across the entirety of the portfolio. Data includes PY6 Q4 SemperSystem activation tracking and early reporting from PY7 activations which currently has ~10 portfolio companies reporting.</a:t>
            </a:r>
          </a:p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^Pipeline revenue is not adjusted to include probability of close.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439706-DDDD-9330-DF1C-6E601FCF5773}"/>
              </a:ext>
            </a:extLst>
          </p:cNvPr>
          <p:cNvSpPr txBox="1"/>
          <p:nvPr/>
        </p:nvSpPr>
        <p:spPr>
          <a:xfrm>
            <a:off x="2288548" y="2031272"/>
            <a:ext cx="4000938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Influence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6BED3D-6896-05D0-8B33-21C7A8A95EA3}"/>
              </a:ext>
            </a:extLst>
          </p:cNvPr>
          <p:cNvSpPr txBox="1"/>
          <p:nvPr/>
        </p:nvSpPr>
        <p:spPr>
          <a:xfrm>
            <a:off x="113457" y="2035187"/>
            <a:ext cx="213664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Revenue Impact*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3F45FA-E8C1-6EA4-C08C-F9251627D693}"/>
              </a:ext>
            </a:extLst>
          </p:cNvPr>
          <p:cNvSpPr txBox="1"/>
          <p:nvPr/>
        </p:nvSpPr>
        <p:spPr>
          <a:xfrm>
            <a:off x="997376" y="2743699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$8,312,275.40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BC9217-AABE-A8F4-2D5C-CEB5D7D624BB}"/>
              </a:ext>
            </a:extLst>
          </p:cNvPr>
          <p:cNvSpPr txBox="1"/>
          <p:nvPr/>
        </p:nvSpPr>
        <p:spPr>
          <a:xfrm>
            <a:off x="1008412" y="3107086"/>
            <a:ext cx="125272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$1,094,150.00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C40F81-5C14-88FF-900A-AD763852F5D4}"/>
              </a:ext>
            </a:extLst>
          </p:cNvPr>
          <p:cNvSpPr txBox="1"/>
          <p:nvPr/>
        </p:nvSpPr>
        <p:spPr>
          <a:xfrm>
            <a:off x="91154" y="2423346"/>
            <a:ext cx="832104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All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FAD97F-2F0F-D2B6-4B0E-7EE3C5A5663F}"/>
              </a:ext>
            </a:extLst>
          </p:cNvPr>
          <p:cNvSpPr txBox="1"/>
          <p:nvPr/>
        </p:nvSpPr>
        <p:spPr>
          <a:xfrm>
            <a:off x="85424" y="2758927"/>
            <a:ext cx="832104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69D404-FC5D-6EC8-165E-C0DFF63CE871}"/>
              </a:ext>
            </a:extLst>
          </p:cNvPr>
          <p:cNvSpPr txBox="1"/>
          <p:nvPr/>
        </p:nvSpPr>
        <p:spPr>
          <a:xfrm>
            <a:off x="85424" y="3091454"/>
            <a:ext cx="832104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56E465-955D-1C58-17F7-F302C0995FDA}"/>
              </a:ext>
            </a:extLst>
          </p:cNvPr>
          <p:cNvSpPr txBox="1"/>
          <p:nvPr/>
        </p:nvSpPr>
        <p:spPr>
          <a:xfrm>
            <a:off x="97035" y="3533993"/>
            <a:ext cx="835923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Pipeline^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49D54-EE91-4ED2-2E82-8C538C9C8815}"/>
              </a:ext>
            </a:extLst>
          </p:cNvPr>
          <p:cNvSpPr txBox="1"/>
          <p:nvPr/>
        </p:nvSpPr>
        <p:spPr>
          <a:xfrm>
            <a:off x="1010935" y="3549166"/>
            <a:ext cx="1252728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$9,910,445.00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1A073-5EFD-7135-171A-A950A9D6AA10}"/>
              </a:ext>
            </a:extLst>
          </p:cNvPr>
          <p:cNvSpPr txBox="1"/>
          <p:nvPr/>
        </p:nvSpPr>
        <p:spPr>
          <a:xfrm>
            <a:off x="4329943" y="2402395"/>
            <a:ext cx="640194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A37809-B2CC-E0CD-F8F2-42173FD41514}"/>
              </a:ext>
            </a:extLst>
          </p:cNvPr>
          <p:cNvSpPr txBox="1"/>
          <p:nvPr/>
        </p:nvSpPr>
        <p:spPr>
          <a:xfrm>
            <a:off x="2986922" y="2425032"/>
            <a:ext cx="1252728" cy="27432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44,802,918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17A53F-B4EC-3102-EA99-41A5D176513D}"/>
              </a:ext>
            </a:extLst>
          </p:cNvPr>
          <p:cNvSpPr txBox="1"/>
          <p:nvPr/>
        </p:nvSpPr>
        <p:spPr>
          <a:xfrm>
            <a:off x="5036757" y="2415842"/>
            <a:ext cx="1252728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$4,603,510.40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B0242F-346C-E0A1-6BEB-E7B4AC60E14D}"/>
              </a:ext>
            </a:extLst>
          </p:cNvPr>
          <p:cNvSpPr txBox="1"/>
          <p:nvPr/>
        </p:nvSpPr>
        <p:spPr>
          <a:xfrm>
            <a:off x="2336283" y="2807692"/>
            <a:ext cx="557784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F0B324-1236-E67A-2154-0951C39035C8}"/>
              </a:ext>
            </a:extLst>
          </p:cNvPr>
          <p:cNvSpPr txBox="1"/>
          <p:nvPr/>
        </p:nvSpPr>
        <p:spPr>
          <a:xfrm>
            <a:off x="4329942" y="2807692"/>
            <a:ext cx="640080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ABB1EC-D226-2E41-3542-CC787204EE04}"/>
              </a:ext>
            </a:extLst>
          </p:cNvPr>
          <p:cNvSpPr txBox="1"/>
          <p:nvPr/>
        </p:nvSpPr>
        <p:spPr>
          <a:xfrm>
            <a:off x="2973069" y="2818008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$4,802,918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CA1CAD-AEA6-EDFB-A268-AC8956720A83}"/>
              </a:ext>
            </a:extLst>
          </p:cNvPr>
          <p:cNvSpPr txBox="1"/>
          <p:nvPr/>
        </p:nvSpPr>
        <p:spPr>
          <a:xfrm>
            <a:off x="5036757" y="2807692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$3,509,357.40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0EA094-358F-1542-20CC-CA4F3C7715A2}"/>
              </a:ext>
            </a:extLst>
          </p:cNvPr>
          <p:cNvSpPr txBox="1"/>
          <p:nvPr/>
        </p:nvSpPr>
        <p:spPr>
          <a:xfrm>
            <a:off x="2336283" y="3133975"/>
            <a:ext cx="557784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2DB5E5-505B-10B7-14D5-49B0FFE46FBF}"/>
              </a:ext>
            </a:extLst>
          </p:cNvPr>
          <p:cNvSpPr txBox="1"/>
          <p:nvPr/>
        </p:nvSpPr>
        <p:spPr>
          <a:xfrm>
            <a:off x="4329942" y="3137187"/>
            <a:ext cx="640080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F92EF5-0610-38E1-4CBE-824C8B5D6CAB}"/>
              </a:ext>
            </a:extLst>
          </p:cNvPr>
          <p:cNvSpPr txBox="1"/>
          <p:nvPr/>
        </p:nvSpPr>
        <p:spPr>
          <a:xfrm>
            <a:off x="2986922" y="3130496"/>
            <a:ext cx="1252728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TBD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9BA41C-8ED3-09F5-C6ED-5B90ADED9C1D}"/>
              </a:ext>
            </a:extLst>
          </p:cNvPr>
          <p:cNvSpPr txBox="1"/>
          <p:nvPr/>
        </p:nvSpPr>
        <p:spPr>
          <a:xfrm>
            <a:off x="5060314" y="3133603"/>
            <a:ext cx="1252728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$1,094,150.00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0EA75D-6C73-D200-395D-9F2BE0F27B8B}"/>
              </a:ext>
            </a:extLst>
          </p:cNvPr>
          <p:cNvSpPr txBox="1"/>
          <p:nvPr/>
        </p:nvSpPr>
        <p:spPr>
          <a:xfrm>
            <a:off x="2343511" y="3544561"/>
            <a:ext cx="557784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3CA7ED-F63A-EA94-C7E1-3C44197DD2E0}"/>
              </a:ext>
            </a:extLst>
          </p:cNvPr>
          <p:cNvSpPr txBox="1"/>
          <p:nvPr/>
        </p:nvSpPr>
        <p:spPr>
          <a:xfrm>
            <a:off x="4325728" y="3553094"/>
            <a:ext cx="640080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BC2B7F-4024-978D-BE3C-C21B88815395}"/>
              </a:ext>
            </a:extLst>
          </p:cNvPr>
          <p:cNvSpPr txBox="1"/>
          <p:nvPr/>
        </p:nvSpPr>
        <p:spPr>
          <a:xfrm>
            <a:off x="2995023" y="3533745"/>
            <a:ext cx="1252728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$ 9,910,445.00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1AF083-1251-50A8-BC46-5390C684DC21}"/>
              </a:ext>
            </a:extLst>
          </p:cNvPr>
          <p:cNvSpPr txBox="1"/>
          <p:nvPr/>
        </p:nvSpPr>
        <p:spPr>
          <a:xfrm>
            <a:off x="5020504" y="3516066"/>
            <a:ext cx="1252728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TBD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D8999C-D020-8806-E7AA-9E6C4812F316}"/>
              </a:ext>
            </a:extLst>
          </p:cNvPr>
          <p:cNvSpPr txBox="1"/>
          <p:nvPr/>
        </p:nvSpPr>
        <p:spPr>
          <a:xfrm>
            <a:off x="8194705" y="2042937"/>
            <a:ext cx="1514621" cy="287242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Client Growth 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7D404E-D4A4-F585-A86C-D6E4FA5B8974}"/>
              </a:ext>
            </a:extLst>
          </p:cNvPr>
          <p:cNvSpPr txBox="1"/>
          <p:nvPr/>
        </p:nvSpPr>
        <p:spPr>
          <a:xfrm>
            <a:off x="8194705" y="2429092"/>
            <a:ext cx="1517904" cy="274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470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97B488-E7A9-2E51-0EB8-0CF65AF0EE3D}"/>
              </a:ext>
            </a:extLst>
          </p:cNvPr>
          <p:cNvSpPr txBox="1"/>
          <p:nvPr/>
        </p:nvSpPr>
        <p:spPr>
          <a:xfrm>
            <a:off x="8194705" y="2778914"/>
            <a:ext cx="1517904" cy="2743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B2406E-0389-23F5-0B21-8A4C5813B77D}"/>
              </a:ext>
            </a:extLst>
          </p:cNvPr>
          <p:cNvSpPr txBox="1"/>
          <p:nvPr/>
        </p:nvSpPr>
        <p:spPr>
          <a:xfrm>
            <a:off x="8197667" y="3142308"/>
            <a:ext cx="1517904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8545AC-5047-8EDC-1619-3CA2EF7FB927}"/>
              </a:ext>
            </a:extLst>
          </p:cNvPr>
          <p:cNvSpPr txBox="1"/>
          <p:nvPr/>
        </p:nvSpPr>
        <p:spPr>
          <a:xfrm>
            <a:off x="8194705" y="3524968"/>
            <a:ext cx="1517904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1AFCAD-E21C-304F-58BA-B952C8324F96}"/>
              </a:ext>
            </a:extLst>
          </p:cNvPr>
          <p:cNvSpPr txBox="1"/>
          <p:nvPr/>
        </p:nvSpPr>
        <p:spPr>
          <a:xfrm>
            <a:off x="9801999" y="2018003"/>
            <a:ext cx="2136648" cy="28724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Channel Partnerships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37B493-27D0-83ED-5616-BAEE8E4FB225}"/>
              </a:ext>
            </a:extLst>
          </p:cNvPr>
          <p:cNvSpPr txBox="1"/>
          <p:nvPr/>
        </p:nvSpPr>
        <p:spPr>
          <a:xfrm>
            <a:off x="9787111" y="2401350"/>
            <a:ext cx="2139696" cy="2743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27</a:t>
            </a:r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292361-A05F-7793-F271-143DB9D89453}"/>
              </a:ext>
            </a:extLst>
          </p:cNvPr>
          <p:cNvSpPr txBox="1"/>
          <p:nvPr/>
        </p:nvSpPr>
        <p:spPr>
          <a:xfrm>
            <a:off x="9801998" y="2765725"/>
            <a:ext cx="2139696" cy="2743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22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6A8C1C-5500-39FE-6037-CBCC04D5C779}"/>
              </a:ext>
            </a:extLst>
          </p:cNvPr>
          <p:cNvSpPr txBox="1"/>
          <p:nvPr/>
        </p:nvSpPr>
        <p:spPr>
          <a:xfrm>
            <a:off x="9763554" y="3114010"/>
            <a:ext cx="2139696" cy="274320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TBD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27334F-C595-9A54-A3BA-15292F89C5FE}"/>
              </a:ext>
            </a:extLst>
          </p:cNvPr>
          <p:cNvSpPr txBox="1"/>
          <p:nvPr/>
        </p:nvSpPr>
        <p:spPr>
          <a:xfrm>
            <a:off x="9801998" y="3524968"/>
            <a:ext cx="2139696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34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E273EDD-EC83-CC9F-9B83-9A4FE7FAE8A4}"/>
              </a:ext>
            </a:extLst>
          </p:cNvPr>
          <p:cNvCxnSpPr>
            <a:cxnSpLocks/>
          </p:cNvCxnSpPr>
          <p:nvPr/>
        </p:nvCxnSpPr>
        <p:spPr>
          <a:xfrm>
            <a:off x="80913" y="3442628"/>
            <a:ext cx="11896344" cy="1916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D48F6A3-05A0-9D52-61D2-F7DE73DAD817}"/>
              </a:ext>
            </a:extLst>
          </p:cNvPr>
          <p:cNvSpPr txBox="1"/>
          <p:nvPr/>
        </p:nvSpPr>
        <p:spPr>
          <a:xfrm>
            <a:off x="6344182" y="2039831"/>
            <a:ext cx="1814390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Exposure Opportunity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B45CF-9DD3-D8B1-E67C-0173A24B2522}"/>
              </a:ext>
            </a:extLst>
          </p:cNvPr>
          <p:cNvSpPr txBox="1"/>
          <p:nvPr/>
        </p:nvSpPr>
        <p:spPr>
          <a:xfrm>
            <a:off x="6365322" y="2419835"/>
            <a:ext cx="1793249" cy="27177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E745F-7D6C-189C-B6BA-8422C3920042}"/>
              </a:ext>
            </a:extLst>
          </p:cNvPr>
          <p:cNvSpPr txBox="1"/>
          <p:nvPr/>
        </p:nvSpPr>
        <p:spPr>
          <a:xfrm>
            <a:off x="6382970" y="2757133"/>
            <a:ext cx="1793249" cy="2717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2DD8FD-8CCF-86E2-53EF-E21A01CD38AB}"/>
              </a:ext>
            </a:extLst>
          </p:cNvPr>
          <p:cNvSpPr txBox="1"/>
          <p:nvPr/>
        </p:nvSpPr>
        <p:spPr>
          <a:xfrm>
            <a:off x="6354752" y="3130496"/>
            <a:ext cx="1793249" cy="271777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269B86-1697-7ACD-92DE-9F5DF024B8E2}"/>
              </a:ext>
            </a:extLst>
          </p:cNvPr>
          <p:cNvSpPr txBox="1"/>
          <p:nvPr/>
        </p:nvSpPr>
        <p:spPr>
          <a:xfrm>
            <a:off x="6365321" y="3547104"/>
            <a:ext cx="1793249" cy="271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A2DCC9F-FCA4-161B-4900-8A42116C5A6A}"/>
              </a:ext>
            </a:extLst>
          </p:cNvPr>
          <p:cNvSpPr txBox="1"/>
          <p:nvPr/>
        </p:nvSpPr>
        <p:spPr>
          <a:xfrm>
            <a:off x="7819601" y="927848"/>
            <a:ext cx="4126193" cy="442674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Static data</a:t>
            </a:r>
          </a:p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Manual tracking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196E13-B62E-1897-45D9-58B7F17FDD28}"/>
              </a:ext>
            </a:extLst>
          </p:cNvPr>
          <p:cNvSpPr txBox="1"/>
          <p:nvPr/>
        </p:nvSpPr>
        <p:spPr>
          <a:xfrm>
            <a:off x="121558" y="929549"/>
            <a:ext cx="4126193" cy="442674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Outcomes Reporting</a:t>
            </a:r>
          </a:p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84173471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13457" y="489213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</a:t>
            </a:r>
            <a:r>
              <a:rPr lang="en-US" sz="2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Data Center 2.0 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88560-1B0D-E54A-53FB-9DE38021A37D}"/>
              </a:ext>
            </a:extLst>
          </p:cNvPr>
          <p:cNvSpPr txBox="1"/>
          <p:nvPr/>
        </p:nvSpPr>
        <p:spPr>
          <a:xfrm>
            <a:off x="1035650" y="2418376"/>
            <a:ext cx="1253330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59,406,425.40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F86ACA-2B8F-64A7-9F2D-C95D62041D0A}"/>
              </a:ext>
            </a:extLst>
          </p:cNvPr>
          <p:cNvSpPr txBox="1"/>
          <p:nvPr/>
        </p:nvSpPr>
        <p:spPr>
          <a:xfrm>
            <a:off x="2368829" y="2427446"/>
            <a:ext cx="558640" cy="27398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439706-DDDD-9330-DF1C-6E601FCF5773}"/>
              </a:ext>
            </a:extLst>
          </p:cNvPr>
          <p:cNvSpPr txBox="1"/>
          <p:nvPr/>
        </p:nvSpPr>
        <p:spPr>
          <a:xfrm>
            <a:off x="2321092" y="2028772"/>
            <a:ext cx="4000938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Influence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6BED3D-6896-05D0-8B33-21C7A8A95EA3}"/>
              </a:ext>
            </a:extLst>
          </p:cNvPr>
          <p:cNvSpPr txBox="1"/>
          <p:nvPr/>
        </p:nvSpPr>
        <p:spPr>
          <a:xfrm>
            <a:off x="146001" y="2032687"/>
            <a:ext cx="213664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Revenue Impact*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3F45FA-E8C1-6EA4-C08C-F9251627D693}"/>
              </a:ext>
            </a:extLst>
          </p:cNvPr>
          <p:cNvSpPr txBox="1"/>
          <p:nvPr/>
        </p:nvSpPr>
        <p:spPr>
          <a:xfrm>
            <a:off x="1029920" y="2741199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$8,312,275.40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BC9217-AABE-A8F4-2D5C-CEB5D7D624BB}"/>
              </a:ext>
            </a:extLst>
          </p:cNvPr>
          <p:cNvSpPr txBox="1"/>
          <p:nvPr/>
        </p:nvSpPr>
        <p:spPr>
          <a:xfrm>
            <a:off x="1040956" y="3104586"/>
            <a:ext cx="125272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$1,094,150.00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C40F81-5C14-88FF-900A-AD763852F5D4}"/>
              </a:ext>
            </a:extLst>
          </p:cNvPr>
          <p:cNvSpPr txBox="1"/>
          <p:nvPr/>
        </p:nvSpPr>
        <p:spPr>
          <a:xfrm>
            <a:off x="123698" y="2420846"/>
            <a:ext cx="832104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All Time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FAD97F-2F0F-D2B6-4B0E-7EE3C5A5663F}"/>
              </a:ext>
            </a:extLst>
          </p:cNvPr>
          <p:cNvSpPr txBox="1"/>
          <p:nvPr/>
        </p:nvSpPr>
        <p:spPr>
          <a:xfrm>
            <a:off x="117968" y="2756427"/>
            <a:ext cx="832104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69D404-FC5D-6EC8-165E-C0DFF63CE871}"/>
              </a:ext>
            </a:extLst>
          </p:cNvPr>
          <p:cNvSpPr txBox="1"/>
          <p:nvPr/>
        </p:nvSpPr>
        <p:spPr>
          <a:xfrm>
            <a:off x="117968" y="3088954"/>
            <a:ext cx="832104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56E465-955D-1C58-17F7-F302C0995FDA}"/>
              </a:ext>
            </a:extLst>
          </p:cNvPr>
          <p:cNvSpPr txBox="1"/>
          <p:nvPr/>
        </p:nvSpPr>
        <p:spPr>
          <a:xfrm>
            <a:off x="129579" y="3531493"/>
            <a:ext cx="835923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Pipeline^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49D54-EE91-4ED2-2E82-8C538C9C8815}"/>
              </a:ext>
            </a:extLst>
          </p:cNvPr>
          <p:cNvSpPr txBox="1"/>
          <p:nvPr/>
        </p:nvSpPr>
        <p:spPr>
          <a:xfrm>
            <a:off x="1043479" y="3546666"/>
            <a:ext cx="1252728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$9,910,445.00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1A073-5EFD-7135-171A-A950A9D6AA10}"/>
              </a:ext>
            </a:extLst>
          </p:cNvPr>
          <p:cNvSpPr txBox="1"/>
          <p:nvPr/>
        </p:nvSpPr>
        <p:spPr>
          <a:xfrm>
            <a:off x="4362487" y="2399895"/>
            <a:ext cx="640194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A37809-B2CC-E0CD-F8F2-42173FD41514}"/>
              </a:ext>
            </a:extLst>
          </p:cNvPr>
          <p:cNvSpPr txBox="1"/>
          <p:nvPr/>
        </p:nvSpPr>
        <p:spPr>
          <a:xfrm>
            <a:off x="3019466" y="2422532"/>
            <a:ext cx="1252728" cy="27432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44,802,918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17A53F-B4EC-3102-EA99-41A5D176513D}"/>
              </a:ext>
            </a:extLst>
          </p:cNvPr>
          <p:cNvSpPr txBox="1"/>
          <p:nvPr/>
        </p:nvSpPr>
        <p:spPr>
          <a:xfrm>
            <a:off x="5069301" y="2413342"/>
            <a:ext cx="1252728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$4,603,510.40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0B0242F-346C-E0A1-6BEB-E7B4AC60E14D}"/>
              </a:ext>
            </a:extLst>
          </p:cNvPr>
          <p:cNvSpPr txBox="1"/>
          <p:nvPr/>
        </p:nvSpPr>
        <p:spPr>
          <a:xfrm>
            <a:off x="2368827" y="2805192"/>
            <a:ext cx="557784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F0B324-1236-E67A-2154-0951C39035C8}"/>
              </a:ext>
            </a:extLst>
          </p:cNvPr>
          <p:cNvSpPr txBox="1"/>
          <p:nvPr/>
        </p:nvSpPr>
        <p:spPr>
          <a:xfrm>
            <a:off x="4362486" y="2805192"/>
            <a:ext cx="640080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ABB1EC-D226-2E41-3542-CC787204EE04}"/>
              </a:ext>
            </a:extLst>
          </p:cNvPr>
          <p:cNvSpPr txBox="1"/>
          <p:nvPr/>
        </p:nvSpPr>
        <p:spPr>
          <a:xfrm>
            <a:off x="3005613" y="2815508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$4,802,918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CA1CAD-AEA6-EDFB-A268-AC8956720A83}"/>
              </a:ext>
            </a:extLst>
          </p:cNvPr>
          <p:cNvSpPr txBox="1"/>
          <p:nvPr/>
        </p:nvSpPr>
        <p:spPr>
          <a:xfrm>
            <a:off x="5069301" y="2805192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$3,509,357.40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B0EA094-358F-1542-20CC-CA4F3C7715A2}"/>
              </a:ext>
            </a:extLst>
          </p:cNvPr>
          <p:cNvSpPr txBox="1"/>
          <p:nvPr/>
        </p:nvSpPr>
        <p:spPr>
          <a:xfrm>
            <a:off x="2368827" y="3131475"/>
            <a:ext cx="557784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2DB5E5-505B-10B7-14D5-49B0FFE46FBF}"/>
              </a:ext>
            </a:extLst>
          </p:cNvPr>
          <p:cNvSpPr txBox="1"/>
          <p:nvPr/>
        </p:nvSpPr>
        <p:spPr>
          <a:xfrm>
            <a:off x="4362486" y="3134687"/>
            <a:ext cx="640080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4F92EF5-0610-38E1-4CBE-824C8B5D6CAB}"/>
              </a:ext>
            </a:extLst>
          </p:cNvPr>
          <p:cNvSpPr txBox="1"/>
          <p:nvPr/>
        </p:nvSpPr>
        <p:spPr>
          <a:xfrm>
            <a:off x="3019466" y="3127996"/>
            <a:ext cx="1252728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TBD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9BA41C-8ED3-09F5-C6ED-5B90ADED9C1D}"/>
              </a:ext>
            </a:extLst>
          </p:cNvPr>
          <p:cNvSpPr txBox="1"/>
          <p:nvPr/>
        </p:nvSpPr>
        <p:spPr>
          <a:xfrm>
            <a:off x="5092858" y="3131103"/>
            <a:ext cx="1252728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$1,094,150.00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E0EA75D-6C73-D200-395D-9F2BE0F27B8B}"/>
              </a:ext>
            </a:extLst>
          </p:cNvPr>
          <p:cNvSpPr txBox="1"/>
          <p:nvPr/>
        </p:nvSpPr>
        <p:spPr>
          <a:xfrm>
            <a:off x="2376055" y="3542061"/>
            <a:ext cx="557784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33CA7ED-F63A-EA94-C7E1-3C44197DD2E0}"/>
              </a:ext>
            </a:extLst>
          </p:cNvPr>
          <p:cNvSpPr txBox="1"/>
          <p:nvPr/>
        </p:nvSpPr>
        <p:spPr>
          <a:xfrm>
            <a:off x="4358272" y="3550594"/>
            <a:ext cx="640080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BC2B7F-4024-978D-BE3C-C21B88815395}"/>
              </a:ext>
            </a:extLst>
          </p:cNvPr>
          <p:cNvSpPr txBox="1"/>
          <p:nvPr/>
        </p:nvSpPr>
        <p:spPr>
          <a:xfrm>
            <a:off x="3027567" y="3531245"/>
            <a:ext cx="1252728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$ 9,910,445.00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F1AF083-1251-50A8-BC46-5390C684DC21}"/>
              </a:ext>
            </a:extLst>
          </p:cNvPr>
          <p:cNvSpPr txBox="1"/>
          <p:nvPr/>
        </p:nvSpPr>
        <p:spPr>
          <a:xfrm>
            <a:off x="5053048" y="3513566"/>
            <a:ext cx="1252728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TBD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ED8999C-D020-8806-E7AA-9E6C4812F316}"/>
              </a:ext>
            </a:extLst>
          </p:cNvPr>
          <p:cNvSpPr txBox="1"/>
          <p:nvPr/>
        </p:nvSpPr>
        <p:spPr>
          <a:xfrm>
            <a:off x="8227249" y="2040437"/>
            <a:ext cx="1514621" cy="287242"/>
          </a:xfrm>
          <a:prstGeom prst="round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Client Growth 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77D404E-D4A4-F585-A86C-D6E4FA5B8974}"/>
              </a:ext>
            </a:extLst>
          </p:cNvPr>
          <p:cNvSpPr txBox="1"/>
          <p:nvPr/>
        </p:nvSpPr>
        <p:spPr>
          <a:xfrm>
            <a:off x="8227249" y="2426592"/>
            <a:ext cx="1517904" cy="2743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470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797B488-E7A9-2E51-0EB8-0CF65AF0EE3D}"/>
              </a:ext>
            </a:extLst>
          </p:cNvPr>
          <p:cNvSpPr txBox="1"/>
          <p:nvPr/>
        </p:nvSpPr>
        <p:spPr>
          <a:xfrm>
            <a:off x="8227249" y="2776414"/>
            <a:ext cx="1517904" cy="2743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B2406E-0389-23F5-0B21-8A4C5813B77D}"/>
              </a:ext>
            </a:extLst>
          </p:cNvPr>
          <p:cNvSpPr txBox="1"/>
          <p:nvPr/>
        </p:nvSpPr>
        <p:spPr>
          <a:xfrm>
            <a:off x="8230211" y="3139808"/>
            <a:ext cx="1517904" cy="274320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8545AC-5047-8EDC-1619-3CA2EF7FB927}"/>
              </a:ext>
            </a:extLst>
          </p:cNvPr>
          <p:cNvSpPr txBox="1"/>
          <p:nvPr/>
        </p:nvSpPr>
        <p:spPr>
          <a:xfrm>
            <a:off x="8227249" y="3522468"/>
            <a:ext cx="1517904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71AFCAD-E21C-304F-58BA-B952C8324F96}"/>
              </a:ext>
            </a:extLst>
          </p:cNvPr>
          <p:cNvSpPr txBox="1"/>
          <p:nvPr/>
        </p:nvSpPr>
        <p:spPr>
          <a:xfrm>
            <a:off x="9834543" y="2015503"/>
            <a:ext cx="2136648" cy="28724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Channel Partnerships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37B493-27D0-83ED-5616-BAEE8E4FB225}"/>
              </a:ext>
            </a:extLst>
          </p:cNvPr>
          <p:cNvSpPr txBox="1"/>
          <p:nvPr/>
        </p:nvSpPr>
        <p:spPr>
          <a:xfrm>
            <a:off x="9819655" y="2398850"/>
            <a:ext cx="2139696" cy="2743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27</a:t>
            </a:r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292361-A05F-7793-F271-143DB9D89453}"/>
              </a:ext>
            </a:extLst>
          </p:cNvPr>
          <p:cNvSpPr txBox="1"/>
          <p:nvPr/>
        </p:nvSpPr>
        <p:spPr>
          <a:xfrm>
            <a:off x="9834542" y="2763225"/>
            <a:ext cx="2139696" cy="27432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22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6A8C1C-5500-39FE-6037-CBCC04D5C779}"/>
              </a:ext>
            </a:extLst>
          </p:cNvPr>
          <p:cNvSpPr txBox="1"/>
          <p:nvPr/>
        </p:nvSpPr>
        <p:spPr>
          <a:xfrm>
            <a:off x="9796098" y="3111510"/>
            <a:ext cx="2139696" cy="274320"/>
          </a:xfrm>
          <a:prstGeom prst="round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TBD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327334F-C595-9A54-A3BA-15292F89C5FE}"/>
              </a:ext>
            </a:extLst>
          </p:cNvPr>
          <p:cNvSpPr txBox="1"/>
          <p:nvPr/>
        </p:nvSpPr>
        <p:spPr>
          <a:xfrm>
            <a:off x="9834542" y="3522468"/>
            <a:ext cx="2139696" cy="274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34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E273EDD-EC83-CC9F-9B83-9A4FE7FAE8A4}"/>
              </a:ext>
            </a:extLst>
          </p:cNvPr>
          <p:cNvCxnSpPr>
            <a:cxnSpLocks/>
          </p:cNvCxnSpPr>
          <p:nvPr/>
        </p:nvCxnSpPr>
        <p:spPr>
          <a:xfrm>
            <a:off x="113457" y="3440128"/>
            <a:ext cx="11896344" cy="19167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4272F85-48DF-0015-3C59-638C87B97E38}"/>
              </a:ext>
            </a:extLst>
          </p:cNvPr>
          <p:cNvSpPr txBox="1"/>
          <p:nvPr/>
        </p:nvSpPr>
        <p:spPr>
          <a:xfrm>
            <a:off x="146002" y="3913116"/>
            <a:ext cx="11832336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Breakdown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48F6A3-05A0-9D52-61D2-F7DE73DAD817}"/>
              </a:ext>
            </a:extLst>
          </p:cNvPr>
          <p:cNvSpPr txBox="1"/>
          <p:nvPr/>
        </p:nvSpPr>
        <p:spPr>
          <a:xfrm>
            <a:off x="6376726" y="2037331"/>
            <a:ext cx="1814390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Exposure Opportunity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2B45CF-9DD3-D8B1-E67C-0173A24B2522}"/>
              </a:ext>
            </a:extLst>
          </p:cNvPr>
          <p:cNvSpPr txBox="1"/>
          <p:nvPr/>
        </p:nvSpPr>
        <p:spPr>
          <a:xfrm>
            <a:off x="6397866" y="2417335"/>
            <a:ext cx="1793249" cy="27177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5E745F-7D6C-189C-B6BA-8422C3920042}"/>
              </a:ext>
            </a:extLst>
          </p:cNvPr>
          <p:cNvSpPr txBox="1"/>
          <p:nvPr/>
        </p:nvSpPr>
        <p:spPr>
          <a:xfrm>
            <a:off x="6415514" y="2754633"/>
            <a:ext cx="1793249" cy="2717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2DD8FD-8CCF-86E2-53EF-E21A01CD38AB}"/>
              </a:ext>
            </a:extLst>
          </p:cNvPr>
          <p:cNvSpPr txBox="1"/>
          <p:nvPr/>
        </p:nvSpPr>
        <p:spPr>
          <a:xfrm>
            <a:off x="6387296" y="3127996"/>
            <a:ext cx="1793249" cy="271777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269B86-1697-7ACD-92DE-9F5DF024B8E2}"/>
              </a:ext>
            </a:extLst>
          </p:cNvPr>
          <p:cNvSpPr txBox="1"/>
          <p:nvPr/>
        </p:nvSpPr>
        <p:spPr>
          <a:xfrm>
            <a:off x="6397865" y="3544604"/>
            <a:ext cx="1793249" cy="271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9D9FAD-7109-2C64-C769-38000C184FE6}"/>
              </a:ext>
            </a:extLst>
          </p:cNvPr>
          <p:cNvSpPr txBox="1"/>
          <p:nvPr/>
        </p:nvSpPr>
        <p:spPr>
          <a:xfrm>
            <a:off x="1040956" y="4276953"/>
            <a:ext cx="2136647" cy="287242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PeopleTech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Partners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539E0F-BD6C-C812-3572-E4650D7824A4}"/>
              </a:ext>
            </a:extLst>
          </p:cNvPr>
          <p:cNvSpPr txBox="1"/>
          <p:nvPr/>
        </p:nvSpPr>
        <p:spPr>
          <a:xfrm>
            <a:off x="3269182" y="4275084"/>
            <a:ext cx="2136647" cy="287242"/>
          </a:xfrm>
          <a:prstGeom prst="round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Sequoia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5D359-F134-4479-EA48-3BF03DAC7430}"/>
              </a:ext>
            </a:extLst>
          </p:cNvPr>
          <p:cNvSpPr txBox="1"/>
          <p:nvPr/>
        </p:nvSpPr>
        <p:spPr>
          <a:xfrm>
            <a:off x="5444274" y="4275084"/>
            <a:ext cx="2136647" cy="28724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Transform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0477D4-3A1C-FC4D-DC6B-27B2C5B16F15}"/>
              </a:ext>
            </a:extLst>
          </p:cNvPr>
          <p:cNvSpPr txBox="1"/>
          <p:nvPr/>
        </p:nvSpPr>
        <p:spPr>
          <a:xfrm>
            <a:off x="7624055" y="4273611"/>
            <a:ext cx="2136647" cy="287242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Strategic LPs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A656CD6-A36E-B288-0A08-87E9C2A5275B}"/>
              </a:ext>
            </a:extLst>
          </p:cNvPr>
          <p:cNvSpPr txBox="1"/>
          <p:nvPr/>
        </p:nvSpPr>
        <p:spPr>
          <a:xfrm>
            <a:off x="9799147" y="4269798"/>
            <a:ext cx="213664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Other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C31F95-7D53-DFF7-CEE0-24E963427D23}"/>
              </a:ext>
            </a:extLst>
          </p:cNvPr>
          <p:cNvSpPr txBox="1"/>
          <p:nvPr/>
        </p:nvSpPr>
        <p:spPr>
          <a:xfrm>
            <a:off x="151731" y="4659890"/>
            <a:ext cx="832104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All Time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694FC8-E21E-F25D-DE59-3E45A5632CAC}"/>
              </a:ext>
            </a:extLst>
          </p:cNvPr>
          <p:cNvSpPr txBox="1"/>
          <p:nvPr/>
        </p:nvSpPr>
        <p:spPr>
          <a:xfrm>
            <a:off x="146001" y="4995471"/>
            <a:ext cx="832104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DE13058-7B7B-20B8-EFBC-D8245804F88B}"/>
              </a:ext>
            </a:extLst>
          </p:cNvPr>
          <p:cNvSpPr txBox="1"/>
          <p:nvPr/>
        </p:nvSpPr>
        <p:spPr>
          <a:xfrm>
            <a:off x="146001" y="5327998"/>
            <a:ext cx="832104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1854CD2-AF13-9CAE-F621-115055848611}"/>
              </a:ext>
            </a:extLst>
          </p:cNvPr>
          <p:cNvSpPr txBox="1"/>
          <p:nvPr/>
        </p:nvSpPr>
        <p:spPr>
          <a:xfrm>
            <a:off x="1048411" y="4648093"/>
            <a:ext cx="2139696" cy="28346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3816FE-1045-BF21-6858-40238EF9ABA3}"/>
              </a:ext>
            </a:extLst>
          </p:cNvPr>
          <p:cNvSpPr txBox="1"/>
          <p:nvPr/>
        </p:nvSpPr>
        <p:spPr>
          <a:xfrm>
            <a:off x="1044683" y="5008467"/>
            <a:ext cx="2139696" cy="28346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51EF1F5-6858-DD11-9321-8C338633AE6E}"/>
              </a:ext>
            </a:extLst>
          </p:cNvPr>
          <p:cNvSpPr txBox="1"/>
          <p:nvPr/>
        </p:nvSpPr>
        <p:spPr>
          <a:xfrm>
            <a:off x="1029920" y="5343997"/>
            <a:ext cx="2139696" cy="283464"/>
          </a:xfrm>
          <a:prstGeom prst="round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89B6A0-CA93-2D20-ED21-752BE10B9483}"/>
              </a:ext>
            </a:extLst>
          </p:cNvPr>
          <p:cNvSpPr txBox="1"/>
          <p:nvPr/>
        </p:nvSpPr>
        <p:spPr>
          <a:xfrm>
            <a:off x="3272910" y="4645301"/>
            <a:ext cx="2139696" cy="28346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B784F8-66E5-9504-B7BE-51E770F08DFA}"/>
              </a:ext>
            </a:extLst>
          </p:cNvPr>
          <p:cNvSpPr txBox="1"/>
          <p:nvPr/>
        </p:nvSpPr>
        <p:spPr>
          <a:xfrm>
            <a:off x="3269182" y="5005675"/>
            <a:ext cx="2139696" cy="2834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F11482-D58F-7357-4B9F-CA51C40A5879}"/>
              </a:ext>
            </a:extLst>
          </p:cNvPr>
          <p:cNvSpPr txBox="1"/>
          <p:nvPr/>
        </p:nvSpPr>
        <p:spPr>
          <a:xfrm>
            <a:off x="3251713" y="5368438"/>
            <a:ext cx="2139696" cy="283464"/>
          </a:xfrm>
          <a:prstGeom prst="round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9B7C8F-66A4-16BB-1AE6-E60BD8C11B03}"/>
              </a:ext>
            </a:extLst>
          </p:cNvPr>
          <p:cNvSpPr txBox="1"/>
          <p:nvPr/>
        </p:nvSpPr>
        <p:spPr>
          <a:xfrm>
            <a:off x="5465471" y="4645301"/>
            <a:ext cx="2139696" cy="28346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C2B0829-26E3-9E30-E294-E783EABCB748}"/>
              </a:ext>
            </a:extLst>
          </p:cNvPr>
          <p:cNvSpPr txBox="1"/>
          <p:nvPr/>
        </p:nvSpPr>
        <p:spPr>
          <a:xfrm>
            <a:off x="5461743" y="5005675"/>
            <a:ext cx="2139696" cy="28346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3D50D4-EDDB-BEC8-EDA2-822C8ADF4E2F}"/>
              </a:ext>
            </a:extLst>
          </p:cNvPr>
          <p:cNvSpPr txBox="1"/>
          <p:nvPr/>
        </p:nvSpPr>
        <p:spPr>
          <a:xfrm>
            <a:off x="5458342" y="5368438"/>
            <a:ext cx="2139696" cy="283464"/>
          </a:xfrm>
          <a:prstGeom prst="roundRect">
            <a:avLst/>
          </a:prstGeom>
          <a:noFill/>
          <a:ln>
            <a:solidFill>
              <a:schemeClr val="tx2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9EF4E5B-F30C-9939-ED8D-7FC1A8C25B54}"/>
              </a:ext>
            </a:extLst>
          </p:cNvPr>
          <p:cNvSpPr txBox="1"/>
          <p:nvPr/>
        </p:nvSpPr>
        <p:spPr>
          <a:xfrm>
            <a:off x="7650903" y="4629599"/>
            <a:ext cx="2139696" cy="28346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F59E31-A030-CF7D-22DD-A352C03A2EA6}"/>
              </a:ext>
            </a:extLst>
          </p:cNvPr>
          <p:cNvSpPr txBox="1"/>
          <p:nvPr/>
        </p:nvSpPr>
        <p:spPr>
          <a:xfrm>
            <a:off x="7647175" y="4989973"/>
            <a:ext cx="2139696" cy="28346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C45FEAF-1828-F707-89B6-0065B71AB4C5}"/>
              </a:ext>
            </a:extLst>
          </p:cNvPr>
          <p:cNvSpPr txBox="1"/>
          <p:nvPr/>
        </p:nvSpPr>
        <p:spPr>
          <a:xfrm>
            <a:off x="7643774" y="5352736"/>
            <a:ext cx="2139696" cy="283464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9B671F-D07D-B2A1-44B6-FB0C2DB61F21}"/>
              </a:ext>
            </a:extLst>
          </p:cNvPr>
          <p:cNvSpPr txBox="1"/>
          <p:nvPr/>
        </p:nvSpPr>
        <p:spPr>
          <a:xfrm>
            <a:off x="9799147" y="4627486"/>
            <a:ext cx="2139696" cy="2834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C360F6-B4EE-4042-8FE6-A4A58197E483}"/>
              </a:ext>
            </a:extLst>
          </p:cNvPr>
          <p:cNvSpPr txBox="1"/>
          <p:nvPr/>
        </p:nvSpPr>
        <p:spPr>
          <a:xfrm>
            <a:off x="9795419" y="4987860"/>
            <a:ext cx="2139696" cy="28346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DE6378-3E83-4ED6-724C-5479E236FC45}"/>
              </a:ext>
            </a:extLst>
          </p:cNvPr>
          <p:cNvSpPr txBox="1"/>
          <p:nvPr/>
        </p:nvSpPr>
        <p:spPr>
          <a:xfrm>
            <a:off x="9792018" y="5350623"/>
            <a:ext cx="2139696" cy="283464"/>
          </a:xfrm>
          <a:prstGeom prst="round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9CD1287-7B8D-B481-44B4-E9A59A828619}"/>
              </a:ext>
            </a:extLst>
          </p:cNvPr>
          <p:cNvSpPr txBox="1"/>
          <p:nvPr/>
        </p:nvSpPr>
        <p:spPr>
          <a:xfrm>
            <a:off x="1048411" y="5723695"/>
            <a:ext cx="2136647" cy="287242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Events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0DF83D-C9A1-2059-478A-69557A8EBFC9}"/>
              </a:ext>
            </a:extLst>
          </p:cNvPr>
          <p:cNvSpPr txBox="1"/>
          <p:nvPr/>
        </p:nvSpPr>
        <p:spPr>
          <a:xfrm>
            <a:off x="3276637" y="5721826"/>
            <a:ext cx="2136647" cy="287242"/>
          </a:xfrm>
          <a:prstGeom prst="round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Advisory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7E20B4-18A3-3175-F6CC-DD7A2C60EBCD}"/>
              </a:ext>
            </a:extLst>
          </p:cNvPr>
          <p:cNvSpPr txBox="1"/>
          <p:nvPr/>
        </p:nvSpPr>
        <p:spPr>
          <a:xfrm>
            <a:off x="5451729" y="5721826"/>
            <a:ext cx="2136647" cy="28724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Product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D8BD147-AC4B-F461-6A67-55CCF70BF588}"/>
              </a:ext>
            </a:extLst>
          </p:cNvPr>
          <p:cNvSpPr txBox="1"/>
          <p:nvPr/>
        </p:nvSpPr>
        <p:spPr>
          <a:xfrm>
            <a:off x="7631510" y="5720353"/>
            <a:ext cx="2136647" cy="287242"/>
          </a:xfrm>
          <a:prstGeom prst="roundRect">
            <a:avLst/>
          </a:prstGeom>
          <a:noFill/>
          <a:ln>
            <a:solidFill>
              <a:schemeClr val="bg2">
                <a:lumMod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Product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10C6DAF-5220-619F-DB24-DC3F095255DA}"/>
              </a:ext>
            </a:extLst>
          </p:cNvPr>
          <p:cNvSpPr txBox="1"/>
          <p:nvPr/>
        </p:nvSpPr>
        <p:spPr>
          <a:xfrm>
            <a:off x="9806602" y="5716540"/>
            <a:ext cx="213664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Other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7EE87D8-CC6F-C0F4-6D86-225AB49DFDA1}"/>
              </a:ext>
            </a:extLst>
          </p:cNvPr>
          <p:cNvSpPr txBox="1"/>
          <p:nvPr/>
        </p:nvSpPr>
        <p:spPr>
          <a:xfrm>
            <a:off x="151731" y="6094467"/>
            <a:ext cx="832104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All Time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5542E05-5B0A-1F08-DF48-5ED0D23C03CF}"/>
              </a:ext>
            </a:extLst>
          </p:cNvPr>
          <p:cNvSpPr txBox="1"/>
          <p:nvPr/>
        </p:nvSpPr>
        <p:spPr>
          <a:xfrm>
            <a:off x="1048411" y="6082670"/>
            <a:ext cx="2139696" cy="28346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91DEE63-9C11-F281-455E-E5E59CC3F8A3}"/>
              </a:ext>
            </a:extLst>
          </p:cNvPr>
          <p:cNvSpPr txBox="1"/>
          <p:nvPr/>
        </p:nvSpPr>
        <p:spPr>
          <a:xfrm>
            <a:off x="3272910" y="6079878"/>
            <a:ext cx="2139696" cy="28346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A86AD3D-0EE3-2EC9-DA88-1E202AD46EF3}"/>
              </a:ext>
            </a:extLst>
          </p:cNvPr>
          <p:cNvSpPr txBox="1"/>
          <p:nvPr/>
        </p:nvSpPr>
        <p:spPr>
          <a:xfrm>
            <a:off x="5465471" y="6079878"/>
            <a:ext cx="2139696" cy="28346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18385C1-3258-DC75-61A7-1624E434DCFE}"/>
              </a:ext>
            </a:extLst>
          </p:cNvPr>
          <p:cNvSpPr txBox="1"/>
          <p:nvPr/>
        </p:nvSpPr>
        <p:spPr>
          <a:xfrm>
            <a:off x="7650903" y="6064176"/>
            <a:ext cx="2139696" cy="283464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EFFA9B2-81F8-C3DC-CE50-4043D81D0DA5}"/>
              </a:ext>
            </a:extLst>
          </p:cNvPr>
          <p:cNvSpPr txBox="1"/>
          <p:nvPr/>
        </p:nvSpPr>
        <p:spPr>
          <a:xfrm>
            <a:off x="9799147" y="6062063"/>
            <a:ext cx="2139696" cy="28346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1BA1F56-1CFD-45D4-263C-22F213720B31}"/>
              </a:ext>
            </a:extLst>
          </p:cNvPr>
          <p:cNvSpPr txBox="1"/>
          <p:nvPr/>
        </p:nvSpPr>
        <p:spPr>
          <a:xfrm>
            <a:off x="7743505" y="1121457"/>
            <a:ext cx="4126193" cy="612934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Data flow</a:t>
            </a:r>
          </a:p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Manual entry</a:t>
            </a:r>
          </a:p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Predictive by product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56D61F2-EF48-BA95-86A9-6B12DF5FBB48}"/>
              </a:ext>
            </a:extLst>
          </p:cNvPr>
          <p:cNvSpPr txBox="1"/>
          <p:nvPr/>
        </p:nvSpPr>
        <p:spPr>
          <a:xfrm>
            <a:off x="154102" y="1230740"/>
            <a:ext cx="4126193" cy="442674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Outcomes</a:t>
            </a:r>
          </a:p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Succes</a:t>
            </a:r>
            <a:r>
              <a:rPr lang="en-US" sz="10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 Plans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20160710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13457" y="489213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</a:t>
            </a:r>
            <a:r>
              <a:rPr lang="en-US" sz="2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Data Center 3.0 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788560-1B0D-E54A-53FB-9DE38021A37D}"/>
              </a:ext>
            </a:extLst>
          </p:cNvPr>
          <p:cNvSpPr txBox="1"/>
          <p:nvPr/>
        </p:nvSpPr>
        <p:spPr>
          <a:xfrm>
            <a:off x="1025409" y="2487920"/>
            <a:ext cx="1253330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59,406,425.40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F86ACA-2B8F-64A7-9F2D-C95D62041D0A}"/>
              </a:ext>
            </a:extLst>
          </p:cNvPr>
          <p:cNvSpPr txBox="1"/>
          <p:nvPr/>
        </p:nvSpPr>
        <p:spPr>
          <a:xfrm>
            <a:off x="2358588" y="2496990"/>
            <a:ext cx="558640" cy="27398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439706-DDDD-9330-DF1C-6E601FCF5773}"/>
              </a:ext>
            </a:extLst>
          </p:cNvPr>
          <p:cNvSpPr txBox="1"/>
          <p:nvPr/>
        </p:nvSpPr>
        <p:spPr>
          <a:xfrm>
            <a:off x="2310851" y="2098316"/>
            <a:ext cx="4000938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Influence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6BED3D-6896-05D0-8B33-21C7A8A95EA3}"/>
              </a:ext>
            </a:extLst>
          </p:cNvPr>
          <p:cNvSpPr txBox="1"/>
          <p:nvPr/>
        </p:nvSpPr>
        <p:spPr>
          <a:xfrm>
            <a:off x="135760" y="2102231"/>
            <a:ext cx="213664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Revenue Impact*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C40F81-5C14-88FF-900A-AD763852F5D4}"/>
              </a:ext>
            </a:extLst>
          </p:cNvPr>
          <p:cNvSpPr txBox="1"/>
          <p:nvPr/>
        </p:nvSpPr>
        <p:spPr>
          <a:xfrm>
            <a:off x="113457" y="2490390"/>
            <a:ext cx="832104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All Time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A1A073-5EFD-7135-171A-A950A9D6AA10}"/>
              </a:ext>
            </a:extLst>
          </p:cNvPr>
          <p:cNvSpPr txBox="1"/>
          <p:nvPr/>
        </p:nvSpPr>
        <p:spPr>
          <a:xfrm>
            <a:off x="4352246" y="2469439"/>
            <a:ext cx="640194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Indirect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3A37809-B2CC-E0CD-F8F2-42173FD41514}"/>
              </a:ext>
            </a:extLst>
          </p:cNvPr>
          <p:cNvSpPr txBox="1"/>
          <p:nvPr/>
        </p:nvSpPr>
        <p:spPr>
          <a:xfrm>
            <a:off x="3009225" y="2492076"/>
            <a:ext cx="1252728" cy="27432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44,802,918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17A53F-B4EC-3102-EA99-41A5D176513D}"/>
              </a:ext>
            </a:extLst>
          </p:cNvPr>
          <p:cNvSpPr txBox="1"/>
          <p:nvPr/>
        </p:nvSpPr>
        <p:spPr>
          <a:xfrm>
            <a:off x="5059060" y="2482886"/>
            <a:ext cx="1252728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$4,603,510.40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AE5147F-E636-ADBB-32B5-2688FC979A29}"/>
              </a:ext>
            </a:extLst>
          </p:cNvPr>
          <p:cNvSpPr txBox="1"/>
          <p:nvPr/>
        </p:nvSpPr>
        <p:spPr>
          <a:xfrm>
            <a:off x="113458" y="1711547"/>
            <a:ext cx="6198331" cy="306467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Outcomes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1A6B3C4-63AE-1B39-E0F7-408E9E9902E9}"/>
              </a:ext>
            </a:extLst>
          </p:cNvPr>
          <p:cNvSpPr txBox="1"/>
          <p:nvPr/>
        </p:nvSpPr>
        <p:spPr>
          <a:xfrm>
            <a:off x="113457" y="1089091"/>
            <a:ext cx="6198330" cy="442674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Data flow</a:t>
            </a:r>
          </a:p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Predictive prior to investment (Warrants)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306160D-D957-F420-7D8A-51E17BE21C2E}"/>
              </a:ext>
            </a:extLst>
          </p:cNvPr>
          <p:cNvSpPr txBox="1"/>
          <p:nvPr/>
        </p:nvSpPr>
        <p:spPr>
          <a:xfrm>
            <a:off x="113456" y="4931225"/>
            <a:ext cx="6198331" cy="306467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Predictive Modeling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C710EDB-C440-9915-BF52-49A345097972}"/>
              </a:ext>
            </a:extLst>
          </p:cNvPr>
          <p:cNvSpPr txBox="1"/>
          <p:nvPr/>
        </p:nvSpPr>
        <p:spPr>
          <a:xfrm>
            <a:off x="253417" y="5828756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Pipeline Company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A205653-364D-730A-B452-959D8F160D0D}"/>
              </a:ext>
            </a:extLst>
          </p:cNvPr>
          <p:cNvSpPr txBox="1"/>
          <p:nvPr/>
        </p:nvSpPr>
        <p:spPr>
          <a:xfrm>
            <a:off x="2290561" y="5311122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SemperSystem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335212-2971-72D0-9316-23EAAEE396FE}"/>
              </a:ext>
            </a:extLst>
          </p:cNvPr>
          <p:cNvSpPr txBox="1"/>
          <p:nvPr/>
        </p:nvSpPr>
        <p:spPr>
          <a:xfrm>
            <a:off x="2290561" y="5644876"/>
            <a:ext cx="1543981" cy="65500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Vertical + Horizontal Distribution Opportunities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3169230-C890-3E12-4FDF-8E0860B82269}"/>
              </a:ext>
            </a:extLst>
          </p:cNvPr>
          <p:cNvCxnSpPr>
            <a:cxnSpLocks/>
            <a:stCxn id="74" idx="3"/>
            <a:endCxn id="77" idx="1"/>
          </p:cNvCxnSpPr>
          <p:nvPr/>
        </p:nvCxnSpPr>
        <p:spPr>
          <a:xfrm>
            <a:off x="1797398" y="5972377"/>
            <a:ext cx="493163" cy="1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41DC9584-060E-F016-F1BF-6A53A82B99F0}"/>
              </a:ext>
            </a:extLst>
          </p:cNvPr>
          <p:cNvCxnSpPr/>
          <p:nvPr/>
        </p:nvCxnSpPr>
        <p:spPr>
          <a:xfrm>
            <a:off x="3834542" y="5972377"/>
            <a:ext cx="493163" cy="1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EBF846C5-2A5E-B985-0C88-35A5C7F9BF21}"/>
              </a:ext>
            </a:extLst>
          </p:cNvPr>
          <p:cNvSpPr txBox="1"/>
          <p:nvPr/>
        </p:nvSpPr>
        <p:spPr>
          <a:xfrm>
            <a:off x="4327705" y="5724491"/>
            <a:ext cx="1543981" cy="47112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Growth Prediction via SemperSystem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8977AF0-30D2-53BA-ED09-DEF86414B3CA}"/>
              </a:ext>
            </a:extLst>
          </p:cNvPr>
          <p:cNvSpPr txBox="1"/>
          <p:nvPr/>
        </p:nvSpPr>
        <p:spPr>
          <a:xfrm>
            <a:off x="2043980" y="2864427"/>
            <a:ext cx="1903552" cy="28724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Early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8865EC6-FE06-7FF7-0037-DEF5CA3D24E4}"/>
              </a:ext>
            </a:extLst>
          </p:cNvPr>
          <p:cNvSpPr txBox="1"/>
          <p:nvPr/>
        </p:nvSpPr>
        <p:spPr>
          <a:xfrm>
            <a:off x="135759" y="2870555"/>
            <a:ext cx="1819011" cy="28724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New Investment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C8CEC67-3A22-A498-7A3D-1616837B07D6}"/>
              </a:ext>
            </a:extLst>
          </p:cNvPr>
          <p:cNvSpPr txBox="1"/>
          <p:nvPr/>
        </p:nvSpPr>
        <p:spPr>
          <a:xfrm>
            <a:off x="4036741" y="2864513"/>
            <a:ext cx="2275047" cy="28724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Scale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A8DB591-F230-3A6B-6801-2EBB4E75E005}"/>
              </a:ext>
            </a:extLst>
          </p:cNvPr>
          <p:cNvSpPr txBox="1"/>
          <p:nvPr/>
        </p:nvSpPr>
        <p:spPr>
          <a:xfrm>
            <a:off x="135759" y="3231770"/>
            <a:ext cx="1068573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Growth Goal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596F5DE-94F1-6956-1696-F75EAF7927A5}"/>
              </a:ext>
            </a:extLst>
          </p:cNvPr>
          <p:cNvSpPr txBox="1"/>
          <p:nvPr/>
        </p:nvSpPr>
        <p:spPr>
          <a:xfrm>
            <a:off x="1263113" y="3228042"/>
            <a:ext cx="691658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$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6702CD9-4FD1-4B00-2C9D-CE7845867FD3}"/>
              </a:ext>
            </a:extLst>
          </p:cNvPr>
          <p:cNvSpPr txBox="1"/>
          <p:nvPr/>
        </p:nvSpPr>
        <p:spPr>
          <a:xfrm>
            <a:off x="3212622" y="3226037"/>
            <a:ext cx="691658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$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C1E3ECD-1021-F689-7576-C3DB6F01F581}"/>
              </a:ext>
            </a:extLst>
          </p:cNvPr>
          <p:cNvSpPr txBox="1"/>
          <p:nvPr/>
        </p:nvSpPr>
        <p:spPr>
          <a:xfrm>
            <a:off x="2071036" y="3238440"/>
            <a:ext cx="1068573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Growth Goal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E79F11C-2AAD-D4A7-717F-33DD428E539C}"/>
              </a:ext>
            </a:extLst>
          </p:cNvPr>
          <p:cNvSpPr txBox="1"/>
          <p:nvPr/>
        </p:nvSpPr>
        <p:spPr>
          <a:xfrm>
            <a:off x="5178326" y="3232929"/>
            <a:ext cx="113346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$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A963836-98C4-232F-D9D4-A3985A6F5FD1}"/>
              </a:ext>
            </a:extLst>
          </p:cNvPr>
          <p:cNvSpPr txBox="1"/>
          <p:nvPr/>
        </p:nvSpPr>
        <p:spPr>
          <a:xfrm>
            <a:off x="4036741" y="3245332"/>
            <a:ext cx="1068573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Growth Goal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8EA8B9D-EC8B-90B2-ECD8-5EC9511FAE0E}"/>
              </a:ext>
            </a:extLst>
          </p:cNvPr>
          <p:cNvSpPr txBox="1"/>
          <p:nvPr/>
        </p:nvSpPr>
        <p:spPr>
          <a:xfrm>
            <a:off x="111014" y="3614823"/>
            <a:ext cx="6198331" cy="306467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Canopy + Strategic Breakdown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8E52579-8578-2F90-FEA2-485BEDAD3E45}"/>
              </a:ext>
            </a:extLst>
          </p:cNvPr>
          <p:cNvSpPr txBox="1"/>
          <p:nvPr/>
        </p:nvSpPr>
        <p:spPr>
          <a:xfrm>
            <a:off x="1025410" y="4010380"/>
            <a:ext cx="1246998" cy="287242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Sequoia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5363E14-8076-7127-E3F6-0D55442C2F8A}"/>
              </a:ext>
            </a:extLst>
          </p:cNvPr>
          <p:cNvSpPr txBox="1"/>
          <p:nvPr/>
        </p:nvSpPr>
        <p:spPr>
          <a:xfrm>
            <a:off x="136184" y="4393317"/>
            <a:ext cx="832104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All Time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50C73AE-81D3-4E24-F53F-76C109040524}"/>
              </a:ext>
            </a:extLst>
          </p:cNvPr>
          <p:cNvSpPr txBox="1"/>
          <p:nvPr/>
        </p:nvSpPr>
        <p:spPr>
          <a:xfrm>
            <a:off x="1032864" y="4391194"/>
            <a:ext cx="1239543" cy="264115"/>
          </a:xfrm>
          <a:prstGeom prst="round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253D670-467C-ED32-AF5C-0911735CAD9A}"/>
              </a:ext>
            </a:extLst>
          </p:cNvPr>
          <p:cNvSpPr txBox="1"/>
          <p:nvPr/>
        </p:nvSpPr>
        <p:spPr>
          <a:xfrm>
            <a:off x="2356146" y="4017101"/>
            <a:ext cx="1246998" cy="287242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Transform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7517F9A-974C-AA13-CC7C-77D3FE515FEE}"/>
              </a:ext>
            </a:extLst>
          </p:cNvPr>
          <p:cNvSpPr txBox="1"/>
          <p:nvPr/>
        </p:nvSpPr>
        <p:spPr>
          <a:xfrm>
            <a:off x="2363600" y="4397915"/>
            <a:ext cx="1239543" cy="264115"/>
          </a:xfrm>
          <a:prstGeom prst="round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55BAF3F-6014-3281-205D-E1D30A49636A}"/>
              </a:ext>
            </a:extLst>
          </p:cNvPr>
          <p:cNvSpPr txBox="1"/>
          <p:nvPr/>
        </p:nvSpPr>
        <p:spPr>
          <a:xfrm>
            <a:off x="3686882" y="4005100"/>
            <a:ext cx="1246998" cy="287242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PTP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CF64EDC-5268-6020-734D-68D7EF346A9E}"/>
              </a:ext>
            </a:extLst>
          </p:cNvPr>
          <p:cNvSpPr txBox="1"/>
          <p:nvPr/>
        </p:nvSpPr>
        <p:spPr>
          <a:xfrm>
            <a:off x="4992440" y="4369742"/>
            <a:ext cx="1239543" cy="264115"/>
          </a:xfrm>
          <a:prstGeom prst="round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C6AB3DD-5C47-97BB-086F-797F0828FFD4}"/>
              </a:ext>
            </a:extLst>
          </p:cNvPr>
          <p:cNvSpPr txBox="1"/>
          <p:nvPr/>
        </p:nvSpPr>
        <p:spPr>
          <a:xfrm>
            <a:off x="5028688" y="3995394"/>
            <a:ext cx="1246998" cy="287242"/>
          </a:xfrm>
          <a:prstGeom prst="roundRect">
            <a:avLst/>
          </a:prstGeom>
          <a:noFill/>
          <a:ln>
            <a:solidFill>
              <a:schemeClr val="accent5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Strategic LP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4F9B78E-8A99-B4BC-8D6D-F6DE4547040A}"/>
              </a:ext>
            </a:extLst>
          </p:cNvPr>
          <p:cNvSpPr txBox="1"/>
          <p:nvPr/>
        </p:nvSpPr>
        <p:spPr>
          <a:xfrm>
            <a:off x="3732474" y="4369389"/>
            <a:ext cx="1239543" cy="264115"/>
          </a:xfrm>
          <a:prstGeom prst="round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250145848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475102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Predictive Modeling  | Health Tech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5C47D7-5851-C0D5-8C9E-A468D3A34E75}"/>
              </a:ext>
            </a:extLst>
          </p:cNvPr>
          <p:cNvSpPr txBox="1"/>
          <p:nvPr/>
        </p:nvSpPr>
        <p:spPr>
          <a:xfrm>
            <a:off x="176957" y="951235"/>
            <a:ext cx="6602743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Portfolio Company Characteristics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4D6987-F803-588D-481B-117315E08F6A}"/>
              </a:ext>
            </a:extLst>
          </p:cNvPr>
          <p:cNvSpPr txBox="1"/>
          <p:nvPr/>
        </p:nvSpPr>
        <p:spPr>
          <a:xfrm>
            <a:off x="180371" y="2836613"/>
            <a:ext cx="1183125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Predictive Modeling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7A76B7C-166E-0122-54F3-3BA0269A9B93}"/>
              </a:ext>
            </a:extLst>
          </p:cNvPr>
          <p:cNvSpPr txBox="1"/>
          <p:nvPr/>
        </p:nvSpPr>
        <p:spPr>
          <a:xfrm>
            <a:off x="176955" y="1687273"/>
            <a:ext cx="2131345" cy="28724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Health Tech 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FB42C97-C4F5-B442-8892-379E628707A1}"/>
              </a:ext>
            </a:extLst>
          </p:cNvPr>
          <p:cNvSpPr txBox="1"/>
          <p:nvPr/>
        </p:nvSpPr>
        <p:spPr>
          <a:xfrm>
            <a:off x="2420239" y="1675496"/>
            <a:ext cx="2131345" cy="28724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ICP 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5ACE79-13F2-D400-6821-47049C96BDC6}"/>
              </a:ext>
            </a:extLst>
          </p:cNvPr>
          <p:cNvSpPr txBox="1"/>
          <p:nvPr/>
        </p:nvSpPr>
        <p:spPr>
          <a:xfrm>
            <a:off x="176955" y="1319254"/>
            <a:ext cx="2131345" cy="287242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Vertical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AB63D6-80E7-D19C-5580-D8F68DF54CE5}"/>
              </a:ext>
            </a:extLst>
          </p:cNvPr>
          <p:cNvSpPr txBox="1"/>
          <p:nvPr/>
        </p:nvSpPr>
        <p:spPr>
          <a:xfrm>
            <a:off x="2420239" y="2043515"/>
            <a:ext cx="2131345" cy="28724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Health Plan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7FE9988-6581-BED6-8018-14CF936A32BD}"/>
              </a:ext>
            </a:extLst>
          </p:cNvPr>
          <p:cNvSpPr txBox="1"/>
          <p:nvPr/>
        </p:nvSpPr>
        <p:spPr>
          <a:xfrm>
            <a:off x="2420239" y="2419687"/>
            <a:ext cx="2131345" cy="28724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Employer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D42AB6-10C5-5479-06E2-1F17D0068402}"/>
              </a:ext>
            </a:extLst>
          </p:cNvPr>
          <p:cNvSpPr txBox="1"/>
          <p:nvPr/>
        </p:nvSpPr>
        <p:spPr>
          <a:xfrm>
            <a:off x="4626498" y="2037621"/>
            <a:ext cx="2131345" cy="2872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Broker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5875DCE-6310-5BD9-55DE-BC8DF22A1077}"/>
              </a:ext>
            </a:extLst>
          </p:cNvPr>
          <p:cNvGrpSpPr/>
          <p:nvPr/>
        </p:nvGrpSpPr>
        <p:grpSpPr>
          <a:xfrm>
            <a:off x="2894005" y="3928010"/>
            <a:ext cx="1280160" cy="914400"/>
            <a:chOff x="4879733" y="4605952"/>
            <a:chExt cx="1280160" cy="91440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7D791BD-3C03-1151-001B-7602E36DBB56}"/>
                </a:ext>
              </a:extLst>
            </p:cNvPr>
            <p:cNvSpPr txBox="1"/>
            <p:nvPr/>
          </p:nvSpPr>
          <p:spPr>
            <a:xfrm>
              <a:off x="4879733" y="4605952"/>
              <a:ext cx="1280160" cy="914400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4B4BFFF-F774-F3DB-7012-B76B8D405454}"/>
                </a:ext>
              </a:extLst>
            </p:cNvPr>
            <p:cNvSpPr txBox="1"/>
            <p:nvPr/>
          </p:nvSpPr>
          <p:spPr>
            <a:xfrm>
              <a:off x="5115649" y="4751418"/>
              <a:ext cx="914400" cy="225523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C4846"/>
                  </a:solidFill>
                  <a:effectLst/>
                  <a:uLnTx/>
                  <a:uFillTx/>
                  <a:latin typeface="Aptos Light"/>
                  <a:ea typeface="MS PGothic"/>
                  <a:cs typeface="Calibri Light"/>
                </a:rPr>
                <a:t>Employer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8177F2E6-0AE2-DB80-B543-4718B340BC22}"/>
                </a:ext>
              </a:extLst>
            </p:cNvPr>
            <p:cNvSpPr txBox="1"/>
            <p:nvPr/>
          </p:nvSpPr>
          <p:spPr>
            <a:xfrm>
              <a:off x="5062613" y="5156624"/>
              <a:ext cx="914400" cy="225523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C4846"/>
                  </a:solidFill>
                  <a:effectLst/>
                  <a:uLnTx/>
                  <a:uFillTx/>
                  <a:latin typeface="Aptos Light"/>
                  <a:ea typeface="MS PGothic"/>
                  <a:cs typeface="Calibri Light"/>
                </a:rPr>
                <a:t>Total Rewards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41C079E-12C2-4B41-7173-1DA9D39C4BBB}"/>
              </a:ext>
            </a:extLst>
          </p:cNvPr>
          <p:cNvGrpSpPr/>
          <p:nvPr/>
        </p:nvGrpSpPr>
        <p:grpSpPr>
          <a:xfrm>
            <a:off x="6352876" y="5768012"/>
            <a:ext cx="1280160" cy="914400"/>
            <a:chOff x="4292689" y="5464222"/>
            <a:chExt cx="1280160" cy="9144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970586D-F14A-204F-92E7-5F81E8838AC7}"/>
                </a:ext>
              </a:extLst>
            </p:cNvPr>
            <p:cNvSpPr txBox="1"/>
            <p:nvPr/>
          </p:nvSpPr>
          <p:spPr>
            <a:xfrm>
              <a:off x="4292689" y="5464222"/>
              <a:ext cx="1280160" cy="914400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B77CF3F-A4DE-EB82-2222-D6075C06DA28}"/>
                </a:ext>
              </a:extLst>
            </p:cNvPr>
            <p:cNvSpPr txBox="1"/>
            <p:nvPr/>
          </p:nvSpPr>
          <p:spPr>
            <a:xfrm>
              <a:off x="4475569" y="5636339"/>
              <a:ext cx="914400" cy="225523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C4846"/>
                  </a:solidFill>
                  <a:effectLst/>
                  <a:uLnTx/>
                  <a:uFillTx/>
                  <a:latin typeface="Aptos Light"/>
                  <a:ea typeface="MS PGothic"/>
                  <a:cs typeface="Calibri Light"/>
                </a:rPr>
                <a:t>Broker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8062C3-06B2-3F85-0180-C2058B73E3AE}"/>
                </a:ext>
              </a:extLst>
            </p:cNvPr>
            <p:cNvSpPr txBox="1"/>
            <p:nvPr/>
          </p:nvSpPr>
          <p:spPr>
            <a:xfrm>
              <a:off x="4475569" y="6015420"/>
              <a:ext cx="914400" cy="225523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C4846"/>
                  </a:solidFill>
                  <a:effectLst/>
                  <a:uLnTx/>
                  <a:uFillTx/>
                  <a:latin typeface="Aptos Light"/>
                  <a:ea typeface="MS PGothic"/>
                  <a:cs typeface="Calibri Light"/>
                </a:rPr>
                <a:t>Global Leader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802FA8F-FF19-B9F8-509A-72E475E89D8E}"/>
              </a:ext>
            </a:extLst>
          </p:cNvPr>
          <p:cNvGrpSpPr/>
          <p:nvPr/>
        </p:nvGrpSpPr>
        <p:grpSpPr>
          <a:xfrm>
            <a:off x="6351162" y="3683991"/>
            <a:ext cx="1280160" cy="914400"/>
            <a:chOff x="4879734" y="3615170"/>
            <a:chExt cx="1280160" cy="91440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3ACD041-5C95-5148-8D09-E72DDBCEFC25}"/>
                </a:ext>
              </a:extLst>
            </p:cNvPr>
            <p:cNvSpPr txBox="1"/>
            <p:nvPr/>
          </p:nvSpPr>
          <p:spPr>
            <a:xfrm>
              <a:off x="4879734" y="3615170"/>
              <a:ext cx="1280160" cy="914400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855512F-3D15-DB50-FA84-8F13B354D65B}"/>
                </a:ext>
              </a:extLst>
            </p:cNvPr>
            <p:cNvSpPr txBox="1"/>
            <p:nvPr/>
          </p:nvSpPr>
          <p:spPr>
            <a:xfrm>
              <a:off x="5062613" y="3771079"/>
              <a:ext cx="914400" cy="225523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C4846"/>
                  </a:solidFill>
                  <a:effectLst/>
                  <a:uLnTx/>
                  <a:uFillTx/>
                  <a:latin typeface="Aptos Light"/>
                  <a:ea typeface="MS PGothic"/>
                  <a:cs typeface="Calibri Light"/>
                </a:rPr>
                <a:t>Health Plan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5269A5D-B2BB-81F0-BC86-1BAA15BD1478}"/>
                </a:ext>
              </a:extLst>
            </p:cNvPr>
            <p:cNvSpPr txBox="1"/>
            <p:nvPr/>
          </p:nvSpPr>
          <p:spPr>
            <a:xfrm>
              <a:off x="5062613" y="4158093"/>
              <a:ext cx="914400" cy="225523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C4846"/>
                  </a:solidFill>
                  <a:effectLst/>
                  <a:uLnTx/>
                  <a:uFillTx/>
                  <a:latin typeface="Aptos Light"/>
                  <a:ea typeface="MS PGothic"/>
                  <a:cs typeface="Calibri Light"/>
                </a:rPr>
                <a:t>VP Client Relations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5F463504-FF21-26E5-FEB6-87612F331E18}"/>
              </a:ext>
            </a:extLst>
          </p:cNvPr>
          <p:cNvSpPr txBox="1"/>
          <p:nvPr/>
        </p:nvSpPr>
        <p:spPr>
          <a:xfrm>
            <a:off x="7754369" y="6140642"/>
            <a:ext cx="731520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Avg Deal: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1D939F-9325-246C-61AF-879F33086944}"/>
              </a:ext>
            </a:extLst>
          </p:cNvPr>
          <p:cNvSpPr txBox="1"/>
          <p:nvPr/>
        </p:nvSpPr>
        <p:spPr>
          <a:xfrm>
            <a:off x="8545942" y="6140642"/>
            <a:ext cx="457200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BDA86BB-6EEF-61AC-6A54-5697F0C813B9}"/>
              </a:ext>
            </a:extLst>
          </p:cNvPr>
          <p:cNvSpPr txBox="1"/>
          <p:nvPr/>
        </p:nvSpPr>
        <p:spPr>
          <a:xfrm>
            <a:off x="7734108" y="5089662"/>
            <a:ext cx="731520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Avg Deal: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F68E240-4024-856D-1E1D-2124E945D099}"/>
              </a:ext>
            </a:extLst>
          </p:cNvPr>
          <p:cNvSpPr txBox="1"/>
          <p:nvPr/>
        </p:nvSpPr>
        <p:spPr>
          <a:xfrm>
            <a:off x="8534640" y="5095630"/>
            <a:ext cx="457200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316B49-D1A0-C7EB-0C38-6048A648027A}"/>
              </a:ext>
            </a:extLst>
          </p:cNvPr>
          <p:cNvSpPr txBox="1"/>
          <p:nvPr/>
        </p:nvSpPr>
        <p:spPr>
          <a:xfrm>
            <a:off x="7700378" y="4027540"/>
            <a:ext cx="731520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Avg Deal: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D9A24B3-42B6-C592-71E5-99EE8C892B47}"/>
              </a:ext>
            </a:extLst>
          </p:cNvPr>
          <p:cNvSpPr txBox="1"/>
          <p:nvPr/>
        </p:nvSpPr>
        <p:spPr>
          <a:xfrm>
            <a:off x="8523338" y="4027541"/>
            <a:ext cx="457200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EA7283-6A60-EA9B-A178-8E4F7BDCA7D8}"/>
              </a:ext>
            </a:extLst>
          </p:cNvPr>
          <p:cNvSpPr txBox="1"/>
          <p:nvPr/>
        </p:nvSpPr>
        <p:spPr>
          <a:xfrm>
            <a:off x="1672961" y="3276890"/>
            <a:ext cx="4545734" cy="28724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Early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22E1E4B-3AB9-10E9-E524-7BE00BC1545C}"/>
              </a:ext>
            </a:extLst>
          </p:cNvPr>
          <p:cNvSpPr txBox="1"/>
          <p:nvPr/>
        </p:nvSpPr>
        <p:spPr>
          <a:xfrm>
            <a:off x="6264937" y="3265034"/>
            <a:ext cx="3237540" cy="28724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Scale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E4BD212-A3E2-66AF-0AA9-60186B16B925}"/>
              </a:ext>
            </a:extLst>
          </p:cNvPr>
          <p:cNvSpPr txBox="1"/>
          <p:nvPr/>
        </p:nvSpPr>
        <p:spPr>
          <a:xfrm>
            <a:off x="9548720" y="3257904"/>
            <a:ext cx="2459494" cy="28724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 err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SvS</a:t>
            </a: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 Prediction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A7FCFC5-75BA-190D-7FD3-CE0E40F4E5CC}"/>
              </a:ext>
            </a:extLst>
          </p:cNvPr>
          <p:cNvSpPr txBox="1"/>
          <p:nvPr/>
        </p:nvSpPr>
        <p:spPr>
          <a:xfrm>
            <a:off x="4224118" y="5550230"/>
            <a:ext cx="731520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Avg Deal: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D1A683-2339-ED54-4281-A5F614F3F208}"/>
              </a:ext>
            </a:extLst>
          </p:cNvPr>
          <p:cNvSpPr txBox="1"/>
          <p:nvPr/>
        </p:nvSpPr>
        <p:spPr>
          <a:xfrm>
            <a:off x="5017853" y="5550230"/>
            <a:ext cx="457200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F7647D1-DA1A-40EA-7AD4-858324C8CB7B}"/>
              </a:ext>
            </a:extLst>
          </p:cNvPr>
          <p:cNvGrpSpPr/>
          <p:nvPr/>
        </p:nvGrpSpPr>
        <p:grpSpPr>
          <a:xfrm>
            <a:off x="2881743" y="5202423"/>
            <a:ext cx="1280160" cy="914400"/>
            <a:chOff x="4292689" y="5464222"/>
            <a:chExt cx="1280160" cy="91440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AB5C2A9C-5F52-6F5A-87BD-693042026418}"/>
                </a:ext>
              </a:extLst>
            </p:cNvPr>
            <p:cNvSpPr txBox="1"/>
            <p:nvPr/>
          </p:nvSpPr>
          <p:spPr>
            <a:xfrm>
              <a:off x="4292689" y="5464222"/>
              <a:ext cx="1280160" cy="914400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51AC0E6-4037-43D7-0002-FFE723B5F400}"/>
                </a:ext>
              </a:extLst>
            </p:cNvPr>
            <p:cNvSpPr txBox="1"/>
            <p:nvPr/>
          </p:nvSpPr>
          <p:spPr>
            <a:xfrm>
              <a:off x="4475569" y="5636339"/>
              <a:ext cx="914400" cy="225523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C4846"/>
                  </a:solidFill>
                  <a:effectLst/>
                  <a:uLnTx/>
                  <a:uFillTx/>
                  <a:latin typeface="Aptos Light"/>
                  <a:ea typeface="MS PGothic"/>
                  <a:cs typeface="Calibri Light"/>
                </a:rPr>
                <a:t>Broker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ED651B02-1181-5DAA-652D-E0A9DCFD2543}"/>
                </a:ext>
              </a:extLst>
            </p:cNvPr>
            <p:cNvSpPr txBox="1"/>
            <p:nvPr/>
          </p:nvSpPr>
          <p:spPr>
            <a:xfrm>
              <a:off x="4475569" y="5954127"/>
              <a:ext cx="914400" cy="348110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C4846"/>
                  </a:solidFill>
                  <a:effectLst/>
                  <a:uLnTx/>
                  <a:uFillTx/>
                  <a:latin typeface="Aptos Light"/>
                  <a:ea typeface="MS PGothic"/>
                  <a:cs typeface="Calibri Light"/>
                </a:rPr>
                <a:t>Wellness Leader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77F5EED-2517-5F5F-68E0-2A9359204716}"/>
              </a:ext>
            </a:extLst>
          </p:cNvPr>
          <p:cNvGrpSpPr/>
          <p:nvPr/>
        </p:nvGrpSpPr>
        <p:grpSpPr>
          <a:xfrm>
            <a:off x="6351162" y="4696944"/>
            <a:ext cx="1280160" cy="914400"/>
            <a:chOff x="4879733" y="4605952"/>
            <a:chExt cx="1280160" cy="914400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1D7D735-84A8-C69A-73DB-A3D6A78A8F84}"/>
                </a:ext>
              </a:extLst>
            </p:cNvPr>
            <p:cNvSpPr txBox="1"/>
            <p:nvPr/>
          </p:nvSpPr>
          <p:spPr>
            <a:xfrm>
              <a:off x="4879733" y="4605952"/>
              <a:ext cx="1280160" cy="914400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D887946-62F7-52F9-2F6C-0A6F7ED96108}"/>
                </a:ext>
              </a:extLst>
            </p:cNvPr>
            <p:cNvSpPr txBox="1"/>
            <p:nvPr/>
          </p:nvSpPr>
          <p:spPr>
            <a:xfrm>
              <a:off x="5115649" y="4751418"/>
              <a:ext cx="914400" cy="225523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C4846"/>
                  </a:solidFill>
                  <a:effectLst/>
                  <a:uLnTx/>
                  <a:uFillTx/>
                  <a:latin typeface="Aptos Light"/>
                  <a:ea typeface="MS PGothic"/>
                  <a:cs typeface="Calibri Light"/>
                </a:rPr>
                <a:t>Employer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EA660A3-F05A-53C3-CD12-11984089AC0A}"/>
                </a:ext>
              </a:extLst>
            </p:cNvPr>
            <p:cNvSpPr txBox="1"/>
            <p:nvPr/>
          </p:nvSpPr>
          <p:spPr>
            <a:xfrm>
              <a:off x="5062613" y="5156624"/>
              <a:ext cx="914400" cy="225523"/>
            </a:xfrm>
            <a:prstGeom prst="roundRect">
              <a:avLst/>
            </a:prstGeom>
            <a:grpFill/>
            <a:ln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543705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1C4846"/>
                  </a:solidFill>
                  <a:effectLst/>
                  <a:uLnTx/>
                  <a:uFillTx/>
                  <a:latin typeface="Aptos Light"/>
                  <a:ea typeface="MS PGothic"/>
                  <a:cs typeface="Calibri Light"/>
                </a:rPr>
                <a:t>Total Rewards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16CF5621-DEBF-6133-D8E7-22BA6AD4B54B}"/>
              </a:ext>
            </a:extLst>
          </p:cNvPr>
          <p:cNvSpPr txBox="1"/>
          <p:nvPr/>
        </p:nvSpPr>
        <p:spPr>
          <a:xfrm>
            <a:off x="4222747" y="4272448"/>
            <a:ext cx="731520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Avg Deal: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E85032C-CC4F-17B2-677F-47672B94A0C6}"/>
              </a:ext>
            </a:extLst>
          </p:cNvPr>
          <p:cNvSpPr txBox="1"/>
          <p:nvPr/>
        </p:nvSpPr>
        <p:spPr>
          <a:xfrm>
            <a:off x="5001946" y="4272447"/>
            <a:ext cx="457200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C3B35B7-93A6-4ACC-5660-FC4826BE877A}"/>
              </a:ext>
            </a:extLst>
          </p:cNvPr>
          <p:cNvSpPr txBox="1"/>
          <p:nvPr/>
        </p:nvSpPr>
        <p:spPr>
          <a:xfrm>
            <a:off x="10575481" y="5060691"/>
            <a:ext cx="1417874" cy="283464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62B406C-C335-2687-BE2E-419737BF00A2}"/>
              </a:ext>
            </a:extLst>
          </p:cNvPr>
          <p:cNvSpPr txBox="1"/>
          <p:nvPr/>
        </p:nvSpPr>
        <p:spPr>
          <a:xfrm>
            <a:off x="127717" y="4946041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Pipeline Company </a:t>
            </a:r>
            <a:endParaRPr lang="en-US">
              <a:ea typeface="+mn-ea"/>
              <a:cs typeface="+mn-cs"/>
            </a:endParaRPr>
          </a:p>
        </p:txBody>
      </p:sp>
      <p:cxnSp>
        <p:nvCxnSpPr>
          <p:cNvPr id="95" name="Elbow Connector 94">
            <a:extLst>
              <a:ext uri="{FF2B5EF4-FFF2-40B4-BE49-F238E27FC236}">
                <a16:creationId xmlns:a16="http://schemas.microsoft.com/office/drawing/2014/main" id="{F9DBFA35-9490-CF56-B30D-E702ACDD02A3}"/>
              </a:ext>
            </a:extLst>
          </p:cNvPr>
          <p:cNvCxnSpPr>
            <a:stCxn id="93" idx="3"/>
            <a:endCxn id="79" idx="1"/>
          </p:cNvCxnSpPr>
          <p:nvPr/>
        </p:nvCxnSpPr>
        <p:spPr>
          <a:xfrm>
            <a:off x="1671698" y="5089662"/>
            <a:ext cx="1210045" cy="569961"/>
          </a:xfrm>
          <a:prstGeom prst="bentConnector3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Elbow Connector 95">
            <a:extLst>
              <a:ext uri="{FF2B5EF4-FFF2-40B4-BE49-F238E27FC236}">
                <a16:creationId xmlns:a16="http://schemas.microsoft.com/office/drawing/2014/main" id="{DECA6C9D-FAD0-4FBF-3B63-BE30EFDF9552}"/>
              </a:ext>
            </a:extLst>
          </p:cNvPr>
          <p:cNvCxnSpPr>
            <a:cxnSpLocks/>
            <a:stCxn id="68" idx="3"/>
            <a:endCxn id="52" idx="1"/>
          </p:cNvCxnSpPr>
          <p:nvPr/>
        </p:nvCxnSpPr>
        <p:spPr>
          <a:xfrm>
            <a:off x="5475053" y="5662992"/>
            <a:ext cx="877823" cy="56222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25000"/>
                <a:lumOff val="75000"/>
              </a:schemeClr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Elbow Connector 98">
            <a:extLst>
              <a:ext uri="{FF2B5EF4-FFF2-40B4-BE49-F238E27FC236}">
                <a16:creationId xmlns:a16="http://schemas.microsoft.com/office/drawing/2014/main" id="{9FEC6414-8B13-990B-7ABD-956C55234DBB}"/>
              </a:ext>
            </a:extLst>
          </p:cNvPr>
          <p:cNvCxnSpPr>
            <a:cxnSpLocks/>
            <a:stCxn id="91" idx="3"/>
            <a:endCxn id="87" idx="1"/>
          </p:cNvCxnSpPr>
          <p:nvPr/>
        </p:nvCxnSpPr>
        <p:spPr>
          <a:xfrm>
            <a:off x="5459146" y="4385209"/>
            <a:ext cx="892016" cy="768935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25000"/>
                <a:lumOff val="75000"/>
              </a:schemeClr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57973980-1E35-C585-950C-6A12C9E891E4}"/>
              </a:ext>
            </a:extLst>
          </p:cNvPr>
          <p:cNvCxnSpPr>
            <a:cxnSpLocks/>
            <a:stCxn id="91" idx="3"/>
            <a:endCxn id="50" idx="1"/>
          </p:cNvCxnSpPr>
          <p:nvPr/>
        </p:nvCxnSpPr>
        <p:spPr>
          <a:xfrm flipV="1">
            <a:off x="5459146" y="4141191"/>
            <a:ext cx="892016" cy="244018"/>
          </a:xfrm>
          <a:prstGeom prst="bentConnector3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C6A873A3-33C6-4BD4-86A8-1723A7EB1D3D}"/>
              </a:ext>
            </a:extLst>
          </p:cNvPr>
          <p:cNvCxnSpPr>
            <a:cxnSpLocks/>
            <a:stCxn id="93" idx="3"/>
            <a:endCxn id="51" idx="1"/>
          </p:cNvCxnSpPr>
          <p:nvPr/>
        </p:nvCxnSpPr>
        <p:spPr>
          <a:xfrm flipV="1">
            <a:off x="1671698" y="4385210"/>
            <a:ext cx="1222307" cy="704452"/>
          </a:xfrm>
          <a:prstGeom prst="bentConnector3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Elbow Connector 110">
            <a:extLst>
              <a:ext uri="{FF2B5EF4-FFF2-40B4-BE49-F238E27FC236}">
                <a16:creationId xmlns:a16="http://schemas.microsoft.com/office/drawing/2014/main" id="{BA78E1A8-D36A-EBEC-1785-E4AD6955D81B}"/>
              </a:ext>
            </a:extLst>
          </p:cNvPr>
          <p:cNvCxnSpPr>
            <a:cxnSpLocks/>
            <a:stCxn id="59" idx="3"/>
            <a:endCxn id="92" idx="1"/>
          </p:cNvCxnSpPr>
          <p:nvPr/>
        </p:nvCxnSpPr>
        <p:spPr>
          <a:xfrm>
            <a:off x="8980538" y="4140303"/>
            <a:ext cx="1594943" cy="1062120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25000"/>
                <a:lumOff val="75000"/>
              </a:schemeClr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Elbow Connector 116">
            <a:extLst>
              <a:ext uri="{FF2B5EF4-FFF2-40B4-BE49-F238E27FC236}">
                <a16:creationId xmlns:a16="http://schemas.microsoft.com/office/drawing/2014/main" id="{78D8D15C-39E9-1FAC-26F1-1ACFFE0E839E}"/>
              </a:ext>
            </a:extLst>
          </p:cNvPr>
          <p:cNvCxnSpPr>
            <a:cxnSpLocks/>
            <a:endCxn id="92" idx="1"/>
          </p:cNvCxnSpPr>
          <p:nvPr/>
        </p:nvCxnSpPr>
        <p:spPr>
          <a:xfrm flipV="1">
            <a:off x="8991840" y="5202423"/>
            <a:ext cx="1583641" cy="1017379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25000"/>
                <a:lumOff val="75000"/>
              </a:schemeClr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E81BD6F3-D463-B064-F465-1D00EC63F71F}"/>
              </a:ext>
            </a:extLst>
          </p:cNvPr>
          <p:cNvCxnSpPr>
            <a:cxnSpLocks/>
            <a:stCxn id="68" idx="3"/>
            <a:endCxn id="87" idx="1"/>
          </p:cNvCxnSpPr>
          <p:nvPr/>
        </p:nvCxnSpPr>
        <p:spPr>
          <a:xfrm flipV="1">
            <a:off x="5475053" y="5154144"/>
            <a:ext cx="876109" cy="508848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25000"/>
                <a:lumOff val="75000"/>
              </a:schemeClr>
            </a:solidFill>
            <a:prstDash val="solid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6EC8D3DA-A3AD-3A66-058D-14902F7F6DA8}"/>
              </a:ext>
            </a:extLst>
          </p:cNvPr>
          <p:cNvSpPr txBox="1"/>
          <p:nvPr/>
        </p:nvSpPr>
        <p:spPr>
          <a:xfrm>
            <a:off x="4648355" y="1684522"/>
            <a:ext cx="2131345" cy="28724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Channel Partnerships 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ACAA2837-B83E-8691-71FD-F17CCB0EE94A}"/>
              </a:ext>
            </a:extLst>
          </p:cNvPr>
          <p:cNvCxnSpPr>
            <a:stCxn id="57" idx="3"/>
            <a:endCxn id="92" idx="1"/>
          </p:cNvCxnSpPr>
          <p:nvPr/>
        </p:nvCxnSpPr>
        <p:spPr>
          <a:xfrm flipV="1">
            <a:off x="8991840" y="5202423"/>
            <a:ext cx="1583641" cy="5969"/>
          </a:xfrm>
          <a:prstGeom prst="straightConnector1">
            <a:avLst/>
          </a:prstGeom>
          <a:ln w="12700">
            <a:solidFill>
              <a:schemeClr val="tx1">
                <a:lumMod val="25000"/>
                <a:lumOff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ED367071-DE48-BCB4-9C5F-17DAED4BD550}"/>
              </a:ext>
            </a:extLst>
          </p:cNvPr>
          <p:cNvSpPr txBox="1"/>
          <p:nvPr/>
        </p:nvSpPr>
        <p:spPr>
          <a:xfrm>
            <a:off x="2412655" y="1315521"/>
            <a:ext cx="4345188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Vertical + Horizontal Distribution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34091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3101483"/>
            <a:ext cx="11831257" cy="649922"/>
          </a:xfrm>
          <a:prstGeom prst="rect">
            <a:avLst/>
          </a:prstGeom>
          <a:noFill/>
          <a:ln w="6350">
            <a:noFill/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</a:t>
            </a:r>
            <a:r>
              <a:rPr lang="en-US" sz="4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Success Plan Templates</a:t>
            </a:r>
            <a:endParaRPr lang="en-US" sz="4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00520219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5F4E3B-6AB1-A2DC-A7A7-66246324FD3F}"/>
              </a:ext>
            </a:extLst>
          </p:cNvPr>
          <p:cNvSpPr txBox="1"/>
          <p:nvPr/>
        </p:nvSpPr>
        <p:spPr>
          <a:xfrm>
            <a:off x="184177" y="502116"/>
            <a:ext cx="8405360" cy="480131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Neue Haas Grotesk Text Pro"/>
                <a:ea typeface="MS PGothic"/>
                <a:cs typeface="Calibri Light"/>
              </a:rPr>
              <a:t>SemperSystem Portfolio Products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93EC15-981E-F623-12C3-22CEDD17D84A}"/>
              </a:ext>
            </a:extLst>
          </p:cNvPr>
          <p:cNvGraphicFramePr>
            <a:graphicFrameLocks noGrp="1"/>
          </p:cNvGraphicFramePr>
          <p:nvPr/>
        </p:nvGraphicFramePr>
        <p:xfrm>
          <a:off x="184177" y="1259633"/>
          <a:ext cx="5731367" cy="510031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312875">
                  <a:extLst>
                    <a:ext uri="{9D8B030D-6E8A-4147-A177-3AD203B41FA5}">
                      <a16:colId xmlns:a16="http://schemas.microsoft.com/office/drawing/2014/main" val="1558177514"/>
                    </a:ext>
                  </a:extLst>
                </a:gridCol>
                <a:gridCol w="1418492">
                  <a:extLst>
                    <a:ext uri="{9D8B030D-6E8A-4147-A177-3AD203B41FA5}">
                      <a16:colId xmlns:a16="http://schemas.microsoft.com/office/drawing/2014/main" val="2078549193"/>
                    </a:ext>
                  </a:extLst>
                </a:gridCol>
              </a:tblGrid>
              <a:tr h="534445">
                <a:tc>
                  <a:txBody>
                    <a:bodyPr/>
                    <a:lstStyle/>
                    <a:p>
                      <a:r>
                        <a:rPr lang="en-US" sz="2800"/>
                        <a:t> Products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86705582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/>
                        <a:t>Race to 20</a:t>
                      </a:r>
                    </a:p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D2F32"/>
                          </a:solidFill>
                          <a:latin typeface="Arial"/>
                        </a:rPr>
                        <a:t>20 introductions within target market 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796B"/>
                          </a:solidFill>
                        </a:rPr>
                        <a:t>5 points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906083940"/>
                  </a:ext>
                </a:extLst>
              </a:tr>
              <a:tr h="521068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Advisor Session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D2F32"/>
                          </a:solidFill>
                          <a:latin typeface="Arial"/>
                        </a:rPr>
                        <a:t>Advisor Introductory (2) or Feedback session (4) with target advisor group to gain insight into product, go to market strategy and more</a:t>
                      </a:r>
                      <a:endParaRPr lang="en-US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200" b="1" kern="1200">
                          <a:solidFill>
                            <a:srgbClr val="00796B"/>
                          </a:solidFill>
                          <a:latin typeface="+mn-lt"/>
                          <a:ea typeface="+mn-ea"/>
                          <a:cs typeface="+mn-cs"/>
                        </a:rPr>
                        <a:t>2-4 points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587928238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/>
                        <a:t>Happy Hour/Dinner Sponsor</a:t>
                      </a:r>
                    </a:p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D2F32"/>
                          </a:solidFill>
                          <a:latin typeface="Arial"/>
                        </a:rPr>
                        <a:t>Co-Host Happy Hour/Dinner with target market attendees, prospects, VC alignment and other strategic connections</a:t>
                      </a:r>
                      <a:endParaRPr lang="en-US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200">
                          <a:solidFill>
                            <a:srgbClr val="00796B"/>
                          </a:solidFill>
                          <a:latin typeface="+mn-lt"/>
                          <a:ea typeface="+mn-ea"/>
                          <a:cs typeface="+mn-cs"/>
                        </a:rPr>
                        <a:t>3 points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827283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Speaking Engagement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D2F32"/>
                          </a:solidFill>
                          <a:latin typeface="Arial"/>
                        </a:rPr>
                        <a:t>High-level exposure to SemperVirens ecosystem at industry event</a:t>
                      </a:r>
                      <a:endParaRPr lang="en-US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200">
                          <a:solidFill>
                            <a:srgbClr val="00796B"/>
                          </a:solidFill>
                          <a:latin typeface="+mn-lt"/>
                          <a:ea typeface="+mn-ea"/>
                          <a:cs typeface="+mn-cs"/>
                        </a:rPr>
                        <a:t>5 points</a:t>
                      </a:r>
                      <a:endParaRPr lang="en-US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442221326"/>
                  </a:ext>
                </a:extLst>
              </a:tr>
              <a:tr h="359849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Strategic Partner Events &amp; Introductions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rgbClr val="1D2F32"/>
                          </a:solidFill>
                          <a:latin typeface="Arial"/>
                        </a:rPr>
                        <a:t>Introduction to industry leading event and partner connections to elevate portco brand</a:t>
                      </a:r>
                      <a:endParaRPr lang="en-US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796B"/>
                          </a:solidFill>
                          <a:latin typeface="Aptos"/>
                        </a:rPr>
                        <a:t>4 points</a:t>
                      </a:r>
                      <a:endParaRPr lang="en-US" sz="1200" b="0" i="0" u="none" strike="noStrike" noProof="0">
                        <a:solidFill>
                          <a:srgbClr val="1D2F32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2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265202666"/>
                  </a:ext>
                </a:extLst>
              </a:tr>
              <a:tr h="35984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tx1"/>
                          </a:solidFill>
                        </a:rPr>
                        <a:t>New Partnerships Build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rgbClr val="1D2F32"/>
                          </a:solidFill>
                          <a:latin typeface="Arial"/>
                        </a:rPr>
                        <a:t>Line of site to New Large Distribution Channels</a:t>
                      </a:r>
                      <a:endParaRPr lang="en-US"/>
                    </a:p>
                  </a:txBody>
                  <a:tcPr marL="121920" marR="121920" marT="60959" marB="60959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796B"/>
                          </a:solidFill>
                          <a:latin typeface="Aptos"/>
                        </a:rPr>
                        <a:t>10 points</a:t>
                      </a:r>
                      <a:endParaRPr lang="en-US" sz="1200" b="0" i="0" u="none" strike="noStrike" noProof="0">
                        <a:solidFill>
                          <a:srgbClr val="1D2F32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200"/>
                    </a:p>
                  </a:txBody>
                  <a:tcPr marL="121920" marR="121920" marT="60959" marB="60959"/>
                </a:tc>
                <a:extLst>
                  <a:ext uri="{0D108BD9-81ED-4DB2-BD59-A6C34878D82A}">
                    <a16:rowId xmlns:a16="http://schemas.microsoft.com/office/drawing/2014/main" val="4124033996"/>
                  </a:ext>
                </a:extLst>
              </a:tr>
              <a:tr h="359849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2F32"/>
                        </a:buClr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tx1"/>
                          </a:solidFill>
                        </a:rPr>
                        <a:t>New Community Build</a:t>
                      </a:r>
                      <a:endParaRPr lang="en-US" sz="1400" b="0" i="0" u="none" strike="noStrike" kern="1200" noProof="0">
                        <a:solidFill>
                          <a:srgbClr val="1D2F32"/>
                        </a:solidFill>
                      </a:endParaRP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rgbClr val="1D2F32"/>
                          </a:solidFill>
                          <a:latin typeface="Arial"/>
                        </a:rPr>
                        <a:t>Line of site to New customer market relationships</a:t>
                      </a:r>
                      <a:endParaRPr lang="en-US" sz="1400" b="0" i="0" u="none" strike="noStrike" kern="1200" noProof="0">
                        <a:solidFill>
                          <a:srgbClr val="1D2F32"/>
                        </a:solidFill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noProof="0">
                        <a:solidFill>
                          <a:srgbClr val="1D2F32"/>
                        </a:solidFill>
                        <a:latin typeface="Arial"/>
                      </a:endParaRPr>
                    </a:p>
                  </a:txBody>
                  <a:tcPr marL="121920" marR="121920" marT="60959" marB="60959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796B"/>
                          </a:solidFill>
                          <a:latin typeface="Aptos"/>
                        </a:rPr>
                        <a:t>10 points</a:t>
                      </a:r>
                      <a:endParaRPr lang="en-US" sz="1200" b="0" i="0" u="none" strike="noStrike" noProof="0">
                        <a:solidFill>
                          <a:srgbClr val="1D2F32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200"/>
                    </a:p>
                  </a:txBody>
                  <a:tcPr marL="121920" marR="121920" marT="60959" marB="60959"/>
                </a:tc>
                <a:extLst>
                  <a:ext uri="{0D108BD9-81ED-4DB2-BD59-A6C34878D82A}">
                    <a16:rowId xmlns:a16="http://schemas.microsoft.com/office/drawing/2014/main" val="241938802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51E225-B7AC-7188-4ABE-A87B54184AD8}"/>
              </a:ext>
            </a:extLst>
          </p:cNvPr>
          <p:cNvGraphicFramePr>
            <a:graphicFrameLocks noGrp="1"/>
          </p:cNvGraphicFramePr>
          <p:nvPr/>
        </p:nvGraphicFramePr>
        <p:xfrm>
          <a:off x="6280177" y="1259633"/>
          <a:ext cx="5731367" cy="4571998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4312875">
                  <a:extLst>
                    <a:ext uri="{9D8B030D-6E8A-4147-A177-3AD203B41FA5}">
                      <a16:colId xmlns:a16="http://schemas.microsoft.com/office/drawing/2014/main" val="1558177514"/>
                    </a:ext>
                  </a:extLst>
                </a:gridCol>
                <a:gridCol w="1418492">
                  <a:extLst>
                    <a:ext uri="{9D8B030D-6E8A-4147-A177-3AD203B41FA5}">
                      <a16:colId xmlns:a16="http://schemas.microsoft.com/office/drawing/2014/main" val="2078549193"/>
                    </a:ext>
                  </a:extLst>
                </a:gridCol>
              </a:tblGrid>
              <a:tr h="534445">
                <a:tc>
                  <a:txBody>
                    <a:bodyPr/>
                    <a:lstStyle/>
                    <a:p>
                      <a:r>
                        <a:rPr lang="en-US" sz="2800"/>
                        <a:t> Products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endParaRPr lang="en-US" sz="12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867055828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/>
                        <a:t>Custom Advisory Board</a:t>
                      </a:r>
                    </a:p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D2F32"/>
                          </a:solidFill>
                          <a:latin typeface="Arial"/>
                        </a:rPr>
                        <a:t>Co-build advisory board utilizing SemperVirens ecosystem to align strategic goals to specific persona </a:t>
                      </a:r>
                      <a:endParaRPr lang="en-US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200" b="1">
                          <a:solidFill>
                            <a:srgbClr val="00796B"/>
                          </a:solidFill>
                        </a:rPr>
                        <a:t>7 points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906083940"/>
                  </a:ext>
                </a:extLst>
              </a:tr>
              <a:tr h="521068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Monthly Activation Meetings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D2F32"/>
                          </a:solidFill>
                          <a:latin typeface="Arial"/>
                        </a:rPr>
                        <a:t>Time monthly with platform team to build, track and report on activations </a:t>
                      </a:r>
                      <a:endParaRPr lang="en-US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lang="en-US" sz="1200" b="1" kern="1200">
                          <a:solidFill>
                            <a:srgbClr val="00796B"/>
                          </a:solidFill>
                          <a:latin typeface="+mn-lt"/>
                          <a:ea typeface="+mn-ea"/>
                          <a:cs typeface="+mn-cs"/>
                        </a:rPr>
                        <a:t>1 point / meeting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587928238"/>
                  </a:ext>
                </a:extLst>
              </a:tr>
              <a:tr h="16681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/>
                        <a:t>Quarterly Strategic Review</a:t>
                      </a:r>
                    </a:p>
                    <a:p>
                      <a:pPr lvl="0"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D2F32"/>
                          </a:solidFill>
                          <a:latin typeface="Arial"/>
                        </a:rPr>
                        <a:t>Time quarterly with the platform team, lead investor and other network heavy weights to review ongoing goals. </a:t>
                      </a:r>
                      <a:endParaRPr lang="en-US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200">
                          <a:solidFill>
                            <a:srgbClr val="00796B"/>
                          </a:solidFill>
                          <a:latin typeface="+mn-lt"/>
                          <a:ea typeface="+mn-ea"/>
                          <a:cs typeface="+mn-cs"/>
                        </a:rPr>
                        <a:t>3 points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3827283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/>
                        <a:t>Resource Allocation</a:t>
                      </a:r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1D2F32"/>
                          </a:solidFill>
                          <a:latin typeface="Arial"/>
                        </a:rPr>
                        <a:t>Marketing ops, talent support, etc. - additional meetings or introductions outside of cadence for focused support on GTM function, marketing ops, talent support, etc. </a:t>
                      </a:r>
                      <a:endParaRPr lang="en-US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kern="1200">
                          <a:solidFill>
                            <a:srgbClr val="00796B"/>
                          </a:solidFill>
                          <a:latin typeface="+mn-lt"/>
                          <a:ea typeface="+mn-ea"/>
                          <a:cs typeface="+mn-cs"/>
                        </a:rPr>
                        <a:t>2 points</a:t>
                      </a:r>
                      <a:endParaRPr lang="en-US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442221326"/>
                  </a:ext>
                </a:extLst>
              </a:tr>
              <a:tr h="359849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Innovation Strategic LP "Innovation Showcase"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rgbClr val="1D2F32"/>
                          </a:solidFill>
                          <a:latin typeface="Arial"/>
                        </a:rPr>
                        <a:t>90-minute session with a strategic LP wherein portco provides overview of solution </a:t>
                      </a:r>
                      <a:endParaRPr lang="en-US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796B"/>
                          </a:solidFill>
                          <a:latin typeface="Aptos"/>
                        </a:rPr>
                        <a:t>7 points</a:t>
                      </a:r>
                      <a:endParaRPr lang="en-US" sz="1200" b="0" i="0" u="none" strike="noStrike" noProof="0">
                        <a:solidFill>
                          <a:srgbClr val="1D2F32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20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265202666"/>
                  </a:ext>
                </a:extLst>
              </a:tr>
              <a:tr h="35984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kern="1200" noProof="0">
                          <a:solidFill>
                            <a:schemeClr val="tx1"/>
                          </a:solidFill>
                        </a:rPr>
                        <a:t>LinkedIn Elevation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>
                          <a:solidFill>
                            <a:srgbClr val="1D2F32"/>
                          </a:solidFill>
                          <a:latin typeface="Arial"/>
                        </a:rPr>
                        <a:t>SemperVirens posts on LinkedIn on behalf of portfolio company </a:t>
                      </a:r>
                    </a:p>
                  </a:txBody>
                  <a:tcPr marL="121920" marR="121920" marT="60959" marB="60959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noProof="0">
                          <a:solidFill>
                            <a:srgbClr val="00796B"/>
                          </a:solidFill>
                          <a:latin typeface="Aptos"/>
                        </a:rPr>
                        <a:t>2-4 points</a:t>
                      </a:r>
                      <a:endParaRPr lang="en-US" sz="1200" b="0" i="0" u="none" strike="noStrike" noProof="0">
                        <a:solidFill>
                          <a:srgbClr val="1D2F32"/>
                        </a:solidFill>
                        <a:latin typeface="Aptos"/>
                      </a:endParaRPr>
                    </a:p>
                    <a:p>
                      <a:pPr lvl="0">
                        <a:buNone/>
                      </a:pPr>
                      <a:endParaRPr lang="en-US" sz="1200"/>
                    </a:p>
                  </a:txBody>
                  <a:tcPr marL="121920" marR="121920" marT="60959" marB="60959"/>
                </a:tc>
                <a:extLst>
                  <a:ext uri="{0D108BD9-81ED-4DB2-BD59-A6C34878D82A}">
                    <a16:rowId xmlns:a16="http://schemas.microsoft.com/office/drawing/2014/main" val="4124033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812974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496269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 </a:t>
            </a:r>
            <a:r>
              <a:rPr lang="en-US" sz="2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| New Investment Success Plan Suite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A0355-BC6F-1766-DBA4-6D40B2D8839B}"/>
              </a:ext>
            </a:extLst>
          </p:cNvPr>
          <p:cNvSpPr txBox="1"/>
          <p:nvPr/>
        </p:nvSpPr>
        <p:spPr>
          <a:xfrm>
            <a:off x="176957" y="991705"/>
            <a:ext cx="1183125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SemperSystem Activations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586ADC-8AA5-DB6A-4A85-EEA59238934E}"/>
              </a:ext>
            </a:extLst>
          </p:cNvPr>
          <p:cNvSpPr txBox="1"/>
          <p:nvPr/>
        </p:nvSpPr>
        <p:spPr>
          <a:xfrm>
            <a:off x="176957" y="1600943"/>
            <a:ext cx="914400" cy="51673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/>
              <a:t>Advisor Feedback Session</a:t>
            </a:r>
            <a:endParaRPr lang="en-US" sz="900"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E8AE67-7D5D-72A3-346B-AAAE1AC98469}"/>
              </a:ext>
            </a:extLst>
          </p:cNvPr>
          <p:cNvSpPr txBox="1">
            <a:spLocks noChangeAspect="1"/>
          </p:cNvSpPr>
          <p:nvPr/>
        </p:nvSpPr>
        <p:spPr>
          <a:xfrm>
            <a:off x="1179534" y="1404896"/>
            <a:ext cx="2998186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6DA435-E775-4D1A-823B-7AC056D4D59C}"/>
              </a:ext>
            </a:extLst>
          </p:cNvPr>
          <p:cNvSpPr txBox="1">
            <a:spLocks/>
          </p:cNvSpPr>
          <p:nvPr/>
        </p:nvSpPr>
        <p:spPr>
          <a:xfrm>
            <a:off x="186526" y="2614411"/>
            <a:ext cx="914400" cy="37882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Target Introductions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3BF5B-4AF4-15B0-AF6F-E9317DBDBE22}"/>
              </a:ext>
            </a:extLst>
          </p:cNvPr>
          <p:cNvSpPr txBox="1">
            <a:spLocks noChangeAspect="1"/>
          </p:cNvSpPr>
          <p:nvPr/>
        </p:nvSpPr>
        <p:spPr>
          <a:xfrm>
            <a:off x="1198672" y="2351708"/>
            <a:ext cx="2998186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E1BDE2-CC93-B285-2974-F9DBB95E1AAC}"/>
              </a:ext>
            </a:extLst>
          </p:cNvPr>
          <p:cNvSpPr txBox="1"/>
          <p:nvPr/>
        </p:nvSpPr>
        <p:spPr>
          <a:xfrm>
            <a:off x="176957" y="3490957"/>
            <a:ext cx="914400" cy="51673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Co-Host Industry Event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6AAACC-058E-5A4C-4872-E8F89F31964F}"/>
              </a:ext>
            </a:extLst>
          </p:cNvPr>
          <p:cNvSpPr txBox="1">
            <a:spLocks noChangeAspect="1"/>
          </p:cNvSpPr>
          <p:nvPr/>
        </p:nvSpPr>
        <p:spPr>
          <a:xfrm>
            <a:off x="1198672" y="3306154"/>
            <a:ext cx="2998186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E94FDE-489D-C95F-1D35-6F764182A335}"/>
              </a:ext>
            </a:extLst>
          </p:cNvPr>
          <p:cNvSpPr txBox="1"/>
          <p:nvPr/>
        </p:nvSpPr>
        <p:spPr>
          <a:xfrm>
            <a:off x="176957" y="4528387"/>
            <a:ext cx="914400" cy="37882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Speaking Engagement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59CEC4-449E-2D1C-1574-9AB9E20A6488}"/>
              </a:ext>
            </a:extLst>
          </p:cNvPr>
          <p:cNvSpPr txBox="1">
            <a:spLocks noChangeAspect="1"/>
          </p:cNvSpPr>
          <p:nvPr/>
        </p:nvSpPr>
        <p:spPr>
          <a:xfrm>
            <a:off x="1198672" y="4274629"/>
            <a:ext cx="2998186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EAB628-B6E5-9063-306D-45359B61E3E5}"/>
              </a:ext>
            </a:extLst>
          </p:cNvPr>
          <p:cNvSpPr txBox="1"/>
          <p:nvPr/>
        </p:nvSpPr>
        <p:spPr>
          <a:xfrm>
            <a:off x="176957" y="5496862"/>
            <a:ext cx="914400" cy="37882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Strategic Partnerships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F74D2A-E7BD-8B2F-E9B1-77DA45A351F7}"/>
              </a:ext>
            </a:extLst>
          </p:cNvPr>
          <p:cNvSpPr txBox="1">
            <a:spLocks noChangeAspect="1"/>
          </p:cNvSpPr>
          <p:nvPr/>
        </p:nvSpPr>
        <p:spPr>
          <a:xfrm>
            <a:off x="1198672" y="5243104"/>
            <a:ext cx="2998186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DECAEC-BA22-795E-C2F2-08E7B6139BDB}"/>
              </a:ext>
            </a:extLst>
          </p:cNvPr>
          <p:cNvSpPr txBox="1"/>
          <p:nvPr/>
        </p:nvSpPr>
        <p:spPr>
          <a:xfrm>
            <a:off x="4285035" y="1671043"/>
            <a:ext cx="914400" cy="37882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New Partnerships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360AC82-CDF9-34B8-1A1D-61A1B1331699}"/>
              </a:ext>
            </a:extLst>
          </p:cNvPr>
          <p:cNvSpPr txBox="1">
            <a:spLocks noChangeAspect="1"/>
          </p:cNvSpPr>
          <p:nvPr/>
        </p:nvSpPr>
        <p:spPr>
          <a:xfrm>
            <a:off x="5287612" y="1404896"/>
            <a:ext cx="2998186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4BDB4CE-2C2A-394A-1523-43EE29F05117}"/>
              </a:ext>
            </a:extLst>
          </p:cNvPr>
          <p:cNvSpPr txBox="1"/>
          <p:nvPr/>
        </p:nvSpPr>
        <p:spPr>
          <a:xfrm>
            <a:off x="4285035" y="2605466"/>
            <a:ext cx="914400" cy="37882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Strategic Insights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647D5D0-4957-8C8A-C89F-EFE264F391EF}"/>
              </a:ext>
            </a:extLst>
          </p:cNvPr>
          <p:cNvSpPr txBox="1">
            <a:spLocks noChangeAspect="1"/>
          </p:cNvSpPr>
          <p:nvPr/>
        </p:nvSpPr>
        <p:spPr>
          <a:xfrm>
            <a:off x="5306750" y="2351708"/>
            <a:ext cx="2998186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AEC3DF-2B18-5BE9-CE1D-1508E3459FE6}"/>
              </a:ext>
            </a:extLst>
          </p:cNvPr>
          <p:cNvSpPr txBox="1"/>
          <p:nvPr/>
        </p:nvSpPr>
        <p:spPr>
          <a:xfrm>
            <a:off x="4285035" y="3559912"/>
            <a:ext cx="914400" cy="37882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Resource Allocation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2F2407A-657E-524D-6D09-51E1BCC4F1B7}"/>
              </a:ext>
            </a:extLst>
          </p:cNvPr>
          <p:cNvSpPr txBox="1">
            <a:spLocks noChangeAspect="1"/>
          </p:cNvSpPr>
          <p:nvPr/>
        </p:nvSpPr>
        <p:spPr>
          <a:xfrm>
            <a:off x="5306750" y="3306154"/>
            <a:ext cx="2998186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66E3BE4-1F32-46B8-CA1C-DFFEAB2E92F9}"/>
              </a:ext>
            </a:extLst>
          </p:cNvPr>
          <p:cNvSpPr txBox="1">
            <a:spLocks noChangeAspect="1"/>
          </p:cNvSpPr>
          <p:nvPr/>
        </p:nvSpPr>
        <p:spPr>
          <a:xfrm>
            <a:off x="5306750" y="4274629"/>
            <a:ext cx="2998186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A335615-66FB-E80E-425B-E12F25558E4B}"/>
              </a:ext>
            </a:extLst>
          </p:cNvPr>
          <p:cNvSpPr txBox="1">
            <a:spLocks noChangeAspect="1"/>
          </p:cNvSpPr>
          <p:nvPr/>
        </p:nvSpPr>
        <p:spPr>
          <a:xfrm>
            <a:off x="5306750" y="5243104"/>
            <a:ext cx="2998186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59102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496269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 </a:t>
            </a:r>
            <a:r>
              <a:rPr lang="en-US" sz="2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| New Investment Success Plan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3EC12-82D4-E67D-C1DD-DEFED87ACD22}"/>
              </a:ext>
            </a:extLst>
          </p:cNvPr>
          <p:cNvSpPr txBox="1"/>
          <p:nvPr/>
        </p:nvSpPr>
        <p:spPr>
          <a:xfrm>
            <a:off x="163751" y="1305619"/>
            <a:ext cx="1543981" cy="1545336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PORTCO LOGO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A0355-BC6F-1766-DBA4-6D40B2D8839B}"/>
              </a:ext>
            </a:extLst>
          </p:cNvPr>
          <p:cNvSpPr txBox="1"/>
          <p:nvPr/>
        </p:nvSpPr>
        <p:spPr>
          <a:xfrm>
            <a:off x="1828253" y="991705"/>
            <a:ext cx="10179961" cy="287242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SemperSystem Activations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11F28B-C900-E17E-E704-C3AD05072BA4}"/>
              </a:ext>
            </a:extLst>
          </p:cNvPr>
          <p:cNvSpPr txBox="1"/>
          <p:nvPr/>
        </p:nvSpPr>
        <p:spPr>
          <a:xfrm>
            <a:off x="176956" y="991705"/>
            <a:ext cx="1543981" cy="287242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New Investment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D84151-DEC8-B8EB-1083-70BF33E27261}"/>
              </a:ext>
            </a:extLst>
          </p:cNvPr>
          <p:cNvSpPr txBox="1"/>
          <p:nvPr/>
        </p:nvSpPr>
        <p:spPr>
          <a:xfrm>
            <a:off x="1828254" y="1304790"/>
            <a:ext cx="4019900" cy="298067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Success Plan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586ADC-8AA5-DB6A-4A85-EEA59238934E}"/>
              </a:ext>
            </a:extLst>
          </p:cNvPr>
          <p:cNvSpPr txBox="1"/>
          <p:nvPr/>
        </p:nvSpPr>
        <p:spPr>
          <a:xfrm>
            <a:off x="1827706" y="1634031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68207A-8DFE-4D77-E928-88CBD526ADAC}"/>
              </a:ext>
            </a:extLst>
          </p:cNvPr>
          <p:cNvSpPr txBox="1"/>
          <p:nvPr/>
        </p:nvSpPr>
        <p:spPr>
          <a:xfrm>
            <a:off x="5885514" y="3325598"/>
            <a:ext cx="611154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Next Steps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104CD3-813A-A67A-4F5F-CE41531307D4}"/>
              </a:ext>
            </a:extLst>
          </p:cNvPr>
          <p:cNvSpPr txBox="1"/>
          <p:nvPr/>
        </p:nvSpPr>
        <p:spPr>
          <a:xfrm>
            <a:off x="5885514" y="3663834"/>
            <a:ext cx="6111547" cy="379750"/>
          </a:xfrm>
          <a:prstGeom prst="roundRect">
            <a:avLst/>
          </a:prstGeom>
          <a:noFill/>
          <a:ln>
            <a:noFill/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5E729-0CD5-8ABF-B4F1-71C710D39486}"/>
              </a:ext>
            </a:extLst>
          </p:cNvPr>
          <p:cNvSpPr txBox="1"/>
          <p:nvPr/>
        </p:nvSpPr>
        <p:spPr>
          <a:xfrm>
            <a:off x="5885514" y="1953980"/>
            <a:ext cx="914400" cy="457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Monthly Platform Check-In’s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7EBE1-2EC3-211D-50B6-4A2AD2C366E0}"/>
              </a:ext>
            </a:extLst>
          </p:cNvPr>
          <p:cNvSpPr txBox="1"/>
          <p:nvPr/>
        </p:nvSpPr>
        <p:spPr>
          <a:xfrm>
            <a:off x="5874361" y="1301249"/>
            <a:ext cx="6140681" cy="298067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Process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E8AE67-7D5D-72A3-346B-AAAE1AC98469}"/>
              </a:ext>
            </a:extLst>
          </p:cNvPr>
          <p:cNvSpPr txBox="1"/>
          <p:nvPr/>
        </p:nvSpPr>
        <p:spPr>
          <a:xfrm>
            <a:off x="2781767" y="1626569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6DA435-E775-4D1A-823B-7AC056D4D59C}"/>
              </a:ext>
            </a:extLst>
          </p:cNvPr>
          <p:cNvSpPr txBox="1"/>
          <p:nvPr/>
        </p:nvSpPr>
        <p:spPr>
          <a:xfrm>
            <a:off x="1827706" y="2568454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3BF5B-4AF4-15B0-AF6F-E9317DBDBE22}"/>
              </a:ext>
            </a:extLst>
          </p:cNvPr>
          <p:cNvSpPr txBox="1"/>
          <p:nvPr/>
        </p:nvSpPr>
        <p:spPr>
          <a:xfrm>
            <a:off x="2781767" y="2582774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E1BDE2-CC93-B285-2974-F9DBB95E1AAC}"/>
              </a:ext>
            </a:extLst>
          </p:cNvPr>
          <p:cNvSpPr txBox="1"/>
          <p:nvPr/>
        </p:nvSpPr>
        <p:spPr>
          <a:xfrm>
            <a:off x="1827706" y="3511749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6AAACC-058E-5A4C-4872-E8F89F31964F}"/>
              </a:ext>
            </a:extLst>
          </p:cNvPr>
          <p:cNvSpPr txBox="1"/>
          <p:nvPr/>
        </p:nvSpPr>
        <p:spPr>
          <a:xfrm>
            <a:off x="2781767" y="3538048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E94FDE-489D-C95F-1D35-6F764182A335}"/>
              </a:ext>
            </a:extLst>
          </p:cNvPr>
          <p:cNvSpPr txBox="1"/>
          <p:nvPr/>
        </p:nvSpPr>
        <p:spPr>
          <a:xfrm>
            <a:off x="1827706" y="4480224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59CEC4-449E-2D1C-1574-9AB9E20A6488}"/>
              </a:ext>
            </a:extLst>
          </p:cNvPr>
          <p:cNvSpPr txBox="1"/>
          <p:nvPr/>
        </p:nvSpPr>
        <p:spPr>
          <a:xfrm>
            <a:off x="2780013" y="4500388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EAB628-B6E5-9063-306D-45359B61E3E5}"/>
              </a:ext>
            </a:extLst>
          </p:cNvPr>
          <p:cNvSpPr txBox="1"/>
          <p:nvPr/>
        </p:nvSpPr>
        <p:spPr>
          <a:xfrm>
            <a:off x="1827706" y="5448699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F74D2A-E7BD-8B2F-E9B1-77DA45A351F7}"/>
              </a:ext>
            </a:extLst>
          </p:cNvPr>
          <p:cNvSpPr txBox="1"/>
          <p:nvPr/>
        </p:nvSpPr>
        <p:spPr>
          <a:xfrm>
            <a:off x="2780013" y="5448699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F736E2-55B8-D7EB-8855-2DB3DE9C20CA}"/>
              </a:ext>
            </a:extLst>
          </p:cNvPr>
          <p:cNvSpPr txBox="1"/>
          <p:nvPr/>
        </p:nvSpPr>
        <p:spPr>
          <a:xfrm>
            <a:off x="180147" y="5746390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Last Updated: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666B81-48B8-0DB3-2DA1-AF9708FB200E}"/>
              </a:ext>
            </a:extLst>
          </p:cNvPr>
          <p:cNvSpPr txBox="1"/>
          <p:nvPr/>
        </p:nvSpPr>
        <p:spPr>
          <a:xfrm>
            <a:off x="173727" y="2934118"/>
            <a:ext cx="1514920" cy="225523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800" err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PortCo</a:t>
            </a:r>
            <a:r>
              <a:rPr lang="en-US" sz="8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 Contact</a:t>
            </a:r>
            <a:endParaRPr lang="en-US" sz="800">
              <a:ea typeface="+mn-ea"/>
              <a:cs typeface="+mn-cs"/>
            </a:endParaRPr>
          </a:p>
        </p:txBody>
      </p:sp>
      <p:pic>
        <p:nvPicPr>
          <p:cNvPr id="11" name="Picture 10" descr="A person wearing glasses and a red shirt&#10;&#10;Description automatically generated">
            <a:extLst>
              <a:ext uri="{FF2B5EF4-FFF2-40B4-BE49-F238E27FC236}">
                <a16:creationId xmlns:a16="http://schemas.microsoft.com/office/drawing/2014/main" id="{634C0F03-F4B1-882A-22F7-4696F1658F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07372" y="4138465"/>
            <a:ext cx="560347" cy="560347"/>
          </a:xfrm>
          <a:prstGeom prst="ellipse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BCDD5C-8724-BC32-5C91-7AD6462AD660}"/>
              </a:ext>
            </a:extLst>
          </p:cNvPr>
          <p:cNvSpPr txBox="1"/>
          <p:nvPr/>
        </p:nvSpPr>
        <p:spPr>
          <a:xfrm>
            <a:off x="5874361" y="2827176"/>
            <a:ext cx="914400" cy="457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/>
              <a:t>Quarterly Strategic Reviews</a:t>
            </a:r>
            <a:endParaRPr lang="en-US" sz="900"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103171-E284-D9C7-DB8D-846FD4DCC0B2}"/>
              </a:ext>
            </a:extLst>
          </p:cNvPr>
          <p:cNvSpPr txBox="1"/>
          <p:nvPr/>
        </p:nvSpPr>
        <p:spPr>
          <a:xfrm>
            <a:off x="5885514" y="1636879"/>
            <a:ext cx="914400" cy="28346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/>
              <a:t>Slack Integration</a:t>
            </a:r>
            <a:endParaRPr lang="en-US" sz="900"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508F75-AE67-9666-B625-A27B170D9E0E}"/>
              </a:ext>
            </a:extLst>
          </p:cNvPr>
          <p:cNvSpPr txBox="1"/>
          <p:nvPr/>
        </p:nvSpPr>
        <p:spPr>
          <a:xfrm>
            <a:off x="180147" y="4713207"/>
            <a:ext cx="1527585" cy="697709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8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Dalton Dahms-Shermer</a:t>
            </a:r>
          </a:p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800">
                <a:solidFill>
                  <a:srgbClr val="1C4846"/>
                </a:solidFill>
                <a:latin typeface="Aptos Light"/>
                <a:ea typeface="MS PGothic"/>
                <a:cs typeface="Calibri Light"/>
                <a:hlinkClick r:id="rId5"/>
              </a:rPr>
              <a:t>Dalton@sempervirensvc.com</a:t>
            </a:r>
            <a:endParaRPr lang="en-US" sz="800">
              <a:solidFill>
                <a:srgbClr val="1C4846"/>
              </a:solidFill>
              <a:latin typeface="Aptos Light"/>
              <a:ea typeface="MS PGothic"/>
              <a:cs typeface="Calibri Light"/>
            </a:endParaRPr>
          </a:p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8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P: (218) 371-7959</a:t>
            </a:r>
            <a:endParaRPr lang="en-US" sz="800"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D57FCA-7F88-3E18-6C02-B1963E76D484}"/>
              </a:ext>
            </a:extLst>
          </p:cNvPr>
          <p:cNvSpPr txBox="1"/>
          <p:nvPr/>
        </p:nvSpPr>
        <p:spPr>
          <a:xfrm>
            <a:off x="176956" y="6087493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11/22/2024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7273A1-C399-FE0F-78C3-B094FC2E930C}"/>
              </a:ext>
            </a:extLst>
          </p:cNvPr>
          <p:cNvSpPr txBox="1"/>
          <p:nvPr/>
        </p:nvSpPr>
        <p:spPr>
          <a:xfrm>
            <a:off x="6837819" y="1951297"/>
            <a:ext cx="5170393" cy="457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ea typeface="+mn-ea"/>
                <a:cs typeface="+mn-cs"/>
              </a:rPr>
              <a:t>30-minute check-ins with platform team on progress of activations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E2AE02-0474-3817-695B-B347DE16869B}"/>
              </a:ext>
            </a:extLst>
          </p:cNvPr>
          <p:cNvSpPr txBox="1"/>
          <p:nvPr/>
        </p:nvSpPr>
        <p:spPr>
          <a:xfrm>
            <a:off x="6837820" y="1636879"/>
            <a:ext cx="5170393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/>
              <a:t>Communication tool</a:t>
            </a:r>
            <a:endParaRPr lang="en-US" sz="1200"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E50C5A-71DC-8F44-1C1C-35BEA780C497}"/>
              </a:ext>
            </a:extLst>
          </p:cNvPr>
          <p:cNvSpPr txBox="1"/>
          <p:nvPr/>
        </p:nvSpPr>
        <p:spPr>
          <a:xfrm>
            <a:off x="5885514" y="2431365"/>
            <a:ext cx="914400" cy="37882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Dock Workspace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DE734F-CEF0-8B25-3264-5DFB3BA696E2}"/>
              </a:ext>
            </a:extLst>
          </p:cNvPr>
          <p:cNvSpPr txBox="1"/>
          <p:nvPr/>
        </p:nvSpPr>
        <p:spPr>
          <a:xfrm>
            <a:off x="6837818" y="2406736"/>
            <a:ext cx="5170393" cy="37490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ea typeface="+mn-ea"/>
                <a:cs typeface="+mn-cs"/>
              </a:rPr>
              <a:t>Shared workspace to track process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BC7004-1A01-C3E5-EFFE-5B28EAF82BF0}"/>
              </a:ext>
            </a:extLst>
          </p:cNvPr>
          <p:cNvSpPr txBox="1"/>
          <p:nvPr/>
        </p:nvSpPr>
        <p:spPr>
          <a:xfrm>
            <a:off x="6826668" y="2827176"/>
            <a:ext cx="5170393" cy="457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/>
              <a:t>SemperVirens investment team lead + platform</a:t>
            </a:r>
            <a:endParaRPr lang="en-US" sz="120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176203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496269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 </a:t>
            </a:r>
            <a:r>
              <a:rPr lang="en-US" sz="2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| New Investment Lookback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3EC12-82D4-E67D-C1DD-DEFED87ACD22}"/>
              </a:ext>
            </a:extLst>
          </p:cNvPr>
          <p:cNvSpPr txBox="1"/>
          <p:nvPr/>
        </p:nvSpPr>
        <p:spPr>
          <a:xfrm>
            <a:off x="176957" y="949764"/>
            <a:ext cx="1543981" cy="1545336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PORTCO LOGO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A0355-BC6F-1766-DBA4-6D40B2D8839B}"/>
              </a:ext>
            </a:extLst>
          </p:cNvPr>
          <p:cNvSpPr txBox="1"/>
          <p:nvPr/>
        </p:nvSpPr>
        <p:spPr>
          <a:xfrm>
            <a:off x="1828253" y="991705"/>
            <a:ext cx="1017996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SemperSystem Outcomes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6F6444-F6A6-73DD-DCF5-6913A6B4BC90}"/>
              </a:ext>
            </a:extLst>
          </p:cNvPr>
          <p:cNvSpPr txBox="1"/>
          <p:nvPr/>
        </p:nvSpPr>
        <p:spPr>
          <a:xfrm>
            <a:off x="1828253" y="1311784"/>
            <a:ext cx="2215616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Revenue Impact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E42153-D46B-A0C6-B325-0061852F93E0}"/>
              </a:ext>
            </a:extLst>
          </p:cNvPr>
          <p:cNvSpPr txBox="1"/>
          <p:nvPr/>
        </p:nvSpPr>
        <p:spPr>
          <a:xfrm>
            <a:off x="5920525" y="1308676"/>
            <a:ext cx="6087689" cy="28724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Partnerships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C56248-CB4E-03BB-7628-7EBD7A9FFC8C}"/>
              </a:ext>
            </a:extLst>
          </p:cNvPr>
          <p:cNvSpPr txBox="1"/>
          <p:nvPr/>
        </p:nvSpPr>
        <p:spPr>
          <a:xfrm>
            <a:off x="2790539" y="1630407"/>
            <a:ext cx="1253330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C0F29B-F535-535D-530E-EC1BE56FCDEE}"/>
              </a:ext>
            </a:extLst>
          </p:cNvPr>
          <p:cNvSpPr txBox="1"/>
          <p:nvPr/>
        </p:nvSpPr>
        <p:spPr>
          <a:xfrm>
            <a:off x="2802177" y="1965067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5D75D2-A82B-C7DD-73F2-7AFF0FE3A32E}"/>
              </a:ext>
            </a:extLst>
          </p:cNvPr>
          <p:cNvSpPr txBox="1"/>
          <p:nvPr/>
        </p:nvSpPr>
        <p:spPr>
          <a:xfrm>
            <a:off x="2802177" y="2299727"/>
            <a:ext cx="125272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1E4DFC-18A1-2E3D-E52D-51F8380CADA9}"/>
              </a:ext>
            </a:extLst>
          </p:cNvPr>
          <p:cNvSpPr txBox="1"/>
          <p:nvPr/>
        </p:nvSpPr>
        <p:spPr>
          <a:xfrm>
            <a:off x="1833982" y="1637980"/>
            <a:ext cx="933689" cy="264115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Cumulative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49229F-EB29-DF19-B5FD-4E9604DAB76D}"/>
              </a:ext>
            </a:extLst>
          </p:cNvPr>
          <p:cNvSpPr txBox="1"/>
          <p:nvPr/>
        </p:nvSpPr>
        <p:spPr>
          <a:xfrm>
            <a:off x="1828253" y="1968458"/>
            <a:ext cx="93268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DADDE8-407D-DACE-26CC-6CEE4824D490}"/>
              </a:ext>
            </a:extLst>
          </p:cNvPr>
          <p:cNvSpPr txBox="1"/>
          <p:nvPr/>
        </p:nvSpPr>
        <p:spPr>
          <a:xfrm>
            <a:off x="1828253" y="2300985"/>
            <a:ext cx="93268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F5A45E-CAB5-F73B-5922-703E62B78E25}"/>
              </a:ext>
            </a:extLst>
          </p:cNvPr>
          <p:cNvSpPr txBox="1"/>
          <p:nvPr/>
        </p:nvSpPr>
        <p:spPr>
          <a:xfrm>
            <a:off x="1839863" y="2743524"/>
            <a:ext cx="932688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C434D6-BFF3-3C18-DBDC-3F3C8B968913}"/>
              </a:ext>
            </a:extLst>
          </p:cNvPr>
          <p:cNvSpPr txBox="1"/>
          <p:nvPr/>
        </p:nvSpPr>
        <p:spPr>
          <a:xfrm>
            <a:off x="2802177" y="2748420"/>
            <a:ext cx="1252728" cy="26411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00A902-7FE4-3BAF-6ED7-1BA6C4E53490}"/>
              </a:ext>
            </a:extLst>
          </p:cNvPr>
          <p:cNvSpPr txBox="1"/>
          <p:nvPr/>
        </p:nvSpPr>
        <p:spPr>
          <a:xfrm>
            <a:off x="4075002" y="1311056"/>
            <a:ext cx="1810512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Exposure Opportunity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B4AE46-BC29-C23C-5C57-90468EE6093D}"/>
              </a:ext>
            </a:extLst>
          </p:cNvPr>
          <p:cNvSpPr txBox="1"/>
          <p:nvPr/>
        </p:nvSpPr>
        <p:spPr>
          <a:xfrm>
            <a:off x="4054905" y="1637110"/>
            <a:ext cx="1793249" cy="27177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E05E0-D54E-28D9-4984-2FF7C32B4E74}"/>
              </a:ext>
            </a:extLst>
          </p:cNvPr>
          <p:cNvSpPr txBox="1"/>
          <p:nvPr/>
        </p:nvSpPr>
        <p:spPr>
          <a:xfrm>
            <a:off x="4054905" y="1967962"/>
            <a:ext cx="1793249" cy="2717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6E5FAA-14E3-B158-B657-AFBD4A3480DF}"/>
              </a:ext>
            </a:extLst>
          </p:cNvPr>
          <p:cNvSpPr txBox="1"/>
          <p:nvPr/>
        </p:nvSpPr>
        <p:spPr>
          <a:xfrm>
            <a:off x="4075002" y="2296737"/>
            <a:ext cx="1793249" cy="271777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980FBE-8B97-296C-C724-14542A6806B3}"/>
              </a:ext>
            </a:extLst>
          </p:cNvPr>
          <p:cNvSpPr txBox="1"/>
          <p:nvPr/>
        </p:nvSpPr>
        <p:spPr>
          <a:xfrm>
            <a:off x="4075001" y="2740758"/>
            <a:ext cx="1793249" cy="271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332239-E3B8-FB36-F073-9D8B1751DCB8}"/>
              </a:ext>
            </a:extLst>
          </p:cNvPr>
          <p:cNvSpPr txBox="1"/>
          <p:nvPr/>
        </p:nvSpPr>
        <p:spPr>
          <a:xfrm>
            <a:off x="5950766" y="1617326"/>
            <a:ext cx="1920240" cy="28724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Deal Closed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5EB00D-234B-1C76-2ED3-80B7AE7B6BE0}"/>
              </a:ext>
            </a:extLst>
          </p:cNvPr>
          <p:cNvSpPr txBox="1"/>
          <p:nvPr/>
        </p:nvSpPr>
        <p:spPr>
          <a:xfrm>
            <a:off x="7973618" y="1617810"/>
            <a:ext cx="1920240" cy="2872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In Discussion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DA390D-4156-0F45-7036-7182AEE35F1E}"/>
              </a:ext>
            </a:extLst>
          </p:cNvPr>
          <p:cNvSpPr txBox="1"/>
          <p:nvPr/>
        </p:nvSpPr>
        <p:spPr>
          <a:xfrm>
            <a:off x="9996470" y="1614853"/>
            <a:ext cx="1920240" cy="2872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Pipeline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E4FF51-0712-F3FF-7762-A481CD2B3BBA}"/>
              </a:ext>
            </a:extLst>
          </p:cNvPr>
          <p:cNvSpPr txBox="1"/>
          <p:nvPr/>
        </p:nvSpPr>
        <p:spPr>
          <a:xfrm>
            <a:off x="5920525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458960-18E1-A11D-91B8-74D21BED8D37}"/>
              </a:ext>
            </a:extLst>
          </p:cNvPr>
          <p:cNvSpPr txBox="1"/>
          <p:nvPr/>
        </p:nvSpPr>
        <p:spPr>
          <a:xfrm>
            <a:off x="7966661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2A6CFC-AF0F-3ABE-71E6-1D4FABCB99FA}"/>
              </a:ext>
            </a:extLst>
          </p:cNvPr>
          <p:cNvSpPr txBox="1"/>
          <p:nvPr/>
        </p:nvSpPr>
        <p:spPr>
          <a:xfrm>
            <a:off x="10019725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7AAB04-A57D-7E14-4B4E-1388615B4711}"/>
              </a:ext>
            </a:extLst>
          </p:cNvPr>
          <p:cNvCxnSpPr>
            <a:cxnSpLocks/>
          </p:cNvCxnSpPr>
          <p:nvPr/>
        </p:nvCxnSpPr>
        <p:spPr>
          <a:xfrm>
            <a:off x="1828253" y="2655755"/>
            <a:ext cx="402336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111F28B-C900-E17E-E704-C3AD05072BA4}"/>
              </a:ext>
            </a:extLst>
          </p:cNvPr>
          <p:cNvSpPr txBox="1"/>
          <p:nvPr/>
        </p:nvSpPr>
        <p:spPr>
          <a:xfrm>
            <a:off x="176956" y="2636386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New Investment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09996-24A1-D4A8-C098-0245BDBFF6FD}"/>
              </a:ext>
            </a:extLst>
          </p:cNvPr>
          <p:cNvSpPr txBox="1"/>
          <p:nvPr/>
        </p:nvSpPr>
        <p:spPr>
          <a:xfrm>
            <a:off x="5958113" y="3787700"/>
            <a:ext cx="1920240" cy="28724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6ACCF1-BFE5-65F2-170C-FADD29F8635C}"/>
              </a:ext>
            </a:extLst>
          </p:cNvPr>
          <p:cNvSpPr txBox="1"/>
          <p:nvPr/>
        </p:nvSpPr>
        <p:spPr>
          <a:xfrm>
            <a:off x="7966661" y="3787700"/>
            <a:ext cx="1920240" cy="2872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0268A9-1500-B0E4-FAB7-BB9F4F398BFD}"/>
              </a:ext>
            </a:extLst>
          </p:cNvPr>
          <p:cNvSpPr txBox="1"/>
          <p:nvPr/>
        </p:nvSpPr>
        <p:spPr>
          <a:xfrm>
            <a:off x="10019725" y="3787700"/>
            <a:ext cx="1920240" cy="2872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D6ECE-84D8-E450-3BA8-F101D9E25D88}"/>
              </a:ext>
            </a:extLst>
          </p:cNvPr>
          <p:cNvSpPr txBox="1"/>
          <p:nvPr/>
        </p:nvSpPr>
        <p:spPr>
          <a:xfrm>
            <a:off x="176956" y="3103953"/>
            <a:ext cx="567119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Client Growth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C585DB-2F61-C23A-4BA3-C2D91E0E368B}"/>
              </a:ext>
            </a:extLst>
          </p:cNvPr>
          <p:cNvSpPr txBox="1"/>
          <p:nvPr/>
        </p:nvSpPr>
        <p:spPr>
          <a:xfrm>
            <a:off x="1199583" y="3485279"/>
            <a:ext cx="932689" cy="2641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TBD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D04354-BABE-2F1A-810F-906BD9D6F728}"/>
              </a:ext>
            </a:extLst>
          </p:cNvPr>
          <p:cNvSpPr txBox="1"/>
          <p:nvPr/>
        </p:nvSpPr>
        <p:spPr>
          <a:xfrm>
            <a:off x="1187945" y="3806125"/>
            <a:ext cx="932689" cy="2717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A2EF77-825C-733B-1663-905D4B31E266}"/>
              </a:ext>
            </a:extLst>
          </p:cNvPr>
          <p:cNvSpPr txBox="1"/>
          <p:nvPr/>
        </p:nvSpPr>
        <p:spPr>
          <a:xfrm>
            <a:off x="1187945" y="4143790"/>
            <a:ext cx="932689" cy="264044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8B1D0C-7C4C-720D-16B7-8090A111BEE8}"/>
              </a:ext>
            </a:extLst>
          </p:cNvPr>
          <p:cNvSpPr txBox="1"/>
          <p:nvPr/>
        </p:nvSpPr>
        <p:spPr>
          <a:xfrm>
            <a:off x="1199583" y="4581191"/>
            <a:ext cx="932689" cy="264044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38D6EC-6335-5D9D-AC93-39EE2C355C69}"/>
              </a:ext>
            </a:extLst>
          </p:cNvPr>
          <p:cNvSpPr txBox="1"/>
          <p:nvPr/>
        </p:nvSpPr>
        <p:spPr>
          <a:xfrm>
            <a:off x="2253458" y="3460934"/>
            <a:ext cx="3571831" cy="1371600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421CB7-7E06-544E-B505-199CE5776658}"/>
              </a:ext>
            </a:extLst>
          </p:cNvPr>
          <p:cNvSpPr txBox="1"/>
          <p:nvPr/>
        </p:nvSpPr>
        <p:spPr>
          <a:xfrm>
            <a:off x="196441" y="3475647"/>
            <a:ext cx="933689" cy="2641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Cumulative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CAAA32-1639-8B18-4730-DACEFF4A67F9}"/>
              </a:ext>
            </a:extLst>
          </p:cNvPr>
          <p:cNvSpPr txBox="1"/>
          <p:nvPr/>
        </p:nvSpPr>
        <p:spPr>
          <a:xfrm>
            <a:off x="190712" y="3806125"/>
            <a:ext cx="932688" cy="2743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E6BFC8-51C3-1830-AAD8-711F415507DB}"/>
              </a:ext>
            </a:extLst>
          </p:cNvPr>
          <p:cNvSpPr txBox="1"/>
          <p:nvPr/>
        </p:nvSpPr>
        <p:spPr>
          <a:xfrm>
            <a:off x="190712" y="4138652"/>
            <a:ext cx="93268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01425D-4F62-297E-08E2-7625E00FB0DD}"/>
              </a:ext>
            </a:extLst>
          </p:cNvPr>
          <p:cNvSpPr txBox="1"/>
          <p:nvPr/>
        </p:nvSpPr>
        <p:spPr>
          <a:xfrm>
            <a:off x="202322" y="4581191"/>
            <a:ext cx="932688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4A5067A-7AEF-4B01-C4AD-065CE89705F1}"/>
              </a:ext>
            </a:extLst>
          </p:cNvPr>
          <p:cNvCxnSpPr>
            <a:cxnSpLocks/>
          </p:cNvCxnSpPr>
          <p:nvPr/>
        </p:nvCxnSpPr>
        <p:spPr>
          <a:xfrm>
            <a:off x="162576" y="4491401"/>
            <a:ext cx="2011680" cy="0"/>
          </a:xfrm>
          <a:prstGeom prst="line">
            <a:avLst/>
          </a:prstGeom>
          <a:ln w="952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3D84151-DEC8-B8EB-1083-70BF33E27261}"/>
              </a:ext>
            </a:extLst>
          </p:cNvPr>
          <p:cNvSpPr txBox="1"/>
          <p:nvPr/>
        </p:nvSpPr>
        <p:spPr>
          <a:xfrm>
            <a:off x="202322" y="4977508"/>
            <a:ext cx="5611640" cy="298067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Recent Activations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586ADC-8AA5-DB6A-4A85-EEA59238934E}"/>
              </a:ext>
            </a:extLst>
          </p:cNvPr>
          <p:cNvSpPr txBox="1"/>
          <p:nvPr/>
        </p:nvSpPr>
        <p:spPr>
          <a:xfrm>
            <a:off x="162576" y="5359155"/>
            <a:ext cx="5622678" cy="109728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68207A-8DFE-4D77-E928-88CBD526ADAC}"/>
              </a:ext>
            </a:extLst>
          </p:cNvPr>
          <p:cNvSpPr txBox="1"/>
          <p:nvPr/>
        </p:nvSpPr>
        <p:spPr>
          <a:xfrm>
            <a:off x="5956709" y="4157423"/>
            <a:ext cx="5983255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Next Steps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104CD3-813A-A67A-4F5F-CE41531307D4}"/>
              </a:ext>
            </a:extLst>
          </p:cNvPr>
          <p:cNvSpPr txBox="1"/>
          <p:nvPr/>
        </p:nvSpPr>
        <p:spPr>
          <a:xfrm>
            <a:off x="5924543" y="4548099"/>
            <a:ext cx="5983255" cy="18288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1110377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DB11A-0BDA-F13A-3BAB-517DCFA6A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0D3A8EF-9470-1604-057B-66B5F6A8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08" y="185402"/>
            <a:ext cx="10973593" cy="628785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81639" tIns="40819" rIns="81639" bIns="40819" numCol="1" rtlCol="0" anchor="t" anchorCtr="0" compatLnSpc="1">
            <a:prstTxWarp prst="textNoShape">
              <a:avLst/>
            </a:prstTxWarp>
            <a:noAutofit/>
          </a:bodyPr>
          <a:lstStyle/>
          <a:p>
            <a:pPr defTabSz="543692"/>
            <a:r>
              <a:rPr lang="en-US" sz="3200" b="1">
                <a:solidFill>
                  <a:srgbClr val="000000"/>
                </a:solidFill>
                <a:latin typeface="Neue Haas Grotesk Text Pro"/>
                <a:ea typeface="MS PGothic"/>
                <a:cs typeface="Browallia New"/>
              </a:rPr>
              <a:t>SemperSystem Success Plan – Early Stage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4F41C2-B30B-362E-56C2-BBDB7431EDB8}"/>
              </a:ext>
            </a:extLst>
          </p:cNvPr>
          <p:cNvGrpSpPr/>
          <p:nvPr/>
        </p:nvGrpSpPr>
        <p:grpSpPr>
          <a:xfrm>
            <a:off x="515034" y="1151463"/>
            <a:ext cx="3293174" cy="974718"/>
            <a:chOff x="525791" y="1710866"/>
            <a:chExt cx="3293174" cy="97471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341616F-6800-50EC-D243-E4A71211E71B}"/>
                </a:ext>
              </a:extLst>
            </p:cNvPr>
            <p:cNvSpPr/>
            <p:nvPr/>
          </p:nvSpPr>
          <p:spPr>
            <a:xfrm>
              <a:off x="1958244" y="1710866"/>
              <a:ext cx="1860721" cy="953815"/>
            </a:xfrm>
            <a:prstGeom prst="rect">
              <a:avLst/>
            </a:prstGeom>
            <a:solidFill>
              <a:srgbClr val="E4EEEF">
                <a:alpha val="2509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SV Race-to-20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&lt; Company Pipeline Review &gt; 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FA61D17-C35E-99BD-0967-3DE156540A9F}"/>
                </a:ext>
              </a:extLst>
            </p:cNvPr>
            <p:cNvSpPr/>
            <p:nvPr/>
          </p:nvSpPr>
          <p:spPr>
            <a:xfrm>
              <a:off x="525791" y="1711701"/>
              <a:ext cx="1238463" cy="973883"/>
            </a:xfrm>
            <a:prstGeom prst="rect">
              <a:avLst/>
            </a:prstGeom>
            <a:solidFill>
              <a:srgbClr val="E4EEEF">
                <a:alpha val="501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796B"/>
                  </a:solidFill>
                  <a:effectLst/>
                  <a:uLnTx/>
                  <a:uFillTx/>
                  <a:latin typeface="Neue Haas Grotesk Text Pro" panose="020B0504020202020204" pitchFamily="34" charset="77"/>
                  <a:ea typeface="+mn-ea"/>
                  <a:cs typeface="+mn-cs"/>
                </a:rPr>
                <a:t>Key Intro’s</a:t>
              </a: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BDCE2B8A-E6C4-0E1A-A5E0-0A7B8F3C25AF}"/>
              </a:ext>
            </a:extLst>
          </p:cNvPr>
          <p:cNvSpPr/>
          <p:nvPr/>
        </p:nvSpPr>
        <p:spPr>
          <a:xfrm>
            <a:off x="4002198" y="1151463"/>
            <a:ext cx="3689521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&lt; Link to Intro Tracking Sheets&gt;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989E50-7F40-F38F-264F-507233365957}"/>
              </a:ext>
            </a:extLst>
          </p:cNvPr>
          <p:cNvSpPr/>
          <p:nvPr/>
        </p:nvSpPr>
        <p:spPr>
          <a:xfrm>
            <a:off x="9263921" y="1151462"/>
            <a:ext cx="2509774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$150k ARR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5 Customers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$400k new pipeline | 10 customers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4775946-AB5B-FD39-D067-91ABB65C300D}"/>
              </a:ext>
            </a:extLst>
          </p:cNvPr>
          <p:cNvGrpSpPr/>
          <p:nvPr/>
        </p:nvGrpSpPr>
        <p:grpSpPr>
          <a:xfrm>
            <a:off x="515034" y="2239779"/>
            <a:ext cx="3293174" cy="974718"/>
            <a:chOff x="525791" y="1710866"/>
            <a:chExt cx="3293174" cy="97471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7B69C6F-04E6-E19C-5135-9D0945974198}"/>
                </a:ext>
              </a:extLst>
            </p:cNvPr>
            <p:cNvSpPr/>
            <p:nvPr/>
          </p:nvSpPr>
          <p:spPr>
            <a:xfrm>
              <a:off x="1958244" y="1710866"/>
              <a:ext cx="1860721" cy="953815"/>
            </a:xfrm>
            <a:prstGeom prst="rect">
              <a:avLst/>
            </a:prstGeom>
            <a:solidFill>
              <a:srgbClr val="E4EEEF">
                <a:alpha val="2509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F1B7484-10A8-08BC-945A-9120A174C8CF}"/>
                </a:ext>
              </a:extLst>
            </p:cNvPr>
            <p:cNvSpPr/>
            <p:nvPr/>
          </p:nvSpPr>
          <p:spPr>
            <a:xfrm>
              <a:off x="525791" y="1711701"/>
              <a:ext cx="1238463" cy="973883"/>
            </a:xfrm>
            <a:prstGeom prst="rect">
              <a:avLst/>
            </a:prstGeom>
            <a:solidFill>
              <a:srgbClr val="E4EEEF">
                <a:alpha val="501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796B"/>
                  </a:solidFill>
                  <a:effectLst/>
                  <a:uLnTx/>
                  <a:uFillTx/>
                  <a:latin typeface="Neue Haas Grotesk Text Pro" panose="020B0504020202020204" pitchFamily="34" charset="77"/>
                  <a:ea typeface="+mn-ea"/>
                  <a:cs typeface="+mn-cs"/>
                </a:rPr>
                <a:t>Strategic Partners</a:t>
              </a: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BFC774CE-FCAA-B0FB-2E1E-859FF2F30AD9}"/>
              </a:ext>
            </a:extLst>
          </p:cNvPr>
          <p:cNvSpPr/>
          <p:nvPr/>
        </p:nvSpPr>
        <p:spPr>
          <a:xfrm>
            <a:off x="4002198" y="2239779"/>
            <a:ext cx="3689521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EAC7C2-086B-3194-4894-93BC7998B408}"/>
              </a:ext>
            </a:extLst>
          </p:cNvPr>
          <p:cNvSpPr/>
          <p:nvPr/>
        </p:nvSpPr>
        <p:spPr>
          <a:xfrm>
            <a:off x="9259919" y="2239778"/>
            <a:ext cx="2513772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$3.5M+ Deal with ADP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+2 Strategic Partners in Discussion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110648-CE43-EEC6-F13F-AB47C309E9A5}"/>
              </a:ext>
            </a:extLst>
          </p:cNvPr>
          <p:cNvGrpSpPr/>
          <p:nvPr/>
        </p:nvGrpSpPr>
        <p:grpSpPr>
          <a:xfrm>
            <a:off x="515034" y="3328095"/>
            <a:ext cx="3293174" cy="974718"/>
            <a:chOff x="525791" y="1710866"/>
            <a:chExt cx="3293174" cy="974718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1863073-4BF4-BC4F-E919-CA6AA8CF175B}"/>
                </a:ext>
              </a:extLst>
            </p:cNvPr>
            <p:cNvSpPr/>
            <p:nvPr/>
          </p:nvSpPr>
          <p:spPr>
            <a:xfrm>
              <a:off x="1958244" y="1710866"/>
              <a:ext cx="1860721" cy="953815"/>
            </a:xfrm>
            <a:prstGeom prst="rect">
              <a:avLst/>
            </a:prstGeom>
            <a:solidFill>
              <a:srgbClr val="E4EEEF">
                <a:alpha val="2509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78215D-DE53-6031-C831-4EA717F2DBF6}"/>
                </a:ext>
              </a:extLst>
            </p:cNvPr>
            <p:cNvSpPr/>
            <p:nvPr/>
          </p:nvSpPr>
          <p:spPr>
            <a:xfrm>
              <a:off x="525791" y="1711701"/>
              <a:ext cx="1238463" cy="973883"/>
            </a:xfrm>
            <a:prstGeom prst="rect">
              <a:avLst/>
            </a:prstGeom>
            <a:solidFill>
              <a:srgbClr val="E4EEEF">
                <a:alpha val="501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796B"/>
                  </a:solidFill>
                  <a:effectLst/>
                  <a:uLnTx/>
                  <a:uFillTx/>
                  <a:latin typeface="Neue Haas Grotesk Text Pro" panose="020B0504020202020204" pitchFamily="34" charset="77"/>
                  <a:ea typeface="+mn-ea"/>
                  <a:cs typeface="+mn-cs"/>
                </a:rPr>
                <a:t>Market Presence</a:t>
              </a: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D86545F-7B36-3C04-9A97-C340884A6DF5}"/>
              </a:ext>
            </a:extLst>
          </p:cNvPr>
          <p:cNvSpPr/>
          <p:nvPr/>
        </p:nvSpPr>
        <p:spPr>
          <a:xfrm>
            <a:off x="4002198" y="3328095"/>
            <a:ext cx="3689521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882B304-921D-CC2F-10FE-91F6B9716DCF}"/>
              </a:ext>
            </a:extLst>
          </p:cNvPr>
          <p:cNvSpPr/>
          <p:nvPr/>
        </p:nvSpPr>
        <p:spPr>
          <a:xfrm>
            <a:off x="9259921" y="3328094"/>
            <a:ext cx="2513773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01B43B4-5A58-DF4F-F141-A8E4041E1901}"/>
              </a:ext>
            </a:extLst>
          </p:cNvPr>
          <p:cNvGrpSpPr/>
          <p:nvPr/>
        </p:nvGrpSpPr>
        <p:grpSpPr>
          <a:xfrm>
            <a:off x="515034" y="4416411"/>
            <a:ext cx="3293174" cy="974718"/>
            <a:chOff x="525791" y="1710866"/>
            <a:chExt cx="3293174" cy="97471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8EB9DE7-2285-39BF-544B-7B7E82347F80}"/>
                </a:ext>
              </a:extLst>
            </p:cNvPr>
            <p:cNvSpPr/>
            <p:nvPr/>
          </p:nvSpPr>
          <p:spPr>
            <a:xfrm>
              <a:off x="1958244" y="1710866"/>
              <a:ext cx="1860721" cy="953815"/>
            </a:xfrm>
            <a:prstGeom prst="rect">
              <a:avLst/>
            </a:prstGeom>
            <a:solidFill>
              <a:srgbClr val="E4EEEF">
                <a:alpha val="2509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Advisor Task Force Build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SV Exec Advisor Presentation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C0A948C-4D95-5AB9-FDC0-E5105B3B5936}"/>
                </a:ext>
              </a:extLst>
            </p:cNvPr>
            <p:cNvSpPr/>
            <p:nvPr/>
          </p:nvSpPr>
          <p:spPr>
            <a:xfrm>
              <a:off x="525791" y="1711701"/>
              <a:ext cx="1238463" cy="973883"/>
            </a:xfrm>
            <a:prstGeom prst="rect">
              <a:avLst/>
            </a:prstGeom>
            <a:solidFill>
              <a:srgbClr val="E4EEEF">
                <a:alpha val="501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796B"/>
                  </a:solidFill>
                  <a:effectLst/>
                  <a:uLnTx/>
                  <a:uFillTx/>
                  <a:latin typeface="Neue Haas Grotesk Text Pro" panose="020B0504020202020204" pitchFamily="34" charset="77"/>
                  <a:ea typeface="+mn-ea"/>
                  <a:cs typeface="+mn-cs"/>
                </a:rPr>
                <a:t>Strategic Insights</a:t>
              </a: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33E8C01C-9DFE-D023-88CA-1907BF98FB73}"/>
              </a:ext>
            </a:extLst>
          </p:cNvPr>
          <p:cNvSpPr/>
          <p:nvPr/>
        </p:nvSpPr>
        <p:spPr>
          <a:xfrm>
            <a:off x="4002198" y="4416411"/>
            <a:ext cx="3689521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295668-E223-E4F3-D9C6-DADC9E52D856}"/>
              </a:ext>
            </a:extLst>
          </p:cNvPr>
          <p:cNvSpPr/>
          <p:nvPr/>
        </p:nvSpPr>
        <p:spPr>
          <a:xfrm>
            <a:off x="9259921" y="4416410"/>
            <a:ext cx="2513774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67F1CDB-D36E-2D77-7004-45736BC92ACB}"/>
              </a:ext>
            </a:extLst>
          </p:cNvPr>
          <p:cNvGrpSpPr/>
          <p:nvPr/>
        </p:nvGrpSpPr>
        <p:grpSpPr>
          <a:xfrm>
            <a:off x="515034" y="5504726"/>
            <a:ext cx="3293174" cy="974718"/>
            <a:chOff x="525791" y="1710866"/>
            <a:chExt cx="3293174" cy="974718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A14CA9E-2FEA-F09A-6992-ECBE7554CBB9}"/>
                </a:ext>
              </a:extLst>
            </p:cNvPr>
            <p:cNvSpPr/>
            <p:nvPr/>
          </p:nvSpPr>
          <p:spPr>
            <a:xfrm>
              <a:off x="1958244" y="1710866"/>
              <a:ext cx="1860721" cy="953815"/>
            </a:xfrm>
            <a:prstGeom prst="rect">
              <a:avLst/>
            </a:prstGeom>
            <a:solidFill>
              <a:srgbClr val="E4EEEF">
                <a:alpha val="25098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+mj-lt"/>
                <a:buAutoNum type="arabicPeriod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Platform + GP partnership on target Strategic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2E75B91-1053-C887-0D97-D519B2D637A9}"/>
                </a:ext>
              </a:extLst>
            </p:cNvPr>
            <p:cNvSpPr/>
            <p:nvPr/>
          </p:nvSpPr>
          <p:spPr>
            <a:xfrm>
              <a:off x="525791" y="1711701"/>
              <a:ext cx="1238463" cy="973883"/>
            </a:xfrm>
            <a:prstGeom prst="rect">
              <a:avLst/>
            </a:prstGeom>
            <a:solidFill>
              <a:srgbClr val="E4EEEF">
                <a:alpha val="50196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00796B"/>
                  </a:solidFill>
                  <a:effectLst/>
                  <a:uLnTx/>
                  <a:uFillTx/>
                  <a:latin typeface="Neue Haas Grotesk Text Pro" panose="020B0504020202020204" pitchFamily="34" charset="77"/>
                  <a:ea typeface="+mn-ea"/>
                  <a:cs typeface="+mn-cs"/>
                </a:rPr>
                <a:t>Product Feedback</a:t>
              </a: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219F1374-D89E-F29D-146C-8D23ADAEBDAF}"/>
              </a:ext>
            </a:extLst>
          </p:cNvPr>
          <p:cNvSpPr/>
          <p:nvPr/>
        </p:nvSpPr>
        <p:spPr>
          <a:xfrm>
            <a:off x="4002198" y="5504726"/>
            <a:ext cx="3689521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7F448B7-36EF-D17C-0AB5-8FBD03FD0B0F}"/>
              </a:ext>
            </a:extLst>
          </p:cNvPr>
          <p:cNvSpPr/>
          <p:nvPr/>
        </p:nvSpPr>
        <p:spPr>
          <a:xfrm>
            <a:off x="9259919" y="5504725"/>
            <a:ext cx="2513775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</a:p>
        </p:txBody>
      </p:sp>
      <p:sp>
        <p:nvSpPr>
          <p:cNvPr id="31" name="Round Same Side Corner Rectangle 30">
            <a:extLst>
              <a:ext uri="{FF2B5EF4-FFF2-40B4-BE49-F238E27FC236}">
                <a16:creationId xmlns:a16="http://schemas.microsoft.com/office/drawing/2014/main" id="{4F22926B-D7C9-C369-5A1C-162010B68DC0}"/>
              </a:ext>
            </a:extLst>
          </p:cNvPr>
          <p:cNvSpPr/>
          <p:nvPr/>
        </p:nvSpPr>
        <p:spPr>
          <a:xfrm>
            <a:off x="1943491" y="851158"/>
            <a:ext cx="1864718" cy="312366"/>
          </a:xfrm>
          <a:prstGeom prst="round2SameRect">
            <a:avLst/>
          </a:prstGeom>
          <a:solidFill>
            <a:srgbClr val="01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Activations</a:t>
            </a:r>
          </a:p>
        </p:txBody>
      </p:sp>
      <p:sp>
        <p:nvSpPr>
          <p:cNvPr id="32" name="Round Same Side Corner Rectangle 31">
            <a:extLst>
              <a:ext uri="{FF2B5EF4-FFF2-40B4-BE49-F238E27FC236}">
                <a16:creationId xmlns:a16="http://schemas.microsoft.com/office/drawing/2014/main" id="{0A3031D1-27F7-E872-DFAA-5E1C4F4C499D}"/>
              </a:ext>
            </a:extLst>
          </p:cNvPr>
          <p:cNvSpPr/>
          <p:nvPr/>
        </p:nvSpPr>
        <p:spPr>
          <a:xfrm>
            <a:off x="4002198" y="829475"/>
            <a:ext cx="3689521" cy="312366"/>
          </a:xfrm>
          <a:prstGeom prst="round2SameRect">
            <a:avLst/>
          </a:prstGeom>
          <a:solidFill>
            <a:srgbClr val="01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Details</a:t>
            </a:r>
          </a:p>
        </p:txBody>
      </p:sp>
      <p:sp>
        <p:nvSpPr>
          <p:cNvPr id="33" name="Round Same Side Corner Rectangle 32">
            <a:extLst>
              <a:ext uri="{FF2B5EF4-FFF2-40B4-BE49-F238E27FC236}">
                <a16:creationId xmlns:a16="http://schemas.microsoft.com/office/drawing/2014/main" id="{B75EAF9D-AB7E-1D08-659B-A2CF5C7071A8}"/>
              </a:ext>
            </a:extLst>
          </p:cNvPr>
          <p:cNvSpPr/>
          <p:nvPr/>
        </p:nvSpPr>
        <p:spPr>
          <a:xfrm>
            <a:off x="9259923" y="808521"/>
            <a:ext cx="2509775" cy="312366"/>
          </a:xfrm>
          <a:prstGeom prst="round2SameRect">
            <a:avLst/>
          </a:prstGeom>
          <a:solidFill>
            <a:srgbClr val="001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Impact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3846C08-B398-22BC-601B-E256E671EDA2}"/>
              </a:ext>
            </a:extLst>
          </p:cNvPr>
          <p:cNvSpPr/>
          <p:nvPr/>
        </p:nvSpPr>
        <p:spPr>
          <a:xfrm>
            <a:off x="7889706" y="1172366"/>
            <a:ext cx="1121596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8653DF-E5DD-658D-A46E-9402914329DA}"/>
              </a:ext>
            </a:extLst>
          </p:cNvPr>
          <p:cNvSpPr/>
          <p:nvPr/>
        </p:nvSpPr>
        <p:spPr>
          <a:xfrm>
            <a:off x="7885705" y="2260682"/>
            <a:ext cx="1123383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Upcoming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0E9AD06-7AE2-C480-A6FF-C298B91A81D9}"/>
              </a:ext>
            </a:extLst>
          </p:cNvPr>
          <p:cNvSpPr/>
          <p:nvPr/>
        </p:nvSpPr>
        <p:spPr>
          <a:xfrm>
            <a:off x="7885706" y="3348998"/>
            <a:ext cx="1123383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422D858-393D-6C97-AAD0-2EC0E0035916}"/>
              </a:ext>
            </a:extLst>
          </p:cNvPr>
          <p:cNvSpPr/>
          <p:nvPr/>
        </p:nvSpPr>
        <p:spPr>
          <a:xfrm>
            <a:off x="7885706" y="4437314"/>
            <a:ext cx="1123383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ooo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26F3675-AE29-52D2-B98D-FF1706067208}"/>
              </a:ext>
            </a:extLst>
          </p:cNvPr>
          <p:cNvSpPr/>
          <p:nvPr/>
        </p:nvSpPr>
        <p:spPr>
          <a:xfrm>
            <a:off x="7914127" y="5504724"/>
            <a:ext cx="1123384" cy="953815"/>
          </a:xfrm>
          <a:prstGeom prst="rect">
            <a:avLst/>
          </a:prstGeom>
          <a:solidFill>
            <a:srgbClr val="E4EEEF">
              <a:alpha val="25098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Complete</a:t>
            </a:r>
          </a:p>
        </p:txBody>
      </p:sp>
      <p:sp>
        <p:nvSpPr>
          <p:cNvPr id="39" name="Round Same Side Corner Rectangle 38">
            <a:extLst>
              <a:ext uri="{FF2B5EF4-FFF2-40B4-BE49-F238E27FC236}">
                <a16:creationId xmlns:a16="http://schemas.microsoft.com/office/drawing/2014/main" id="{5F34BCBF-B156-5970-BE35-BF75AFBC392F}"/>
              </a:ext>
            </a:extLst>
          </p:cNvPr>
          <p:cNvSpPr/>
          <p:nvPr/>
        </p:nvSpPr>
        <p:spPr>
          <a:xfrm>
            <a:off x="7885709" y="829425"/>
            <a:ext cx="1121596" cy="312366"/>
          </a:xfrm>
          <a:prstGeom prst="round2SameRect">
            <a:avLst/>
          </a:prstGeom>
          <a:solidFill>
            <a:srgbClr val="001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230517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C3D29A48-ACF9-B0F1-3918-BAFD531B2D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370"/>
          <a:stretch/>
        </p:blipFill>
        <p:spPr>
          <a:xfrm>
            <a:off x="176956" y="2229462"/>
            <a:ext cx="472785" cy="5038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496269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 </a:t>
            </a:r>
            <a:r>
              <a:rPr lang="en-US" sz="2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| New Investment Success Plan Tracking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A0355-BC6F-1766-DBA4-6D40B2D8839B}"/>
              </a:ext>
            </a:extLst>
          </p:cNvPr>
          <p:cNvSpPr txBox="1"/>
          <p:nvPr/>
        </p:nvSpPr>
        <p:spPr>
          <a:xfrm>
            <a:off x="1828253" y="991705"/>
            <a:ext cx="10179961" cy="287242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SemperSystem Activations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11F28B-C900-E17E-E704-C3AD05072BA4}"/>
              </a:ext>
            </a:extLst>
          </p:cNvPr>
          <p:cNvSpPr txBox="1"/>
          <p:nvPr/>
        </p:nvSpPr>
        <p:spPr>
          <a:xfrm>
            <a:off x="176956" y="991705"/>
            <a:ext cx="1543981" cy="287242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New Investment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D84151-DEC8-B8EB-1083-70BF33E27261}"/>
              </a:ext>
            </a:extLst>
          </p:cNvPr>
          <p:cNvSpPr txBox="1"/>
          <p:nvPr/>
        </p:nvSpPr>
        <p:spPr>
          <a:xfrm>
            <a:off x="1828254" y="1304790"/>
            <a:ext cx="4019900" cy="298067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Success Plan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586ADC-8AA5-DB6A-4A85-EEA59238934E}"/>
              </a:ext>
            </a:extLst>
          </p:cNvPr>
          <p:cNvSpPr txBox="1"/>
          <p:nvPr/>
        </p:nvSpPr>
        <p:spPr>
          <a:xfrm>
            <a:off x="1841762" y="1641771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100"/>
              <a:t>Advisor Session</a:t>
            </a:r>
            <a:endParaRPr lang="en-US" sz="1100"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68207A-8DFE-4D77-E928-88CBD526ADAC}"/>
              </a:ext>
            </a:extLst>
          </p:cNvPr>
          <p:cNvSpPr txBox="1"/>
          <p:nvPr/>
        </p:nvSpPr>
        <p:spPr>
          <a:xfrm>
            <a:off x="5896665" y="4486493"/>
            <a:ext cx="6111547" cy="28724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Next Steps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104CD3-813A-A67A-4F5F-CE41531307D4}"/>
              </a:ext>
            </a:extLst>
          </p:cNvPr>
          <p:cNvSpPr txBox="1"/>
          <p:nvPr/>
        </p:nvSpPr>
        <p:spPr>
          <a:xfrm>
            <a:off x="5896665" y="4812438"/>
            <a:ext cx="6111547" cy="995166"/>
          </a:xfrm>
          <a:prstGeom prst="roundRect">
            <a:avLst/>
          </a:prstGeom>
          <a:noFill/>
          <a:ln>
            <a:noFill/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900">
                <a:ea typeface="+mn-ea"/>
                <a:cs typeface="+mn-cs"/>
              </a:rPr>
              <a:t>Schedule kick off meeting</a:t>
            </a:r>
          </a:p>
          <a:p>
            <a:pPr marL="285750" marR="0" lvl="0" indent="-2857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900"/>
              <a:t>Schedule demo day</a:t>
            </a:r>
          </a:p>
          <a:p>
            <a:pPr marL="285750" marR="0" lvl="0" indent="-2857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endParaRPr lang="en-US" sz="900">
              <a:ea typeface="+mn-ea"/>
              <a:cs typeface="+mn-cs"/>
            </a:endParaRPr>
          </a:p>
          <a:p>
            <a:pPr marL="285750" marR="0" lvl="0" indent="-2857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endParaRPr lang="en-US" sz="900"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5E729-0CD5-8ABF-B4F1-71C710D39486}"/>
              </a:ext>
            </a:extLst>
          </p:cNvPr>
          <p:cNvSpPr txBox="1"/>
          <p:nvPr/>
        </p:nvSpPr>
        <p:spPr>
          <a:xfrm>
            <a:off x="6691533" y="2449375"/>
            <a:ext cx="914400" cy="457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Monthly Platform Check-In’s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7EBE1-2EC3-211D-50B6-4A2AD2C366E0}"/>
              </a:ext>
            </a:extLst>
          </p:cNvPr>
          <p:cNvSpPr txBox="1"/>
          <p:nvPr/>
        </p:nvSpPr>
        <p:spPr>
          <a:xfrm>
            <a:off x="6680380" y="1300965"/>
            <a:ext cx="4489385" cy="298067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Process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E8AE67-7D5D-72A3-346B-AAAE1AC98469}"/>
              </a:ext>
            </a:extLst>
          </p:cNvPr>
          <p:cNvSpPr txBox="1"/>
          <p:nvPr/>
        </p:nvSpPr>
        <p:spPr>
          <a:xfrm>
            <a:off x="2780013" y="1636768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900">
                <a:ea typeface="+mn-ea"/>
                <a:cs typeface="+mn-cs"/>
              </a:rPr>
              <a:t>HR Venture Advisor  15 min Presentation : 08/07</a:t>
            </a:r>
          </a:p>
          <a:p>
            <a:pPr marL="171450" marR="0" lvl="0" indent="-1714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900"/>
              <a:t>HR Exec Advisor 20 Min Presentation : 06/26</a:t>
            </a:r>
          </a:p>
          <a:p>
            <a:pPr marL="171450" marR="0" lvl="0" indent="-1714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900">
                <a:ea typeface="+mn-ea"/>
                <a:cs typeface="+mn-cs"/>
              </a:rPr>
              <a:t>Feedback Session </a:t>
            </a:r>
            <a:r>
              <a:rPr lang="en-US" sz="900"/>
              <a:t>: ?</a:t>
            </a:r>
            <a:endParaRPr lang="en-US" sz="900"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6DA435-E775-4D1A-823B-7AC056D4D59C}"/>
              </a:ext>
            </a:extLst>
          </p:cNvPr>
          <p:cNvSpPr txBox="1"/>
          <p:nvPr/>
        </p:nvSpPr>
        <p:spPr>
          <a:xfrm>
            <a:off x="1827706" y="2577291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100">
                <a:ea typeface="+mn-ea"/>
                <a:cs typeface="+mn-cs"/>
              </a:rPr>
              <a:t>Co-Host Industry Event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3BF5B-4AF4-15B0-AF6F-E9317DBDBE22}"/>
              </a:ext>
            </a:extLst>
          </p:cNvPr>
          <p:cNvSpPr txBox="1"/>
          <p:nvPr/>
        </p:nvSpPr>
        <p:spPr>
          <a:xfrm>
            <a:off x="2758133" y="2575696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900">
                <a:ea typeface="+mn-ea"/>
                <a:cs typeface="+mn-cs"/>
              </a:rPr>
              <a:t>HR Advisor Dinner at Transform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6AAACC-058E-5A4C-4872-E8F89F31964F}"/>
              </a:ext>
            </a:extLst>
          </p:cNvPr>
          <p:cNvSpPr txBox="1"/>
          <p:nvPr/>
        </p:nvSpPr>
        <p:spPr>
          <a:xfrm>
            <a:off x="2780013" y="3522648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900" err="1">
                <a:ea typeface="+mn-ea"/>
                <a:cs typeface="+mn-cs"/>
              </a:rPr>
              <a:t>SemperSummit</a:t>
            </a:r>
            <a:r>
              <a:rPr lang="en-US" sz="900">
                <a:ea typeface="+mn-ea"/>
                <a:cs typeface="+mn-cs"/>
              </a:rPr>
              <a:t> at Transform</a:t>
            </a:r>
          </a:p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E94FDE-489D-C95F-1D35-6F764182A335}"/>
              </a:ext>
            </a:extLst>
          </p:cNvPr>
          <p:cNvSpPr txBox="1"/>
          <p:nvPr/>
        </p:nvSpPr>
        <p:spPr>
          <a:xfrm>
            <a:off x="1827706" y="4480224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59CEC4-449E-2D1C-1574-9AB9E20A6488}"/>
              </a:ext>
            </a:extLst>
          </p:cNvPr>
          <p:cNvSpPr txBox="1"/>
          <p:nvPr/>
        </p:nvSpPr>
        <p:spPr>
          <a:xfrm>
            <a:off x="2780013" y="4500388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EAB628-B6E5-9063-306D-45359B61E3E5}"/>
              </a:ext>
            </a:extLst>
          </p:cNvPr>
          <p:cNvSpPr txBox="1"/>
          <p:nvPr/>
        </p:nvSpPr>
        <p:spPr>
          <a:xfrm>
            <a:off x="1827706" y="5448699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F74D2A-E7BD-8B2F-E9B1-77DA45A351F7}"/>
              </a:ext>
            </a:extLst>
          </p:cNvPr>
          <p:cNvSpPr txBox="1"/>
          <p:nvPr/>
        </p:nvSpPr>
        <p:spPr>
          <a:xfrm>
            <a:off x="2780013" y="5448699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F736E2-55B8-D7EB-8855-2DB3DE9C20CA}"/>
              </a:ext>
            </a:extLst>
          </p:cNvPr>
          <p:cNvSpPr txBox="1"/>
          <p:nvPr/>
        </p:nvSpPr>
        <p:spPr>
          <a:xfrm>
            <a:off x="198130" y="3702481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Last Updated:</a:t>
            </a:r>
            <a:endParaRPr lang="en-US">
              <a:ea typeface="+mn-ea"/>
              <a:cs typeface="+mn-cs"/>
            </a:endParaRPr>
          </a:p>
        </p:txBody>
      </p:sp>
      <p:pic>
        <p:nvPicPr>
          <p:cNvPr id="11" name="Picture 10" descr="A person wearing glasses and a red shirt&#10;&#10;Description automatically generated">
            <a:extLst>
              <a:ext uri="{FF2B5EF4-FFF2-40B4-BE49-F238E27FC236}">
                <a16:creationId xmlns:a16="http://schemas.microsoft.com/office/drawing/2014/main" id="{634C0F03-F4B1-882A-22F7-4696F1658F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1520" y="2338314"/>
            <a:ext cx="560347" cy="560347"/>
          </a:xfrm>
          <a:prstGeom prst="ellipse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BCDD5C-8724-BC32-5C91-7AD6462AD660}"/>
              </a:ext>
            </a:extLst>
          </p:cNvPr>
          <p:cNvSpPr txBox="1"/>
          <p:nvPr/>
        </p:nvSpPr>
        <p:spPr>
          <a:xfrm>
            <a:off x="6680380" y="3322571"/>
            <a:ext cx="914400" cy="457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/>
              <a:t>Quarterly Strategic Reviews</a:t>
            </a:r>
            <a:endParaRPr lang="en-US" sz="900"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103171-E284-D9C7-DB8D-846FD4DCC0B2}"/>
              </a:ext>
            </a:extLst>
          </p:cNvPr>
          <p:cNvSpPr txBox="1"/>
          <p:nvPr/>
        </p:nvSpPr>
        <p:spPr>
          <a:xfrm>
            <a:off x="6691533" y="1636595"/>
            <a:ext cx="914400" cy="28346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/>
              <a:t>Slack Integration</a:t>
            </a:r>
            <a:endParaRPr lang="en-US" sz="900"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508F75-AE67-9666-B625-A27B170D9E0E}"/>
              </a:ext>
            </a:extLst>
          </p:cNvPr>
          <p:cNvSpPr txBox="1"/>
          <p:nvPr/>
        </p:nvSpPr>
        <p:spPr>
          <a:xfrm>
            <a:off x="180145" y="2930764"/>
            <a:ext cx="1527585" cy="697709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8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Dalton Dahms-Shermer</a:t>
            </a:r>
          </a:p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800">
                <a:solidFill>
                  <a:srgbClr val="1C4846"/>
                </a:solidFill>
                <a:latin typeface="Aptos Light"/>
                <a:ea typeface="MS PGothic"/>
                <a:cs typeface="Calibri Light"/>
                <a:hlinkClick r:id="rId6"/>
              </a:rPr>
              <a:t>Dalton@sempervirensvc.com</a:t>
            </a:r>
            <a:endParaRPr lang="en-US" sz="800">
              <a:solidFill>
                <a:srgbClr val="1C4846"/>
              </a:solidFill>
              <a:latin typeface="Aptos Light"/>
              <a:ea typeface="MS PGothic"/>
              <a:cs typeface="Calibri Light"/>
            </a:endParaRPr>
          </a:p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8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P: (218) 371-7959</a:t>
            </a:r>
            <a:endParaRPr lang="en-US" sz="800"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D57FCA-7F88-3E18-6C02-B1963E76D484}"/>
              </a:ext>
            </a:extLst>
          </p:cNvPr>
          <p:cNvSpPr txBox="1"/>
          <p:nvPr/>
        </p:nvSpPr>
        <p:spPr>
          <a:xfrm>
            <a:off x="194939" y="4043584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11/22/2024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7273A1-C399-FE0F-78C3-B094FC2E930C}"/>
              </a:ext>
            </a:extLst>
          </p:cNvPr>
          <p:cNvSpPr txBox="1"/>
          <p:nvPr/>
        </p:nvSpPr>
        <p:spPr>
          <a:xfrm>
            <a:off x="7643838" y="2439731"/>
            <a:ext cx="3526475" cy="4711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ea typeface="+mn-ea"/>
                <a:cs typeface="+mn-cs"/>
              </a:rPr>
              <a:t>30-minute check-ins with platform team on progress of activations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E2AE02-0474-3817-695B-B347DE16869B}"/>
              </a:ext>
            </a:extLst>
          </p:cNvPr>
          <p:cNvSpPr txBox="1"/>
          <p:nvPr/>
        </p:nvSpPr>
        <p:spPr>
          <a:xfrm>
            <a:off x="7643840" y="1636595"/>
            <a:ext cx="3526474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/>
              <a:t>Communication tool</a:t>
            </a:r>
            <a:endParaRPr lang="en-US" sz="1200"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E50C5A-71DC-8F44-1C1C-35BEA780C497}"/>
              </a:ext>
            </a:extLst>
          </p:cNvPr>
          <p:cNvSpPr txBox="1"/>
          <p:nvPr/>
        </p:nvSpPr>
        <p:spPr>
          <a:xfrm>
            <a:off x="6691533" y="2926760"/>
            <a:ext cx="914400" cy="37882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Dock Workspace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DE734F-CEF0-8B25-3264-5DFB3BA696E2}"/>
              </a:ext>
            </a:extLst>
          </p:cNvPr>
          <p:cNvSpPr txBox="1"/>
          <p:nvPr/>
        </p:nvSpPr>
        <p:spPr>
          <a:xfrm>
            <a:off x="7643838" y="2945962"/>
            <a:ext cx="3526476" cy="37490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ea typeface="+mn-ea"/>
                <a:cs typeface="+mn-cs"/>
              </a:rPr>
              <a:t>Shared workspace to track process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BC7004-1A01-C3E5-EFFE-5B28EAF82BF0}"/>
              </a:ext>
            </a:extLst>
          </p:cNvPr>
          <p:cNvSpPr txBox="1"/>
          <p:nvPr/>
        </p:nvSpPr>
        <p:spPr>
          <a:xfrm>
            <a:off x="7645168" y="3339005"/>
            <a:ext cx="3537626" cy="457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/>
              <a:t>SemperVirens investment team lead + platform</a:t>
            </a:r>
            <a:endParaRPr lang="en-US" sz="1200">
              <a:ea typeface="+mn-ea"/>
              <a:cs typeface="+mn-cs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8DA8F9-019D-454F-2BA4-C17251BAA1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5529" y="1473569"/>
            <a:ext cx="1276815" cy="12574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64E567C-5C1E-FCA6-A1A3-360A1DED4864}"/>
              </a:ext>
            </a:extLst>
          </p:cNvPr>
          <p:cNvSpPr txBox="1"/>
          <p:nvPr/>
        </p:nvSpPr>
        <p:spPr>
          <a:xfrm>
            <a:off x="176956" y="1714641"/>
            <a:ext cx="1527585" cy="461616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8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Amaury Hellebuyck</a:t>
            </a:r>
          </a:p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800" err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amaury@techwolf.ai</a:t>
            </a:r>
            <a:endParaRPr lang="en-US" sz="800">
              <a:solidFill>
                <a:srgbClr val="1C4846"/>
              </a:solidFill>
              <a:latin typeface="Aptos Light"/>
              <a:ea typeface="MS PGothic"/>
              <a:cs typeface="Calibri Ligh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2AEEF0-3B3B-0182-33DC-3442FFB2DC8F}"/>
              </a:ext>
            </a:extLst>
          </p:cNvPr>
          <p:cNvSpPr txBox="1"/>
          <p:nvPr/>
        </p:nvSpPr>
        <p:spPr>
          <a:xfrm>
            <a:off x="11206975" y="1636879"/>
            <a:ext cx="790086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D9E0EE-EE11-38B9-1DC9-B40ABEB6978B}"/>
              </a:ext>
            </a:extLst>
          </p:cNvPr>
          <p:cNvSpPr txBox="1"/>
          <p:nvPr/>
        </p:nvSpPr>
        <p:spPr>
          <a:xfrm>
            <a:off x="11206975" y="1299913"/>
            <a:ext cx="790085" cy="298067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Status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31D207-3805-8EDF-363E-85EB2ED9B4FF}"/>
              </a:ext>
            </a:extLst>
          </p:cNvPr>
          <p:cNvSpPr txBox="1"/>
          <p:nvPr/>
        </p:nvSpPr>
        <p:spPr>
          <a:xfrm>
            <a:off x="11206974" y="2443142"/>
            <a:ext cx="801240" cy="47548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E9EFC1-933F-7723-7EB1-F60632065AEE}"/>
              </a:ext>
            </a:extLst>
          </p:cNvPr>
          <p:cNvSpPr txBox="1"/>
          <p:nvPr/>
        </p:nvSpPr>
        <p:spPr>
          <a:xfrm>
            <a:off x="11206974" y="2952950"/>
            <a:ext cx="801240" cy="37490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7F240A-D377-F010-E72D-F43695CA16FC}"/>
              </a:ext>
            </a:extLst>
          </p:cNvPr>
          <p:cNvSpPr txBox="1"/>
          <p:nvPr/>
        </p:nvSpPr>
        <p:spPr>
          <a:xfrm>
            <a:off x="11206974" y="3339005"/>
            <a:ext cx="801240" cy="457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22877B-305C-0138-402F-BD28F2E3909C}"/>
              </a:ext>
            </a:extLst>
          </p:cNvPr>
          <p:cNvSpPr txBox="1"/>
          <p:nvPr/>
        </p:nvSpPr>
        <p:spPr>
          <a:xfrm>
            <a:off x="1836597" y="3511749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Speaking Engagement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D1DC30-B4C6-C3CF-B325-1E3C421F6B4B}"/>
              </a:ext>
            </a:extLst>
          </p:cNvPr>
          <p:cNvSpPr txBox="1"/>
          <p:nvPr/>
        </p:nvSpPr>
        <p:spPr>
          <a:xfrm>
            <a:off x="6690656" y="1937042"/>
            <a:ext cx="914400" cy="47548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Platform Demo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6BA394-6BE6-516F-7F3A-0CFD7A4F42CE}"/>
              </a:ext>
            </a:extLst>
          </p:cNvPr>
          <p:cNvSpPr txBox="1"/>
          <p:nvPr/>
        </p:nvSpPr>
        <p:spPr>
          <a:xfrm>
            <a:off x="7650744" y="1942870"/>
            <a:ext cx="3526474" cy="4711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/>
              <a:t>Walk through your product demo with the platform team </a:t>
            </a:r>
            <a:endParaRPr lang="en-US" sz="1200"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D6A367-4D1D-BBB7-C9E2-FB02874C587C}"/>
              </a:ext>
            </a:extLst>
          </p:cNvPr>
          <p:cNvSpPr txBox="1"/>
          <p:nvPr/>
        </p:nvSpPr>
        <p:spPr>
          <a:xfrm>
            <a:off x="11206974" y="1967841"/>
            <a:ext cx="801239" cy="47548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9B74E3-311C-FB92-5F3A-49C30F72C86D}"/>
              </a:ext>
            </a:extLst>
          </p:cNvPr>
          <p:cNvSpPr txBox="1"/>
          <p:nvPr/>
        </p:nvSpPr>
        <p:spPr>
          <a:xfrm>
            <a:off x="5861472" y="1641771"/>
            <a:ext cx="790086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900">
                <a:ea typeface="+mn-ea"/>
                <a:cs typeface="+mn-cs"/>
              </a:rPr>
              <a:t>Done</a:t>
            </a:r>
          </a:p>
          <a:p>
            <a:pPr marL="171450" marR="0" lvl="0" indent="-1714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900"/>
              <a:t>Done</a:t>
            </a:r>
          </a:p>
          <a:p>
            <a:pPr marL="171450" marR="0" lvl="0" indent="-1714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600">
                <a:ea typeface="+mn-ea"/>
                <a:cs typeface="+mn-cs"/>
              </a:rPr>
              <a:t>Schedule</a:t>
            </a:r>
            <a:endParaRPr lang="en-US" sz="900"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AA9091-9461-C3E5-FE3D-304AB931E01A}"/>
              </a:ext>
            </a:extLst>
          </p:cNvPr>
          <p:cNvSpPr txBox="1"/>
          <p:nvPr/>
        </p:nvSpPr>
        <p:spPr>
          <a:xfrm>
            <a:off x="5872627" y="1308229"/>
            <a:ext cx="790085" cy="298067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Status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7A4BEA-C96E-D5D7-D124-A26B4939B976}"/>
              </a:ext>
            </a:extLst>
          </p:cNvPr>
          <p:cNvSpPr txBox="1"/>
          <p:nvPr/>
        </p:nvSpPr>
        <p:spPr>
          <a:xfrm>
            <a:off x="5861472" y="2584529"/>
            <a:ext cx="8012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4C624B-A664-5718-D4D4-253A31A4BD87}"/>
              </a:ext>
            </a:extLst>
          </p:cNvPr>
          <p:cNvSpPr txBox="1"/>
          <p:nvPr/>
        </p:nvSpPr>
        <p:spPr>
          <a:xfrm>
            <a:off x="5870033" y="3516505"/>
            <a:ext cx="8012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 sz="120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5359316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C3D29A48-ACF9-B0F1-3918-BAFD531B2D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370"/>
          <a:stretch/>
        </p:blipFill>
        <p:spPr>
          <a:xfrm>
            <a:off x="176956" y="2229462"/>
            <a:ext cx="472785" cy="5038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496269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 </a:t>
            </a:r>
            <a:r>
              <a:rPr lang="en-US" sz="2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| New Investment Success Plan Tracking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A0355-BC6F-1766-DBA4-6D40B2D8839B}"/>
              </a:ext>
            </a:extLst>
          </p:cNvPr>
          <p:cNvSpPr txBox="1"/>
          <p:nvPr/>
        </p:nvSpPr>
        <p:spPr>
          <a:xfrm>
            <a:off x="1828253" y="991705"/>
            <a:ext cx="10179961" cy="287242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SemperSystem Activations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111F28B-C900-E17E-E704-C3AD05072BA4}"/>
              </a:ext>
            </a:extLst>
          </p:cNvPr>
          <p:cNvSpPr txBox="1"/>
          <p:nvPr/>
        </p:nvSpPr>
        <p:spPr>
          <a:xfrm>
            <a:off x="176956" y="991705"/>
            <a:ext cx="1543981" cy="287242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New Investment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D84151-DEC8-B8EB-1083-70BF33E27261}"/>
              </a:ext>
            </a:extLst>
          </p:cNvPr>
          <p:cNvSpPr txBox="1"/>
          <p:nvPr/>
        </p:nvSpPr>
        <p:spPr>
          <a:xfrm>
            <a:off x="1828254" y="1304790"/>
            <a:ext cx="4019900" cy="298067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Success Plan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586ADC-8AA5-DB6A-4A85-EEA59238934E}"/>
              </a:ext>
            </a:extLst>
          </p:cNvPr>
          <p:cNvSpPr txBox="1"/>
          <p:nvPr/>
        </p:nvSpPr>
        <p:spPr>
          <a:xfrm>
            <a:off x="1841762" y="1641771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lang="en-US" sz="1100"/>
              <a:t>Advisor Session</a:t>
            </a:r>
            <a:endParaRPr lang="en-US" sz="1100"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68207A-8DFE-4D77-E928-88CBD526ADAC}"/>
              </a:ext>
            </a:extLst>
          </p:cNvPr>
          <p:cNvSpPr txBox="1"/>
          <p:nvPr/>
        </p:nvSpPr>
        <p:spPr>
          <a:xfrm>
            <a:off x="5896665" y="4486493"/>
            <a:ext cx="6111547" cy="28724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Next Steps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104CD3-813A-A67A-4F5F-CE41531307D4}"/>
              </a:ext>
            </a:extLst>
          </p:cNvPr>
          <p:cNvSpPr txBox="1"/>
          <p:nvPr/>
        </p:nvSpPr>
        <p:spPr>
          <a:xfrm>
            <a:off x="5896665" y="4812438"/>
            <a:ext cx="6111547" cy="995166"/>
          </a:xfrm>
          <a:prstGeom prst="roundRect">
            <a:avLst/>
          </a:prstGeom>
          <a:noFill/>
          <a:ln>
            <a:noFill/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900">
                <a:ea typeface="+mn-ea"/>
                <a:cs typeface="+mn-cs"/>
              </a:rPr>
              <a:t>Schedule kick off meeting</a:t>
            </a:r>
          </a:p>
          <a:p>
            <a:pPr marL="285750" marR="0" lvl="0" indent="-2857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900"/>
              <a:t>Schedule demo day</a:t>
            </a:r>
          </a:p>
          <a:p>
            <a:pPr marL="285750" marR="0" lvl="0" indent="-2857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endParaRPr lang="en-US" sz="900">
              <a:ea typeface="+mn-ea"/>
              <a:cs typeface="+mn-cs"/>
            </a:endParaRPr>
          </a:p>
          <a:p>
            <a:pPr marL="285750" marR="0" lvl="0" indent="-2857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endParaRPr lang="en-US" sz="900"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5E729-0CD5-8ABF-B4F1-71C710D39486}"/>
              </a:ext>
            </a:extLst>
          </p:cNvPr>
          <p:cNvSpPr txBox="1"/>
          <p:nvPr/>
        </p:nvSpPr>
        <p:spPr>
          <a:xfrm>
            <a:off x="6691533" y="2449375"/>
            <a:ext cx="914400" cy="457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Monthly Platform Check-In’s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7EBE1-2EC3-211D-50B6-4A2AD2C366E0}"/>
              </a:ext>
            </a:extLst>
          </p:cNvPr>
          <p:cNvSpPr txBox="1"/>
          <p:nvPr/>
        </p:nvSpPr>
        <p:spPr>
          <a:xfrm>
            <a:off x="6680380" y="1300965"/>
            <a:ext cx="4489385" cy="298067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Process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E8AE67-7D5D-72A3-346B-AAAE1AC98469}"/>
              </a:ext>
            </a:extLst>
          </p:cNvPr>
          <p:cNvSpPr txBox="1"/>
          <p:nvPr/>
        </p:nvSpPr>
        <p:spPr>
          <a:xfrm>
            <a:off x="2780013" y="1636768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900">
                <a:ea typeface="+mn-ea"/>
                <a:cs typeface="+mn-cs"/>
              </a:rPr>
              <a:t>HR Venture Advisor  15 min Presentation : 08/07</a:t>
            </a:r>
          </a:p>
          <a:p>
            <a:pPr marL="171450" marR="0" lvl="0" indent="-1714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900"/>
              <a:t>HR Exec Advisor 20 Min Presentation : 06/26</a:t>
            </a:r>
          </a:p>
          <a:p>
            <a:pPr marL="171450" marR="0" lvl="0" indent="-1714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900">
                <a:ea typeface="+mn-ea"/>
                <a:cs typeface="+mn-cs"/>
              </a:rPr>
              <a:t>Feedback Session </a:t>
            </a:r>
            <a:r>
              <a:rPr lang="en-US" sz="900"/>
              <a:t>: ?</a:t>
            </a:r>
            <a:endParaRPr lang="en-US" sz="900"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6DA435-E775-4D1A-823B-7AC056D4D59C}"/>
              </a:ext>
            </a:extLst>
          </p:cNvPr>
          <p:cNvSpPr txBox="1"/>
          <p:nvPr/>
        </p:nvSpPr>
        <p:spPr>
          <a:xfrm>
            <a:off x="1827706" y="2577291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100">
                <a:ea typeface="+mn-ea"/>
                <a:cs typeface="+mn-cs"/>
              </a:rPr>
              <a:t>Co-Host Industry Event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A3BF5B-4AF4-15B0-AF6F-E9317DBDBE22}"/>
              </a:ext>
            </a:extLst>
          </p:cNvPr>
          <p:cNvSpPr txBox="1"/>
          <p:nvPr/>
        </p:nvSpPr>
        <p:spPr>
          <a:xfrm>
            <a:off x="2758133" y="2575696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900">
                <a:ea typeface="+mn-ea"/>
                <a:cs typeface="+mn-cs"/>
              </a:rPr>
              <a:t>HR Advisor Dinner at Transform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6AAACC-058E-5A4C-4872-E8F89F31964F}"/>
              </a:ext>
            </a:extLst>
          </p:cNvPr>
          <p:cNvSpPr txBox="1"/>
          <p:nvPr/>
        </p:nvSpPr>
        <p:spPr>
          <a:xfrm>
            <a:off x="2780013" y="3522648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71450" indent="-1714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r>
              <a:rPr lang="en-US" sz="900" err="1">
                <a:ea typeface="+mn-ea"/>
                <a:cs typeface="+mn-cs"/>
              </a:rPr>
              <a:t>SemperSummit</a:t>
            </a:r>
            <a:r>
              <a:rPr lang="en-US" sz="900">
                <a:ea typeface="+mn-ea"/>
                <a:cs typeface="+mn-cs"/>
              </a:rPr>
              <a:t> at Transform</a:t>
            </a:r>
          </a:p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E94FDE-489D-C95F-1D35-6F764182A335}"/>
              </a:ext>
            </a:extLst>
          </p:cNvPr>
          <p:cNvSpPr txBox="1"/>
          <p:nvPr/>
        </p:nvSpPr>
        <p:spPr>
          <a:xfrm>
            <a:off x="1827706" y="4480224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59CEC4-449E-2D1C-1574-9AB9E20A6488}"/>
              </a:ext>
            </a:extLst>
          </p:cNvPr>
          <p:cNvSpPr txBox="1"/>
          <p:nvPr/>
        </p:nvSpPr>
        <p:spPr>
          <a:xfrm>
            <a:off x="2780013" y="4500388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EAB628-B6E5-9063-306D-45359B61E3E5}"/>
              </a:ext>
            </a:extLst>
          </p:cNvPr>
          <p:cNvSpPr txBox="1"/>
          <p:nvPr/>
        </p:nvSpPr>
        <p:spPr>
          <a:xfrm>
            <a:off x="1827706" y="5448699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F74D2A-E7BD-8B2F-E9B1-77DA45A351F7}"/>
              </a:ext>
            </a:extLst>
          </p:cNvPr>
          <p:cNvSpPr txBox="1"/>
          <p:nvPr/>
        </p:nvSpPr>
        <p:spPr>
          <a:xfrm>
            <a:off x="2780013" y="5448699"/>
            <a:ext cx="30658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F736E2-55B8-D7EB-8855-2DB3DE9C20CA}"/>
              </a:ext>
            </a:extLst>
          </p:cNvPr>
          <p:cNvSpPr txBox="1"/>
          <p:nvPr/>
        </p:nvSpPr>
        <p:spPr>
          <a:xfrm>
            <a:off x="198130" y="3702481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Last Updated:</a:t>
            </a:r>
            <a:endParaRPr lang="en-US">
              <a:ea typeface="+mn-ea"/>
              <a:cs typeface="+mn-cs"/>
            </a:endParaRPr>
          </a:p>
        </p:txBody>
      </p:sp>
      <p:pic>
        <p:nvPicPr>
          <p:cNvPr id="11" name="Picture 10" descr="A person wearing glasses and a red shirt&#10;&#10;Description automatically generated">
            <a:extLst>
              <a:ext uri="{FF2B5EF4-FFF2-40B4-BE49-F238E27FC236}">
                <a16:creationId xmlns:a16="http://schemas.microsoft.com/office/drawing/2014/main" id="{634C0F03-F4B1-882A-22F7-4696F1658F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1520" y="2338314"/>
            <a:ext cx="560347" cy="560347"/>
          </a:xfrm>
          <a:prstGeom prst="ellipse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BCDD5C-8724-BC32-5C91-7AD6462AD660}"/>
              </a:ext>
            </a:extLst>
          </p:cNvPr>
          <p:cNvSpPr txBox="1"/>
          <p:nvPr/>
        </p:nvSpPr>
        <p:spPr>
          <a:xfrm>
            <a:off x="6680380" y="3322571"/>
            <a:ext cx="914400" cy="457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/>
              <a:t>Quarterly Strategic Reviews</a:t>
            </a:r>
            <a:endParaRPr lang="en-US" sz="900"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103171-E284-D9C7-DB8D-846FD4DCC0B2}"/>
              </a:ext>
            </a:extLst>
          </p:cNvPr>
          <p:cNvSpPr txBox="1"/>
          <p:nvPr/>
        </p:nvSpPr>
        <p:spPr>
          <a:xfrm>
            <a:off x="6691533" y="1636595"/>
            <a:ext cx="914400" cy="28346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/>
              <a:t>Slack Integration</a:t>
            </a:r>
            <a:endParaRPr lang="en-US" sz="900"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508F75-AE67-9666-B625-A27B170D9E0E}"/>
              </a:ext>
            </a:extLst>
          </p:cNvPr>
          <p:cNvSpPr txBox="1"/>
          <p:nvPr/>
        </p:nvSpPr>
        <p:spPr>
          <a:xfrm>
            <a:off x="180145" y="2930764"/>
            <a:ext cx="1527585" cy="697709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8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Dalton Dahms-Shermer</a:t>
            </a:r>
          </a:p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800">
                <a:solidFill>
                  <a:srgbClr val="1C4846"/>
                </a:solidFill>
                <a:latin typeface="Aptos Light"/>
                <a:ea typeface="MS PGothic"/>
                <a:cs typeface="Calibri Light"/>
                <a:hlinkClick r:id="rId6"/>
              </a:rPr>
              <a:t>Dalton@sempervirensvc.com</a:t>
            </a:r>
            <a:endParaRPr lang="en-US" sz="800">
              <a:solidFill>
                <a:srgbClr val="1C4846"/>
              </a:solidFill>
              <a:latin typeface="Aptos Light"/>
              <a:ea typeface="MS PGothic"/>
              <a:cs typeface="Calibri Light"/>
            </a:endParaRPr>
          </a:p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8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P: (218) 371-7959</a:t>
            </a:r>
            <a:endParaRPr lang="en-US" sz="800"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D57FCA-7F88-3E18-6C02-B1963E76D484}"/>
              </a:ext>
            </a:extLst>
          </p:cNvPr>
          <p:cNvSpPr txBox="1"/>
          <p:nvPr/>
        </p:nvSpPr>
        <p:spPr>
          <a:xfrm>
            <a:off x="194939" y="4043584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11/22/2024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7273A1-C399-FE0F-78C3-B094FC2E930C}"/>
              </a:ext>
            </a:extLst>
          </p:cNvPr>
          <p:cNvSpPr txBox="1"/>
          <p:nvPr/>
        </p:nvSpPr>
        <p:spPr>
          <a:xfrm>
            <a:off x="7643838" y="2439731"/>
            <a:ext cx="3526475" cy="4711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ea typeface="+mn-ea"/>
                <a:cs typeface="+mn-cs"/>
              </a:rPr>
              <a:t>30-minute check-ins with platform team on progress of activations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E2AE02-0474-3817-695B-B347DE16869B}"/>
              </a:ext>
            </a:extLst>
          </p:cNvPr>
          <p:cNvSpPr txBox="1"/>
          <p:nvPr/>
        </p:nvSpPr>
        <p:spPr>
          <a:xfrm>
            <a:off x="7643840" y="1636595"/>
            <a:ext cx="3526474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/>
              <a:t>Communication tool</a:t>
            </a:r>
            <a:endParaRPr lang="en-US" sz="1200"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E50C5A-71DC-8F44-1C1C-35BEA780C497}"/>
              </a:ext>
            </a:extLst>
          </p:cNvPr>
          <p:cNvSpPr txBox="1"/>
          <p:nvPr/>
        </p:nvSpPr>
        <p:spPr>
          <a:xfrm>
            <a:off x="6691533" y="2926760"/>
            <a:ext cx="914400" cy="37882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Dock Workspace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DE734F-CEF0-8B25-3264-5DFB3BA696E2}"/>
              </a:ext>
            </a:extLst>
          </p:cNvPr>
          <p:cNvSpPr txBox="1"/>
          <p:nvPr/>
        </p:nvSpPr>
        <p:spPr>
          <a:xfrm>
            <a:off x="7643838" y="2945962"/>
            <a:ext cx="3526476" cy="37490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ea typeface="+mn-ea"/>
                <a:cs typeface="+mn-cs"/>
              </a:rPr>
              <a:t>Shared workspace to track process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BC7004-1A01-C3E5-EFFE-5B28EAF82BF0}"/>
              </a:ext>
            </a:extLst>
          </p:cNvPr>
          <p:cNvSpPr txBox="1"/>
          <p:nvPr/>
        </p:nvSpPr>
        <p:spPr>
          <a:xfrm>
            <a:off x="7645168" y="3339005"/>
            <a:ext cx="3537626" cy="457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/>
              <a:t>SemperVirens investment team lead + platform</a:t>
            </a:r>
            <a:endParaRPr lang="en-US" sz="1200">
              <a:ea typeface="+mn-ea"/>
              <a:cs typeface="+mn-cs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8DA8F9-019D-454F-2BA4-C17251BAA1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5529" y="1473569"/>
            <a:ext cx="1276815" cy="12574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64E567C-5C1E-FCA6-A1A3-360A1DED4864}"/>
              </a:ext>
            </a:extLst>
          </p:cNvPr>
          <p:cNvSpPr txBox="1"/>
          <p:nvPr/>
        </p:nvSpPr>
        <p:spPr>
          <a:xfrm>
            <a:off x="176956" y="1714641"/>
            <a:ext cx="1527585" cy="461616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8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Amaury Hellebuyck</a:t>
            </a:r>
          </a:p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800" err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amaury@techwolf.ai</a:t>
            </a:r>
            <a:endParaRPr lang="en-US" sz="800">
              <a:solidFill>
                <a:srgbClr val="1C4846"/>
              </a:solidFill>
              <a:latin typeface="Aptos Light"/>
              <a:ea typeface="MS PGothic"/>
              <a:cs typeface="Calibri Ligh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2AEEF0-3B3B-0182-33DC-3442FFB2DC8F}"/>
              </a:ext>
            </a:extLst>
          </p:cNvPr>
          <p:cNvSpPr txBox="1"/>
          <p:nvPr/>
        </p:nvSpPr>
        <p:spPr>
          <a:xfrm>
            <a:off x="11206975" y="1636879"/>
            <a:ext cx="790086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D9E0EE-EE11-38B9-1DC9-B40ABEB6978B}"/>
              </a:ext>
            </a:extLst>
          </p:cNvPr>
          <p:cNvSpPr txBox="1"/>
          <p:nvPr/>
        </p:nvSpPr>
        <p:spPr>
          <a:xfrm>
            <a:off x="11206975" y="1299913"/>
            <a:ext cx="790085" cy="298067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Status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31D207-3805-8EDF-363E-85EB2ED9B4FF}"/>
              </a:ext>
            </a:extLst>
          </p:cNvPr>
          <p:cNvSpPr txBox="1"/>
          <p:nvPr/>
        </p:nvSpPr>
        <p:spPr>
          <a:xfrm>
            <a:off x="11206974" y="2443142"/>
            <a:ext cx="801240" cy="47548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E9EFC1-933F-7723-7EB1-F60632065AEE}"/>
              </a:ext>
            </a:extLst>
          </p:cNvPr>
          <p:cNvSpPr txBox="1"/>
          <p:nvPr/>
        </p:nvSpPr>
        <p:spPr>
          <a:xfrm>
            <a:off x="11206974" y="2952950"/>
            <a:ext cx="801240" cy="37490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7F240A-D377-F010-E72D-F43695CA16FC}"/>
              </a:ext>
            </a:extLst>
          </p:cNvPr>
          <p:cNvSpPr txBox="1"/>
          <p:nvPr/>
        </p:nvSpPr>
        <p:spPr>
          <a:xfrm>
            <a:off x="11206974" y="3339005"/>
            <a:ext cx="801240" cy="457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22877B-305C-0138-402F-BD28F2E3909C}"/>
              </a:ext>
            </a:extLst>
          </p:cNvPr>
          <p:cNvSpPr txBox="1"/>
          <p:nvPr/>
        </p:nvSpPr>
        <p:spPr>
          <a:xfrm>
            <a:off x="1836597" y="3511749"/>
            <a:ext cx="91440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Speaking Engagement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CD1DC30-B4C6-C3CF-B325-1E3C421F6B4B}"/>
              </a:ext>
            </a:extLst>
          </p:cNvPr>
          <p:cNvSpPr txBox="1"/>
          <p:nvPr/>
        </p:nvSpPr>
        <p:spPr>
          <a:xfrm>
            <a:off x="6690656" y="1937042"/>
            <a:ext cx="914400" cy="47548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900">
                <a:ea typeface="+mn-ea"/>
                <a:cs typeface="+mn-cs"/>
              </a:rPr>
              <a:t>Platform Demo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6BA394-6BE6-516F-7F3A-0CFD7A4F42CE}"/>
              </a:ext>
            </a:extLst>
          </p:cNvPr>
          <p:cNvSpPr txBox="1"/>
          <p:nvPr/>
        </p:nvSpPr>
        <p:spPr>
          <a:xfrm>
            <a:off x="7650744" y="1942870"/>
            <a:ext cx="3526474" cy="47112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/>
              <a:t>Walk through your product demo with the platform team </a:t>
            </a:r>
            <a:endParaRPr lang="en-US" sz="1200"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D6A367-4D1D-BBB7-C9E2-FB02874C587C}"/>
              </a:ext>
            </a:extLst>
          </p:cNvPr>
          <p:cNvSpPr txBox="1"/>
          <p:nvPr/>
        </p:nvSpPr>
        <p:spPr>
          <a:xfrm>
            <a:off x="11206974" y="1967841"/>
            <a:ext cx="801239" cy="47548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79B74E3-311C-FB92-5F3A-49C30F72C86D}"/>
              </a:ext>
            </a:extLst>
          </p:cNvPr>
          <p:cNvSpPr txBox="1"/>
          <p:nvPr/>
        </p:nvSpPr>
        <p:spPr>
          <a:xfrm>
            <a:off x="5861472" y="1641771"/>
            <a:ext cx="790086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900">
                <a:ea typeface="+mn-ea"/>
                <a:cs typeface="+mn-cs"/>
              </a:rPr>
              <a:t>Done</a:t>
            </a:r>
          </a:p>
          <a:p>
            <a:pPr marL="171450" marR="0" lvl="0" indent="-1714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900"/>
              <a:t>Done</a:t>
            </a:r>
          </a:p>
          <a:p>
            <a:pPr marL="171450" marR="0" lvl="0" indent="-17145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/>
            </a:pPr>
            <a:r>
              <a:rPr lang="en-US" sz="600">
                <a:ea typeface="+mn-ea"/>
                <a:cs typeface="+mn-cs"/>
              </a:rPr>
              <a:t>Schedule</a:t>
            </a:r>
            <a:endParaRPr lang="en-US" sz="900"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AA9091-9461-C3E5-FE3D-304AB931E01A}"/>
              </a:ext>
            </a:extLst>
          </p:cNvPr>
          <p:cNvSpPr txBox="1"/>
          <p:nvPr/>
        </p:nvSpPr>
        <p:spPr>
          <a:xfrm>
            <a:off x="5872627" y="1308229"/>
            <a:ext cx="790085" cy="298067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Status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7A4BEA-C96E-D5D7-D124-A26B4939B976}"/>
              </a:ext>
            </a:extLst>
          </p:cNvPr>
          <p:cNvSpPr txBox="1"/>
          <p:nvPr/>
        </p:nvSpPr>
        <p:spPr>
          <a:xfrm>
            <a:off x="5861472" y="2584529"/>
            <a:ext cx="8012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 sz="1200"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4C624B-A664-5718-D4D4-253A31A4BD87}"/>
              </a:ext>
            </a:extLst>
          </p:cNvPr>
          <p:cNvSpPr txBox="1"/>
          <p:nvPr/>
        </p:nvSpPr>
        <p:spPr>
          <a:xfrm>
            <a:off x="5870033" y="3516505"/>
            <a:ext cx="801240" cy="9144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 sz="120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5566963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32DE969B-E9F4-AE97-9550-D5920BCDCB1B}"/>
              </a:ext>
            </a:extLst>
          </p:cNvPr>
          <p:cNvSpPr/>
          <p:nvPr/>
        </p:nvSpPr>
        <p:spPr>
          <a:xfrm rot="5400000">
            <a:off x="11086929" y="5501680"/>
            <a:ext cx="1050168" cy="542448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186EBE-5452-73D5-4DBB-AE8D75C4694E}"/>
              </a:ext>
            </a:extLst>
          </p:cNvPr>
          <p:cNvSpPr/>
          <p:nvPr/>
        </p:nvSpPr>
        <p:spPr>
          <a:xfrm>
            <a:off x="244934" y="5497550"/>
            <a:ext cx="4096153" cy="53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5F4E3B-6AB1-A2DC-A7A7-66246324FD3F}"/>
              </a:ext>
            </a:extLst>
          </p:cNvPr>
          <p:cNvSpPr txBox="1"/>
          <p:nvPr/>
        </p:nvSpPr>
        <p:spPr>
          <a:xfrm>
            <a:off x="203843" y="489213"/>
            <a:ext cx="11740871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SemperVirens SemperSystem Portfolio Case Study | New Investment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28DD5-9D6D-0F9E-2055-C8BF5309CF0D}"/>
              </a:ext>
            </a:extLst>
          </p:cNvPr>
          <p:cNvSpPr txBox="1"/>
          <p:nvPr/>
        </p:nvSpPr>
        <p:spPr>
          <a:xfrm>
            <a:off x="592047" y="1307836"/>
            <a:ext cx="3749040" cy="71323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Pre-Seed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MS PGothic"/>
                <a:cs typeface="Calibri Light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Seed, Series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77A72-DD9A-E1C2-A29A-2B198C65C386}"/>
              </a:ext>
            </a:extLst>
          </p:cNvPr>
          <p:cNvSpPr txBox="1"/>
          <p:nvPr/>
        </p:nvSpPr>
        <p:spPr>
          <a:xfrm>
            <a:off x="630306" y="999671"/>
            <a:ext cx="1675301" cy="28724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New Investment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147EA-C192-07FF-E1FD-DEBF264B5E25}"/>
              </a:ext>
            </a:extLst>
          </p:cNvPr>
          <p:cNvSpPr txBox="1"/>
          <p:nvPr/>
        </p:nvSpPr>
        <p:spPr>
          <a:xfrm>
            <a:off x="592047" y="4057702"/>
            <a:ext cx="3749040" cy="110642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Feedback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Exposure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10 Customers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A3132-2116-DC4B-32F5-9E86BEA2AA88}"/>
              </a:ext>
            </a:extLst>
          </p:cNvPr>
          <p:cNvSpPr txBox="1"/>
          <p:nvPr/>
        </p:nvSpPr>
        <p:spPr>
          <a:xfrm>
            <a:off x="570678" y="2152941"/>
            <a:ext cx="3749040" cy="1731042"/>
          </a:xfrm>
          <a:prstGeom prst="round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Initial Investment: 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Capital deployed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Feedback Sessions: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Venture Advisors in target market </a:t>
            </a:r>
          </a:p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Early Revenue: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Introductions to in-seat buyers from SemperVirens subsidiaries </a:t>
            </a:r>
          </a:p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Speaking Engagement: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Introduce portfolio founders as thought leader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79206-7C92-F9C7-E78B-FD2DB730B71D}"/>
              </a:ext>
            </a:extLst>
          </p:cNvPr>
          <p:cNvSpPr txBox="1"/>
          <p:nvPr/>
        </p:nvSpPr>
        <p:spPr>
          <a:xfrm rot="16200000">
            <a:off x="-566993" y="2874842"/>
            <a:ext cx="1911098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Activation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FB56F1-2E2A-51C7-4583-1B08DCE6281C}"/>
              </a:ext>
            </a:extLst>
          </p:cNvPr>
          <p:cNvSpPr txBox="1"/>
          <p:nvPr/>
        </p:nvSpPr>
        <p:spPr>
          <a:xfrm rot="16200000">
            <a:off x="-151725" y="4440423"/>
            <a:ext cx="1105300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Outcomes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202BD2-830F-5CDF-0C01-5B8DDE1F4E3F}"/>
              </a:ext>
            </a:extLst>
          </p:cNvPr>
          <p:cNvSpPr txBox="1"/>
          <p:nvPr/>
        </p:nvSpPr>
        <p:spPr>
          <a:xfrm rot="16200000">
            <a:off x="41146" y="1504022"/>
            <a:ext cx="715777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Stage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440BE9-9E53-E910-7023-09C9F77F79C7}"/>
              </a:ext>
            </a:extLst>
          </p:cNvPr>
          <p:cNvSpPr/>
          <p:nvPr/>
        </p:nvSpPr>
        <p:spPr>
          <a:xfrm flipV="1">
            <a:off x="206022" y="944032"/>
            <a:ext cx="11730566" cy="5442655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63EFB6-BB83-3ACF-5268-347878E83192}"/>
              </a:ext>
            </a:extLst>
          </p:cNvPr>
          <p:cNvSpPr txBox="1"/>
          <p:nvPr/>
        </p:nvSpPr>
        <p:spPr>
          <a:xfrm>
            <a:off x="4355463" y="998691"/>
            <a:ext cx="3749040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Activation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B59CA1-F30A-D5D1-C5CE-731AD34719D8}"/>
              </a:ext>
            </a:extLst>
          </p:cNvPr>
          <p:cNvSpPr txBox="1"/>
          <p:nvPr/>
        </p:nvSpPr>
        <p:spPr>
          <a:xfrm>
            <a:off x="2352907" y="1002513"/>
            <a:ext cx="1966811" cy="28724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1A3BAE-58D2-4A11-A930-7A310A0FF938}"/>
              </a:ext>
            </a:extLst>
          </p:cNvPr>
          <p:cNvSpPr txBox="1"/>
          <p:nvPr/>
        </p:nvSpPr>
        <p:spPr>
          <a:xfrm>
            <a:off x="8140248" y="999671"/>
            <a:ext cx="3749040" cy="283464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Scale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BBE87A-0BC9-1A25-63C9-81BED768B6D6}"/>
              </a:ext>
            </a:extLst>
          </p:cNvPr>
          <p:cNvSpPr txBox="1"/>
          <p:nvPr/>
        </p:nvSpPr>
        <p:spPr>
          <a:xfrm>
            <a:off x="8150845" y="1323954"/>
            <a:ext cx="3749040" cy="7132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Series C, Series D+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FDD0C5-048B-E58E-2E19-D72BA6940D57}"/>
              </a:ext>
            </a:extLst>
          </p:cNvPr>
          <p:cNvSpPr txBox="1"/>
          <p:nvPr/>
        </p:nvSpPr>
        <p:spPr>
          <a:xfrm>
            <a:off x="8168070" y="4057702"/>
            <a:ext cx="3749040" cy="1106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Channel Distribution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Exit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55969-A9F3-4CE4-7FDD-D14BA31B7240}"/>
              </a:ext>
            </a:extLst>
          </p:cNvPr>
          <p:cNvSpPr txBox="1"/>
          <p:nvPr/>
        </p:nvSpPr>
        <p:spPr>
          <a:xfrm>
            <a:off x="8134198" y="2503546"/>
            <a:ext cx="3749040" cy="106589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Distribution: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Channel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and client distribution with large enterprise, carriers, brokers, etc.</a:t>
            </a:r>
          </a:p>
          <a:p>
            <a:pPr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D2C4F395-93A5-53F7-DE5A-040F47145BAB}"/>
              </a:ext>
            </a:extLst>
          </p:cNvPr>
          <p:cNvSpPr/>
          <p:nvPr/>
        </p:nvSpPr>
        <p:spPr>
          <a:xfrm>
            <a:off x="255412" y="5211189"/>
            <a:ext cx="11627826" cy="1105300"/>
          </a:xfrm>
          <a:prstGeom prst="rightArrow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EEF2B-10F3-6698-159E-719B9BFA6AF3}"/>
              </a:ext>
            </a:extLst>
          </p:cNvPr>
          <p:cNvSpPr txBox="1"/>
          <p:nvPr/>
        </p:nvSpPr>
        <p:spPr>
          <a:xfrm>
            <a:off x="1338494" y="5598625"/>
            <a:ext cx="2028825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10 Customers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F7B6E4-B21D-1DBE-4F12-41AD5E73C2DD}"/>
              </a:ext>
            </a:extLst>
          </p:cNvPr>
          <p:cNvSpPr/>
          <p:nvPr/>
        </p:nvSpPr>
        <p:spPr>
          <a:xfrm>
            <a:off x="4319718" y="5491120"/>
            <a:ext cx="4096153" cy="5394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639038-902E-42FA-0ED0-94AA92AB4889}"/>
              </a:ext>
            </a:extLst>
          </p:cNvPr>
          <p:cNvSpPr txBox="1"/>
          <p:nvPr/>
        </p:nvSpPr>
        <p:spPr>
          <a:xfrm>
            <a:off x="5280075" y="5624307"/>
            <a:ext cx="1899815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$10M in ARR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4B8B14-BF79-BCE0-5195-E352241AD555}"/>
              </a:ext>
            </a:extLst>
          </p:cNvPr>
          <p:cNvSpPr/>
          <p:nvPr/>
        </p:nvSpPr>
        <p:spPr>
          <a:xfrm>
            <a:off x="8397162" y="5488104"/>
            <a:ext cx="3214851" cy="5394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29A0C1-75E6-25EE-D633-2885E98C082E}"/>
              </a:ext>
            </a:extLst>
          </p:cNvPr>
          <p:cNvSpPr txBox="1"/>
          <p:nvPr/>
        </p:nvSpPr>
        <p:spPr>
          <a:xfrm>
            <a:off x="10744088" y="5615232"/>
            <a:ext cx="1107996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50x Return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F9E4CE-E787-D380-2511-25D0E21895F3}"/>
              </a:ext>
            </a:extLst>
          </p:cNvPr>
          <p:cNvSpPr txBox="1"/>
          <p:nvPr/>
        </p:nvSpPr>
        <p:spPr>
          <a:xfrm>
            <a:off x="8508243" y="5607900"/>
            <a:ext cx="2143472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$10M ARR Deal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560394-1A03-EC1F-FDF0-6740BF950905}"/>
              </a:ext>
            </a:extLst>
          </p:cNvPr>
          <p:cNvSpPr txBox="1"/>
          <p:nvPr/>
        </p:nvSpPr>
        <p:spPr>
          <a:xfrm>
            <a:off x="4379113" y="2661281"/>
            <a:ext cx="3749040" cy="768437"/>
          </a:xfrm>
          <a:prstGeom prst="round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HR Venture Advisor Feedback Session: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Schedule time with </a:t>
            </a:r>
          </a:p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20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52981037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496269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 </a:t>
            </a:r>
            <a:r>
              <a:rPr lang="en-US" sz="2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| New Investment Success Plan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3EC12-82D4-E67D-C1DD-DEFED87ACD22}"/>
              </a:ext>
            </a:extLst>
          </p:cNvPr>
          <p:cNvSpPr txBox="1"/>
          <p:nvPr/>
        </p:nvSpPr>
        <p:spPr>
          <a:xfrm>
            <a:off x="176957" y="949764"/>
            <a:ext cx="1543981" cy="1545336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PORTCO LOGO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A0355-BC6F-1766-DBA4-6D40B2D8839B}"/>
              </a:ext>
            </a:extLst>
          </p:cNvPr>
          <p:cNvSpPr txBox="1"/>
          <p:nvPr/>
        </p:nvSpPr>
        <p:spPr>
          <a:xfrm>
            <a:off x="1828253" y="991705"/>
            <a:ext cx="1017996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SemperSystem Activations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6F6444-F6A6-73DD-DCF5-6913A6B4BC90}"/>
              </a:ext>
            </a:extLst>
          </p:cNvPr>
          <p:cNvSpPr txBox="1"/>
          <p:nvPr/>
        </p:nvSpPr>
        <p:spPr>
          <a:xfrm>
            <a:off x="1828253" y="1311784"/>
            <a:ext cx="2215616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Revenue Impact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C56248-CB4E-03BB-7628-7EBD7A9FFC8C}"/>
              </a:ext>
            </a:extLst>
          </p:cNvPr>
          <p:cNvSpPr txBox="1"/>
          <p:nvPr/>
        </p:nvSpPr>
        <p:spPr>
          <a:xfrm>
            <a:off x="2790539" y="1630407"/>
            <a:ext cx="1253330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C0F29B-F535-535D-530E-EC1BE56FCDEE}"/>
              </a:ext>
            </a:extLst>
          </p:cNvPr>
          <p:cNvSpPr txBox="1"/>
          <p:nvPr/>
        </p:nvSpPr>
        <p:spPr>
          <a:xfrm>
            <a:off x="2802177" y="1965067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5D75D2-A82B-C7DD-73F2-7AFF0FE3A32E}"/>
              </a:ext>
            </a:extLst>
          </p:cNvPr>
          <p:cNvSpPr txBox="1"/>
          <p:nvPr/>
        </p:nvSpPr>
        <p:spPr>
          <a:xfrm>
            <a:off x="2802177" y="2299727"/>
            <a:ext cx="125272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1E4DFC-18A1-2E3D-E52D-51F8380CADA9}"/>
              </a:ext>
            </a:extLst>
          </p:cNvPr>
          <p:cNvSpPr txBox="1"/>
          <p:nvPr/>
        </p:nvSpPr>
        <p:spPr>
          <a:xfrm>
            <a:off x="1833982" y="1637980"/>
            <a:ext cx="933689" cy="264115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Cumulative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49229F-EB29-DF19-B5FD-4E9604DAB76D}"/>
              </a:ext>
            </a:extLst>
          </p:cNvPr>
          <p:cNvSpPr txBox="1"/>
          <p:nvPr/>
        </p:nvSpPr>
        <p:spPr>
          <a:xfrm>
            <a:off x="1828253" y="1968458"/>
            <a:ext cx="93268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DADDE8-407D-DACE-26CC-6CEE4824D490}"/>
              </a:ext>
            </a:extLst>
          </p:cNvPr>
          <p:cNvSpPr txBox="1"/>
          <p:nvPr/>
        </p:nvSpPr>
        <p:spPr>
          <a:xfrm>
            <a:off x="1828253" y="2300985"/>
            <a:ext cx="93268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F5A45E-CAB5-F73B-5922-703E62B78E25}"/>
              </a:ext>
            </a:extLst>
          </p:cNvPr>
          <p:cNvSpPr txBox="1"/>
          <p:nvPr/>
        </p:nvSpPr>
        <p:spPr>
          <a:xfrm>
            <a:off x="1839863" y="2743524"/>
            <a:ext cx="932688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C434D6-BFF3-3C18-DBDC-3F3C8B968913}"/>
              </a:ext>
            </a:extLst>
          </p:cNvPr>
          <p:cNvSpPr txBox="1"/>
          <p:nvPr/>
        </p:nvSpPr>
        <p:spPr>
          <a:xfrm>
            <a:off x="2802177" y="2748420"/>
            <a:ext cx="1252728" cy="26411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00A902-7FE4-3BAF-6ED7-1BA6C4E53490}"/>
              </a:ext>
            </a:extLst>
          </p:cNvPr>
          <p:cNvSpPr txBox="1"/>
          <p:nvPr/>
        </p:nvSpPr>
        <p:spPr>
          <a:xfrm>
            <a:off x="4075002" y="1311056"/>
            <a:ext cx="1810512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Exposure Opportunity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B4AE46-BC29-C23C-5C57-90468EE6093D}"/>
              </a:ext>
            </a:extLst>
          </p:cNvPr>
          <p:cNvSpPr txBox="1"/>
          <p:nvPr/>
        </p:nvSpPr>
        <p:spPr>
          <a:xfrm>
            <a:off x="4054905" y="1637110"/>
            <a:ext cx="1793249" cy="27177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E05E0-D54E-28D9-4984-2FF7C32B4E74}"/>
              </a:ext>
            </a:extLst>
          </p:cNvPr>
          <p:cNvSpPr txBox="1"/>
          <p:nvPr/>
        </p:nvSpPr>
        <p:spPr>
          <a:xfrm>
            <a:off x="4054905" y="1967962"/>
            <a:ext cx="1793249" cy="2717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6E5FAA-14E3-B158-B657-AFBD4A3480DF}"/>
              </a:ext>
            </a:extLst>
          </p:cNvPr>
          <p:cNvSpPr txBox="1"/>
          <p:nvPr/>
        </p:nvSpPr>
        <p:spPr>
          <a:xfrm>
            <a:off x="4075002" y="2296737"/>
            <a:ext cx="1793249" cy="271777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980FBE-8B97-296C-C724-14542A6806B3}"/>
              </a:ext>
            </a:extLst>
          </p:cNvPr>
          <p:cNvSpPr txBox="1"/>
          <p:nvPr/>
        </p:nvSpPr>
        <p:spPr>
          <a:xfrm>
            <a:off x="4075001" y="2740758"/>
            <a:ext cx="1793249" cy="271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7AAB04-A57D-7E14-4B4E-1388615B4711}"/>
              </a:ext>
            </a:extLst>
          </p:cNvPr>
          <p:cNvCxnSpPr>
            <a:cxnSpLocks/>
          </p:cNvCxnSpPr>
          <p:nvPr/>
        </p:nvCxnSpPr>
        <p:spPr>
          <a:xfrm>
            <a:off x="1828253" y="2655755"/>
            <a:ext cx="402336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111F28B-C900-E17E-E704-C3AD05072BA4}"/>
              </a:ext>
            </a:extLst>
          </p:cNvPr>
          <p:cNvSpPr txBox="1"/>
          <p:nvPr/>
        </p:nvSpPr>
        <p:spPr>
          <a:xfrm>
            <a:off x="176956" y="2636386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Early-Stage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D84151-DEC8-B8EB-1083-70BF33E27261}"/>
              </a:ext>
            </a:extLst>
          </p:cNvPr>
          <p:cNvSpPr txBox="1"/>
          <p:nvPr/>
        </p:nvSpPr>
        <p:spPr>
          <a:xfrm>
            <a:off x="170920" y="3124236"/>
            <a:ext cx="5677233" cy="298067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Recent Activations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586ADC-8AA5-DB6A-4A85-EEA59238934E}"/>
              </a:ext>
            </a:extLst>
          </p:cNvPr>
          <p:cNvSpPr txBox="1"/>
          <p:nvPr/>
        </p:nvSpPr>
        <p:spPr>
          <a:xfrm>
            <a:off x="169729" y="3502799"/>
            <a:ext cx="5678424" cy="2743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68207A-8DFE-4D77-E928-88CBD526ADAC}"/>
              </a:ext>
            </a:extLst>
          </p:cNvPr>
          <p:cNvSpPr txBox="1"/>
          <p:nvPr/>
        </p:nvSpPr>
        <p:spPr>
          <a:xfrm>
            <a:off x="5885514" y="4096779"/>
            <a:ext cx="5983255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Next Steps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104CD3-813A-A67A-4F5F-CE41531307D4}"/>
              </a:ext>
            </a:extLst>
          </p:cNvPr>
          <p:cNvSpPr txBox="1"/>
          <p:nvPr/>
        </p:nvSpPr>
        <p:spPr>
          <a:xfrm>
            <a:off x="5885514" y="4443715"/>
            <a:ext cx="5983255" cy="18288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5E729-0CD5-8ABF-B4F1-71C710D39486}"/>
              </a:ext>
            </a:extLst>
          </p:cNvPr>
          <p:cNvSpPr txBox="1"/>
          <p:nvPr/>
        </p:nvSpPr>
        <p:spPr>
          <a:xfrm>
            <a:off x="5916647" y="1637110"/>
            <a:ext cx="5980176" cy="237744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7EBE1-2EC3-211D-50B6-4A2AD2C366E0}"/>
              </a:ext>
            </a:extLst>
          </p:cNvPr>
          <p:cNvSpPr txBox="1"/>
          <p:nvPr/>
        </p:nvSpPr>
        <p:spPr>
          <a:xfrm>
            <a:off x="5916647" y="1309032"/>
            <a:ext cx="5980176" cy="298067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Opportunities</a:t>
            </a:r>
            <a:endParaRPr lang="en-US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240052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496269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 </a:t>
            </a:r>
            <a:r>
              <a:rPr lang="en-US" sz="2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| Early-Stage Success Tracking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3EC12-82D4-E67D-C1DD-DEFED87ACD22}"/>
              </a:ext>
            </a:extLst>
          </p:cNvPr>
          <p:cNvSpPr txBox="1"/>
          <p:nvPr/>
        </p:nvSpPr>
        <p:spPr>
          <a:xfrm>
            <a:off x="176957" y="949764"/>
            <a:ext cx="1543981" cy="1545336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PORTCO LOGO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A0355-BC6F-1766-DBA4-6D40B2D8839B}"/>
              </a:ext>
            </a:extLst>
          </p:cNvPr>
          <p:cNvSpPr txBox="1"/>
          <p:nvPr/>
        </p:nvSpPr>
        <p:spPr>
          <a:xfrm>
            <a:off x="1828253" y="991705"/>
            <a:ext cx="1017996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SemperSystem Outcomes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6F6444-F6A6-73DD-DCF5-6913A6B4BC90}"/>
              </a:ext>
            </a:extLst>
          </p:cNvPr>
          <p:cNvSpPr txBox="1"/>
          <p:nvPr/>
        </p:nvSpPr>
        <p:spPr>
          <a:xfrm>
            <a:off x="1828253" y="1311784"/>
            <a:ext cx="2215616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Revenue Impact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E42153-D46B-A0C6-B325-0061852F93E0}"/>
              </a:ext>
            </a:extLst>
          </p:cNvPr>
          <p:cNvSpPr txBox="1"/>
          <p:nvPr/>
        </p:nvSpPr>
        <p:spPr>
          <a:xfrm>
            <a:off x="5920525" y="1308676"/>
            <a:ext cx="6087689" cy="28724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Partnerships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C56248-CB4E-03BB-7628-7EBD7A9FFC8C}"/>
              </a:ext>
            </a:extLst>
          </p:cNvPr>
          <p:cNvSpPr txBox="1"/>
          <p:nvPr/>
        </p:nvSpPr>
        <p:spPr>
          <a:xfrm>
            <a:off x="2790539" y="1630407"/>
            <a:ext cx="1253330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C0F29B-F535-535D-530E-EC1BE56FCDEE}"/>
              </a:ext>
            </a:extLst>
          </p:cNvPr>
          <p:cNvSpPr txBox="1"/>
          <p:nvPr/>
        </p:nvSpPr>
        <p:spPr>
          <a:xfrm>
            <a:off x="2802177" y="1965067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5D75D2-A82B-C7DD-73F2-7AFF0FE3A32E}"/>
              </a:ext>
            </a:extLst>
          </p:cNvPr>
          <p:cNvSpPr txBox="1"/>
          <p:nvPr/>
        </p:nvSpPr>
        <p:spPr>
          <a:xfrm>
            <a:off x="2802177" y="2299727"/>
            <a:ext cx="125272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1E4DFC-18A1-2E3D-E52D-51F8380CADA9}"/>
              </a:ext>
            </a:extLst>
          </p:cNvPr>
          <p:cNvSpPr txBox="1"/>
          <p:nvPr/>
        </p:nvSpPr>
        <p:spPr>
          <a:xfrm>
            <a:off x="1833982" y="1637980"/>
            <a:ext cx="933689" cy="264115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Cumulative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49229F-EB29-DF19-B5FD-4E9604DAB76D}"/>
              </a:ext>
            </a:extLst>
          </p:cNvPr>
          <p:cNvSpPr txBox="1"/>
          <p:nvPr/>
        </p:nvSpPr>
        <p:spPr>
          <a:xfrm>
            <a:off x="1828253" y="1968458"/>
            <a:ext cx="93268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DADDE8-407D-DACE-26CC-6CEE4824D490}"/>
              </a:ext>
            </a:extLst>
          </p:cNvPr>
          <p:cNvSpPr txBox="1"/>
          <p:nvPr/>
        </p:nvSpPr>
        <p:spPr>
          <a:xfrm>
            <a:off x="1828253" y="2300985"/>
            <a:ext cx="93268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F5A45E-CAB5-F73B-5922-703E62B78E25}"/>
              </a:ext>
            </a:extLst>
          </p:cNvPr>
          <p:cNvSpPr txBox="1"/>
          <p:nvPr/>
        </p:nvSpPr>
        <p:spPr>
          <a:xfrm>
            <a:off x="1839863" y="2743524"/>
            <a:ext cx="932688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C434D6-BFF3-3C18-DBDC-3F3C8B968913}"/>
              </a:ext>
            </a:extLst>
          </p:cNvPr>
          <p:cNvSpPr txBox="1"/>
          <p:nvPr/>
        </p:nvSpPr>
        <p:spPr>
          <a:xfrm>
            <a:off x="2802177" y="2748420"/>
            <a:ext cx="1252728" cy="26411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00A902-7FE4-3BAF-6ED7-1BA6C4E53490}"/>
              </a:ext>
            </a:extLst>
          </p:cNvPr>
          <p:cNvSpPr txBox="1"/>
          <p:nvPr/>
        </p:nvSpPr>
        <p:spPr>
          <a:xfrm>
            <a:off x="4075002" y="1311056"/>
            <a:ext cx="1810512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Exposure Opportunity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B4AE46-BC29-C23C-5C57-90468EE6093D}"/>
              </a:ext>
            </a:extLst>
          </p:cNvPr>
          <p:cNvSpPr txBox="1"/>
          <p:nvPr/>
        </p:nvSpPr>
        <p:spPr>
          <a:xfrm>
            <a:off x="4054905" y="1637110"/>
            <a:ext cx="1793249" cy="27177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E05E0-D54E-28D9-4984-2FF7C32B4E74}"/>
              </a:ext>
            </a:extLst>
          </p:cNvPr>
          <p:cNvSpPr txBox="1"/>
          <p:nvPr/>
        </p:nvSpPr>
        <p:spPr>
          <a:xfrm>
            <a:off x="4054905" y="1967962"/>
            <a:ext cx="1793249" cy="2717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6E5FAA-14E3-B158-B657-AFBD4A3480DF}"/>
              </a:ext>
            </a:extLst>
          </p:cNvPr>
          <p:cNvSpPr txBox="1"/>
          <p:nvPr/>
        </p:nvSpPr>
        <p:spPr>
          <a:xfrm>
            <a:off x="4075002" y="2296737"/>
            <a:ext cx="1793249" cy="271777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980FBE-8B97-296C-C724-14542A6806B3}"/>
              </a:ext>
            </a:extLst>
          </p:cNvPr>
          <p:cNvSpPr txBox="1"/>
          <p:nvPr/>
        </p:nvSpPr>
        <p:spPr>
          <a:xfrm>
            <a:off x="4075001" y="2740758"/>
            <a:ext cx="1793249" cy="271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332239-E3B8-FB36-F073-9D8B1751DCB8}"/>
              </a:ext>
            </a:extLst>
          </p:cNvPr>
          <p:cNvSpPr txBox="1"/>
          <p:nvPr/>
        </p:nvSpPr>
        <p:spPr>
          <a:xfrm>
            <a:off x="5950766" y="1617326"/>
            <a:ext cx="1920240" cy="28724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Deal Closed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5EB00D-234B-1C76-2ED3-80B7AE7B6BE0}"/>
              </a:ext>
            </a:extLst>
          </p:cNvPr>
          <p:cNvSpPr txBox="1"/>
          <p:nvPr/>
        </p:nvSpPr>
        <p:spPr>
          <a:xfrm>
            <a:off x="7973618" y="1617810"/>
            <a:ext cx="1920240" cy="2872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In Discussion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DA390D-4156-0F45-7036-7182AEE35F1E}"/>
              </a:ext>
            </a:extLst>
          </p:cNvPr>
          <p:cNvSpPr txBox="1"/>
          <p:nvPr/>
        </p:nvSpPr>
        <p:spPr>
          <a:xfrm>
            <a:off x="9996470" y="1614853"/>
            <a:ext cx="1920240" cy="2872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Pipeline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E4FF51-0712-F3FF-7762-A481CD2B3BBA}"/>
              </a:ext>
            </a:extLst>
          </p:cNvPr>
          <p:cNvSpPr txBox="1"/>
          <p:nvPr/>
        </p:nvSpPr>
        <p:spPr>
          <a:xfrm>
            <a:off x="5920525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458960-18E1-A11D-91B8-74D21BED8D37}"/>
              </a:ext>
            </a:extLst>
          </p:cNvPr>
          <p:cNvSpPr txBox="1"/>
          <p:nvPr/>
        </p:nvSpPr>
        <p:spPr>
          <a:xfrm>
            <a:off x="7966661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2A6CFC-AF0F-3ABE-71E6-1D4FABCB99FA}"/>
              </a:ext>
            </a:extLst>
          </p:cNvPr>
          <p:cNvSpPr txBox="1"/>
          <p:nvPr/>
        </p:nvSpPr>
        <p:spPr>
          <a:xfrm>
            <a:off x="10019725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7AAB04-A57D-7E14-4B4E-1388615B4711}"/>
              </a:ext>
            </a:extLst>
          </p:cNvPr>
          <p:cNvCxnSpPr>
            <a:cxnSpLocks/>
          </p:cNvCxnSpPr>
          <p:nvPr/>
        </p:nvCxnSpPr>
        <p:spPr>
          <a:xfrm>
            <a:off x="1828253" y="2655755"/>
            <a:ext cx="402336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111F28B-C900-E17E-E704-C3AD05072BA4}"/>
              </a:ext>
            </a:extLst>
          </p:cNvPr>
          <p:cNvSpPr txBox="1"/>
          <p:nvPr/>
        </p:nvSpPr>
        <p:spPr>
          <a:xfrm>
            <a:off x="176956" y="2636386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Early-Stage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09996-24A1-D4A8-C098-0245BDBFF6FD}"/>
              </a:ext>
            </a:extLst>
          </p:cNvPr>
          <p:cNvSpPr txBox="1"/>
          <p:nvPr/>
        </p:nvSpPr>
        <p:spPr>
          <a:xfrm>
            <a:off x="5958113" y="3787700"/>
            <a:ext cx="1920240" cy="28724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6ACCF1-BFE5-65F2-170C-FADD29F8635C}"/>
              </a:ext>
            </a:extLst>
          </p:cNvPr>
          <p:cNvSpPr txBox="1"/>
          <p:nvPr/>
        </p:nvSpPr>
        <p:spPr>
          <a:xfrm>
            <a:off x="7966661" y="3787700"/>
            <a:ext cx="1920240" cy="2872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0268A9-1500-B0E4-FAB7-BB9F4F398BFD}"/>
              </a:ext>
            </a:extLst>
          </p:cNvPr>
          <p:cNvSpPr txBox="1"/>
          <p:nvPr/>
        </p:nvSpPr>
        <p:spPr>
          <a:xfrm>
            <a:off x="10019725" y="3787700"/>
            <a:ext cx="1920240" cy="2872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D6ECE-84D8-E450-3BA8-F101D9E25D88}"/>
              </a:ext>
            </a:extLst>
          </p:cNvPr>
          <p:cNvSpPr txBox="1"/>
          <p:nvPr/>
        </p:nvSpPr>
        <p:spPr>
          <a:xfrm>
            <a:off x="176956" y="3103953"/>
            <a:ext cx="567119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Client Growth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C585DB-2F61-C23A-4BA3-C2D91E0E368B}"/>
              </a:ext>
            </a:extLst>
          </p:cNvPr>
          <p:cNvSpPr txBox="1"/>
          <p:nvPr/>
        </p:nvSpPr>
        <p:spPr>
          <a:xfrm>
            <a:off x="1199583" y="3485279"/>
            <a:ext cx="932689" cy="2641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TBD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D04354-BABE-2F1A-810F-906BD9D6F728}"/>
              </a:ext>
            </a:extLst>
          </p:cNvPr>
          <p:cNvSpPr txBox="1"/>
          <p:nvPr/>
        </p:nvSpPr>
        <p:spPr>
          <a:xfrm>
            <a:off x="1187945" y="3806125"/>
            <a:ext cx="932689" cy="2717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A2EF77-825C-733B-1663-905D4B31E266}"/>
              </a:ext>
            </a:extLst>
          </p:cNvPr>
          <p:cNvSpPr txBox="1"/>
          <p:nvPr/>
        </p:nvSpPr>
        <p:spPr>
          <a:xfrm>
            <a:off x="1187945" y="4143790"/>
            <a:ext cx="932689" cy="264044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8B1D0C-7C4C-720D-16B7-8090A111BEE8}"/>
              </a:ext>
            </a:extLst>
          </p:cNvPr>
          <p:cNvSpPr txBox="1"/>
          <p:nvPr/>
        </p:nvSpPr>
        <p:spPr>
          <a:xfrm>
            <a:off x="1199583" y="4581191"/>
            <a:ext cx="932689" cy="264044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38D6EC-6335-5D9D-AC93-39EE2C355C69}"/>
              </a:ext>
            </a:extLst>
          </p:cNvPr>
          <p:cNvSpPr txBox="1"/>
          <p:nvPr/>
        </p:nvSpPr>
        <p:spPr>
          <a:xfrm>
            <a:off x="2253458" y="3460934"/>
            <a:ext cx="3571831" cy="1371600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421CB7-7E06-544E-B505-199CE5776658}"/>
              </a:ext>
            </a:extLst>
          </p:cNvPr>
          <p:cNvSpPr txBox="1"/>
          <p:nvPr/>
        </p:nvSpPr>
        <p:spPr>
          <a:xfrm>
            <a:off x="196441" y="3475647"/>
            <a:ext cx="933689" cy="2641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Cumulative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CAAA32-1639-8B18-4730-DACEFF4A67F9}"/>
              </a:ext>
            </a:extLst>
          </p:cNvPr>
          <p:cNvSpPr txBox="1"/>
          <p:nvPr/>
        </p:nvSpPr>
        <p:spPr>
          <a:xfrm>
            <a:off x="190712" y="3806125"/>
            <a:ext cx="932688" cy="2743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E6BFC8-51C3-1830-AAD8-711F415507DB}"/>
              </a:ext>
            </a:extLst>
          </p:cNvPr>
          <p:cNvSpPr txBox="1"/>
          <p:nvPr/>
        </p:nvSpPr>
        <p:spPr>
          <a:xfrm>
            <a:off x="190712" y="4138652"/>
            <a:ext cx="93268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01425D-4F62-297E-08E2-7625E00FB0DD}"/>
              </a:ext>
            </a:extLst>
          </p:cNvPr>
          <p:cNvSpPr txBox="1"/>
          <p:nvPr/>
        </p:nvSpPr>
        <p:spPr>
          <a:xfrm>
            <a:off x="202322" y="4581191"/>
            <a:ext cx="932688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4A5067A-7AEF-4B01-C4AD-065CE89705F1}"/>
              </a:ext>
            </a:extLst>
          </p:cNvPr>
          <p:cNvCxnSpPr>
            <a:cxnSpLocks/>
          </p:cNvCxnSpPr>
          <p:nvPr/>
        </p:nvCxnSpPr>
        <p:spPr>
          <a:xfrm>
            <a:off x="162576" y="4491401"/>
            <a:ext cx="2011680" cy="0"/>
          </a:xfrm>
          <a:prstGeom prst="line">
            <a:avLst/>
          </a:prstGeom>
          <a:ln w="952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3D84151-DEC8-B8EB-1083-70BF33E27261}"/>
              </a:ext>
            </a:extLst>
          </p:cNvPr>
          <p:cNvSpPr txBox="1"/>
          <p:nvPr/>
        </p:nvSpPr>
        <p:spPr>
          <a:xfrm>
            <a:off x="202322" y="4977508"/>
            <a:ext cx="5611640" cy="298067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Recent Activations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586ADC-8AA5-DB6A-4A85-EEA59238934E}"/>
              </a:ext>
            </a:extLst>
          </p:cNvPr>
          <p:cNvSpPr txBox="1"/>
          <p:nvPr/>
        </p:nvSpPr>
        <p:spPr>
          <a:xfrm>
            <a:off x="162576" y="5359155"/>
            <a:ext cx="5622678" cy="109728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68207A-8DFE-4D77-E928-88CBD526ADAC}"/>
              </a:ext>
            </a:extLst>
          </p:cNvPr>
          <p:cNvSpPr txBox="1"/>
          <p:nvPr/>
        </p:nvSpPr>
        <p:spPr>
          <a:xfrm>
            <a:off x="5956709" y="4157423"/>
            <a:ext cx="5983255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Next Steps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104CD3-813A-A67A-4F5F-CE41531307D4}"/>
              </a:ext>
            </a:extLst>
          </p:cNvPr>
          <p:cNvSpPr txBox="1"/>
          <p:nvPr/>
        </p:nvSpPr>
        <p:spPr>
          <a:xfrm>
            <a:off x="5924543" y="4548099"/>
            <a:ext cx="5983255" cy="18288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2765806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496269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 </a:t>
            </a:r>
            <a:r>
              <a:rPr lang="en-US" sz="2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| Scale Stage Success Plan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3EC12-82D4-E67D-C1DD-DEFED87ACD22}"/>
              </a:ext>
            </a:extLst>
          </p:cNvPr>
          <p:cNvSpPr txBox="1"/>
          <p:nvPr/>
        </p:nvSpPr>
        <p:spPr>
          <a:xfrm>
            <a:off x="176957" y="949764"/>
            <a:ext cx="1543981" cy="1545336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PORTCO LOGO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A0355-BC6F-1766-DBA4-6D40B2D8839B}"/>
              </a:ext>
            </a:extLst>
          </p:cNvPr>
          <p:cNvSpPr txBox="1"/>
          <p:nvPr/>
        </p:nvSpPr>
        <p:spPr>
          <a:xfrm>
            <a:off x="1828253" y="991705"/>
            <a:ext cx="1017996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SemperSystem Activations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6F6444-F6A6-73DD-DCF5-6913A6B4BC90}"/>
              </a:ext>
            </a:extLst>
          </p:cNvPr>
          <p:cNvSpPr txBox="1"/>
          <p:nvPr/>
        </p:nvSpPr>
        <p:spPr>
          <a:xfrm>
            <a:off x="1828253" y="1311784"/>
            <a:ext cx="2215616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Revenue Impact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C56248-CB4E-03BB-7628-7EBD7A9FFC8C}"/>
              </a:ext>
            </a:extLst>
          </p:cNvPr>
          <p:cNvSpPr txBox="1"/>
          <p:nvPr/>
        </p:nvSpPr>
        <p:spPr>
          <a:xfrm>
            <a:off x="2790539" y="1630407"/>
            <a:ext cx="1253330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C0F29B-F535-535D-530E-EC1BE56FCDEE}"/>
              </a:ext>
            </a:extLst>
          </p:cNvPr>
          <p:cNvSpPr txBox="1"/>
          <p:nvPr/>
        </p:nvSpPr>
        <p:spPr>
          <a:xfrm>
            <a:off x="2802177" y="1965067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5D75D2-A82B-C7DD-73F2-7AFF0FE3A32E}"/>
              </a:ext>
            </a:extLst>
          </p:cNvPr>
          <p:cNvSpPr txBox="1"/>
          <p:nvPr/>
        </p:nvSpPr>
        <p:spPr>
          <a:xfrm>
            <a:off x="2802177" y="2299727"/>
            <a:ext cx="125272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1E4DFC-18A1-2E3D-E52D-51F8380CADA9}"/>
              </a:ext>
            </a:extLst>
          </p:cNvPr>
          <p:cNvSpPr txBox="1"/>
          <p:nvPr/>
        </p:nvSpPr>
        <p:spPr>
          <a:xfrm>
            <a:off x="1833982" y="1637980"/>
            <a:ext cx="933689" cy="264115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Cumulative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49229F-EB29-DF19-B5FD-4E9604DAB76D}"/>
              </a:ext>
            </a:extLst>
          </p:cNvPr>
          <p:cNvSpPr txBox="1"/>
          <p:nvPr/>
        </p:nvSpPr>
        <p:spPr>
          <a:xfrm>
            <a:off x="1828253" y="1968458"/>
            <a:ext cx="93268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DADDE8-407D-DACE-26CC-6CEE4824D490}"/>
              </a:ext>
            </a:extLst>
          </p:cNvPr>
          <p:cNvSpPr txBox="1"/>
          <p:nvPr/>
        </p:nvSpPr>
        <p:spPr>
          <a:xfrm>
            <a:off x="1828253" y="2300985"/>
            <a:ext cx="93268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F5A45E-CAB5-F73B-5922-703E62B78E25}"/>
              </a:ext>
            </a:extLst>
          </p:cNvPr>
          <p:cNvSpPr txBox="1"/>
          <p:nvPr/>
        </p:nvSpPr>
        <p:spPr>
          <a:xfrm>
            <a:off x="1839863" y="2743524"/>
            <a:ext cx="932688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C434D6-BFF3-3C18-DBDC-3F3C8B968913}"/>
              </a:ext>
            </a:extLst>
          </p:cNvPr>
          <p:cNvSpPr txBox="1"/>
          <p:nvPr/>
        </p:nvSpPr>
        <p:spPr>
          <a:xfrm>
            <a:off x="2802177" y="2748420"/>
            <a:ext cx="1252728" cy="26411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00A902-7FE4-3BAF-6ED7-1BA6C4E53490}"/>
              </a:ext>
            </a:extLst>
          </p:cNvPr>
          <p:cNvSpPr txBox="1"/>
          <p:nvPr/>
        </p:nvSpPr>
        <p:spPr>
          <a:xfrm>
            <a:off x="4075002" y="1311056"/>
            <a:ext cx="1810512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Exposure Opportunity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B4AE46-BC29-C23C-5C57-90468EE6093D}"/>
              </a:ext>
            </a:extLst>
          </p:cNvPr>
          <p:cNvSpPr txBox="1"/>
          <p:nvPr/>
        </p:nvSpPr>
        <p:spPr>
          <a:xfrm>
            <a:off x="4054905" y="1637110"/>
            <a:ext cx="1793249" cy="27177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E05E0-D54E-28D9-4984-2FF7C32B4E74}"/>
              </a:ext>
            </a:extLst>
          </p:cNvPr>
          <p:cNvSpPr txBox="1"/>
          <p:nvPr/>
        </p:nvSpPr>
        <p:spPr>
          <a:xfrm>
            <a:off x="4054905" y="1967962"/>
            <a:ext cx="1793249" cy="2717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6E5FAA-14E3-B158-B657-AFBD4A3480DF}"/>
              </a:ext>
            </a:extLst>
          </p:cNvPr>
          <p:cNvSpPr txBox="1"/>
          <p:nvPr/>
        </p:nvSpPr>
        <p:spPr>
          <a:xfrm>
            <a:off x="4075002" y="2296737"/>
            <a:ext cx="1793249" cy="271777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980FBE-8B97-296C-C724-14542A6806B3}"/>
              </a:ext>
            </a:extLst>
          </p:cNvPr>
          <p:cNvSpPr txBox="1"/>
          <p:nvPr/>
        </p:nvSpPr>
        <p:spPr>
          <a:xfrm>
            <a:off x="4075001" y="2740758"/>
            <a:ext cx="1793249" cy="271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7AAB04-A57D-7E14-4B4E-1388615B4711}"/>
              </a:ext>
            </a:extLst>
          </p:cNvPr>
          <p:cNvCxnSpPr>
            <a:cxnSpLocks/>
          </p:cNvCxnSpPr>
          <p:nvPr/>
        </p:nvCxnSpPr>
        <p:spPr>
          <a:xfrm>
            <a:off x="1828253" y="2655755"/>
            <a:ext cx="402336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111F28B-C900-E17E-E704-C3AD05072BA4}"/>
              </a:ext>
            </a:extLst>
          </p:cNvPr>
          <p:cNvSpPr txBox="1"/>
          <p:nvPr/>
        </p:nvSpPr>
        <p:spPr>
          <a:xfrm>
            <a:off x="176956" y="2636386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Scale Stage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D84151-DEC8-B8EB-1083-70BF33E27261}"/>
              </a:ext>
            </a:extLst>
          </p:cNvPr>
          <p:cNvSpPr txBox="1"/>
          <p:nvPr/>
        </p:nvSpPr>
        <p:spPr>
          <a:xfrm>
            <a:off x="170920" y="3124236"/>
            <a:ext cx="5677233" cy="298067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Recent Activations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586ADC-8AA5-DB6A-4A85-EEA59238934E}"/>
              </a:ext>
            </a:extLst>
          </p:cNvPr>
          <p:cNvSpPr txBox="1"/>
          <p:nvPr/>
        </p:nvSpPr>
        <p:spPr>
          <a:xfrm>
            <a:off x="169729" y="3502799"/>
            <a:ext cx="5678424" cy="27432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68207A-8DFE-4D77-E928-88CBD526ADAC}"/>
              </a:ext>
            </a:extLst>
          </p:cNvPr>
          <p:cNvSpPr txBox="1"/>
          <p:nvPr/>
        </p:nvSpPr>
        <p:spPr>
          <a:xfrm>
            <a:off x="5885514" y="4096779"/>
            <a:ext cx="5983255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Next Steps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104CD3-813A-A67A-4F5F-CE41531307D4}"/>
              </a:ext>
            </a:extLst>
          </p:cNvPr>
          <p:cNvSpPr txBox="1"/>
          <p:nvPr/>
        </p:nvSpPr>
        <p:spPr>
          <a:xfrm>
            <a:off x="5885514" y="4443715"/>
            <a:ext cx="5983255" cy="18288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15E729-0CD5-8ABF-B4F1-71C710D39486}"/>
              </a:ext>
            </a:extLst>
          </p:cNvPr>
          <p:cNvSpPr txBox="1"/>
          <p:nvPr/>
        </p:nvSpPr>
        <p:spPr>
          <a:xfrm>
            <a:off x="5916647" y="1637110"/>
            <a:ext cx="5980176" cy="237744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7EBE1-2EC3-211D-50B6-4A2AD2C366E0}"/>
              </a:ext>
            </a:extLst>
          </p:cNvPr>
          <p:cNvSpPr txBox="1"/>
          <p:nvPr/>
        </p:nvSpPr>
        <p:spPr>
          <a:xfrm>
            <a:off x="5916647" y="1309032"/>
            <a:ext cx="5980176" cy="298067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Opportunities</a:t>
            </a:r>
            <a:endParaRPr lang="en-US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764392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496269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 </a:t>
            </a:r>
            <a:r>
              <a:rPr lang="en-US" sz="2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| Scale Stage Success Tracking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3EC12-82D4-E67D-C1DD-DEFED87ACD22}"/>
              </a:ext>
            </a:extLst>
          </p:cNvPr>
          <p:cNvSpPr txBox="1"/>
          <p:nvPr/>
        </p:nvSpPr>
        <p:spPr>
          <a:xfrm>
            <a:off x="176957" y="949764"/>
            <a:ext cx="1543981" cy="1545336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PORTCO LOGO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A0355-BC6F-1766-DBA4-6D40B2D8839B}"/>
              </a:ext>
            </a:extLst>
          </p:cNvPr>
          <p:cNvSpPr txBox="1"/>
          <p:nvPr/>
        </p:nvSpPr>
        <p:spPr>
          <a:xfrm>
            <a:off x="1828253" y="991705"/>
            <a:ext cx="1017996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SemperSystem Outcomes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6F6444-F6A6-73DD-DCF5-6913A6B4BC90}"/>
              </a:ext>
            </a:extLst>
          </p:cNvPr>
          <p:cNvSpPr txBox="1"/>
          <p:nvPr/>
        </p:nvSpPr>
        <p:spPr>
          <a:xfrm>
            <a:off x="1828253" y="1311784"/>
            <a:ext cx="2215616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Revenue Impact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E42153-D46B-A0C6-B325-0061852F93E0}"/>
              </a:ext>
            </a:extLst>
          </p:cNvPr>
          <p:cNvSpPr txBox="1"/>
          <p:nvPr/>
        </p:nvSpPr>
        <p:spPr>
          <a:xfrm>
            <a:off x="5920525" y="1308676"/>
            <a:ext cx="6087689" cy="28724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Partnerships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C56248-CB4E-03BB-7628-7EBD7A9FFC8C}"/>
              </a:ext>
            </a:extLst>
          </p:cNvPr>
          <p:cNvSpPr txBox="1"/>
          <p:nvPr/>
        </p:nvSpPr>
        <p:spPr>
          <a:xfrm>
            <a:off x="2790539" y="1630407"/>
            <a:ext cx="1253330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C0F29B-F535-535D-530E-EC1BE56FCDEE}"/>
              </a:ext>
            </a:extLst>
          </p:cNvPr>
          <p:cNvSpPr txBox="1"/>
          <p:nvPr/>
        </p:nvSpPr>
        <p:spPr>
          <a:xfrm>
            <a:off x="2802177" y="1965067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5D75D2-A82B-C7DD-73F2-7AFF0FE3A32E}"/>
              </a:ext>
            </a:extLst>
          </p:cNvPr>
          <p:cNvSpPr txBox="1"/>
          <p:nvPr/>
        </p:nvSpPr>
        <p:spPr>
          <a:xfrm>
            <a:off x="2802177" y="2299727"/>
            <a:ext cx="125272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1E4DFC-18A1-2E3D-E52D-51F8380CADA9}"/>
              </a:ext>
            </a:extLst>
          </p:cNvPr>
          <p:cNvSpPr txBox="1"/>
          <p:nvPr/>
        </p:nvSpPr>
        <p:spPr>
          <a:xfrm>
            <a:off x="1833982" y="1637980"/>
            <a:ext cx="933689" cy="264115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Cumulative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49229F-EB29-DF19-B5FD-4E9604DAB76D}"/>
              </a:ext>
            </a:extLst>
          </p:cNvPr>
          <p:cNvSpPr txBox="1"/>
          <p:nvPr/>
        </p:nvSpPr>
        <p:spPr>
          <a:xfrm>
            <a:off x="1828253" y="1968458"/>
            <a:ext cx="93268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DADDE8-407D-DACE-26CC-6CEE4824D490}"/>
              </a:ext>
            </a:extLst>
          </p:cNvPr>
          <p:cNvSpPr txBox="1"/>
          <p:nvPr/>
        </p:nvSpPr>
        <p:spPr>
          <a:xfrm>
            <a:off x="1828253" y="2300985"/>
            <a:ext cx="93268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F5A45E-CAB5-F73B-5922-703E62B78E25}"/>
              </a:ext>
            </a:extLst>
          </p:cNvPr>
          <p:cNvSpPr txBox="1"/>
          <p:nvPr/>
        </p:nvSpPr>
        <p:spPr>
          <a:xfrm>
            <a:off x="1839863" y="2743524"/>
            <a:ext cx="932688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C434D6-BFF3-3C18-DBDC-3F3C8B968913}"/>
              </a:ext>
            </a:extLst>
          </p:cNvPr>
          <p:cNvSpPr txBox="1"/>
          <p:nvPr/>
        </p:nvSpPr>
        <p:spPr>
          <a:xfrm>
            <a:off x="2802177" y="2748420"/>
            <a:ext cx="1252728" cy="26411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00A902-7FE4-3BAF-6ED7-1BA6C4E53490}"/>
              </a:ext>
            </a:extLst>
          </p:cNvPr>
          <p:cNvSpPr txBox="1"/>
          <p:nvPr/>
        </p:nvSpPr>
        <p:spPr>
          <a:xfrm>
            <a:off x="4075002" y="1311056"/>
            <a:ext cx="1810512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Exposure Opportunity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B4AE46-BC29-C23C-5C57-90468EE6093D}"/>
              </a:ext>
            </a:extLst>
          </p:cNvPr>
          <p:cNvSpPr txBox="1"/>
          <p:nvPr/>
        </p:nvSpPr>
        <p:spPr>
          <a:xfrm>
            <a:off x="4054905" y="1637110"/>
            <a:ext cx="1793249" cy="27177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E05E0-D54E-28D9-4984-2FF7C32B4E74}"/>
              </a:ext>
            </a:extLst>
          </p:cNvPr>
          <p:cNvSpPr txBox="1"/>
          <p:nvPr/>
        </p:nvSpPr>
        <p:spPr>
          <a:xfrm>
            <a:off x="4054905" y="1967962"/>
            <a:ext cx="1793249" cy="2717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6E5FAA-14E3-B158-B657-AFBD4A3480DF}"/>
              </a:ext>
            </a:extLst>
          </p:cNvPr>
          <p:cNvSpPr txBox="1"/>
          <p:nvPr/>
        </p:nvSpPr>
        <p:spPr>
          <a:xfrm>
            <a:off x="4075002" y="2296737"/>
            <a:ext cx="1793249" cy="271777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980FBE-8B97-296C-C724-14542A6806B3}"/>
              </a:ext>
            </a:extLst>
          </p:cNvPr>
          <p:cNvSpPr txBox="1"/>
          <p:nvPr/>
        </p:nvSpPr>
        <p:spPr>
          <a:xfrm>
            <a:off x="4075001" y="2740758"/>
            <a:ext cx="1793249" cy="271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332239-E3B8-FB36-F073-9D8B1751DCB8}"/>
              </a:ext>
            </a:extLst>
          </p:cNvPr>
          <p:cNvSpPr txBox="1"/>
          <p:nvPr/>
        </p:nvSpPr>
        <p:spPr>
          <a:xfrm>
            <a:off x="5950766" y="1617326"/>
            <a:ext cx="1920240" cy="28724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Deal Closed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5EB00D-234B-1C76-2ED3-80B7AE7B6BE0}"/>
              </a:ext>
            </a:extLst>
          </p:cNvPr>
          <p:cNvSpPr txBox="1"/>
          <p:nvPr/>
        </p:nvSpPr>
        <p:spPr>
          <a:xfrm>
            <a:off x="7973618" y="1617810"/>
            <a:ext cx="1920240" cy="2872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In Discussion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DA390D-4156-0F45-7036-7182AEE35F1E}"/>
              </a:ext>
            </a:extLst>
          </p:cNvPr>
          <p:cNvSpPr txBox="1"/>
          <p:nvPr/>
        </p:nvSpPr>
        <p:spPr>
          <a:xfrm>
            <a:off x="9996470" y="1614853"/>
            <a:ext cx="1920240" cy="2872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Pipeline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E4FF51-0712-F3FF-7762-A481CD2B3BBA}"/>
              </a:ext>
            </a:extLst>
          </p:cNvPr>
          <p:cNvSpPr txBox="1"/>
          <p:nvPr/>
        </p:nvSpPr>
        <p:spPr>
          <a:xfrm>
            <a:off x="5920525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458960-18E1-A11D-91B8-74D21BED8D37}"/>
              </a:ext>
            </a:extLst>
          </p:cNvPr>
          <p:cNvSpPr txBox="1"/>
          <p:nvPr/>
        </p:nvSpPr>
        <p:spPr>
          <a:xfrm>
            <a:off x="7966661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2A6CFC-AF0F-3ABE-71E6-1D4FABCB99FA}"/>
              </a:ext>
            </a:extLst>
          </p:cNvPr>
          <p:cNvSpPr txBox="1"/>
          <p:nvPr/>
        </p:nvSpPr>
        <p:spPr>
          <a:xfrm>
            <a:off x="10019725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7AAB04-A57D-7E14-4B4E-1388615B4711}"/>
              </a:ext>
            </a:extLst>
          </p:cNvPr>
          <p:cNvCxnSpPr>
            <a:cxnSpLocks/>
          </p:cNvCxnSpPr>
          <p:nvPr/>
        </p:nvCxnSpPr>
        <p:spPr>
          <a:xfrm>
            <a:off x="1828253" y="2655755"/>
            <a:ext cx="402336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111F28B-C900-E17E-E704-C3AD05072BA4}"/>
              </a:ext>
            </a:extLst>
          </p:cNvPr>
          <p:cNvSpPr txBox="1"/>
          <p:nvPr/>
        </p:nvSpPr>
        <p:spPr>
          <a:xfrm>
            <a:off x="176956" y="2636386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Scale Stage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09996-24A1-D4A8-C098-0245BDBFF6FD}"/>
              </a:ext>
            </a:extLst>
          </p:cNvPr>
          <p:cNvSpPr txBox="1"/>
          <p:nvPr/>
        </p:nvSpPr>
        <p:spPr>
          <a:xfrm>
            <a:off x="5958113" y="3787700"/>
            <a:ext cx="1920240" cy="28724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6ACCF1-BFE5-65F2-170C-FADD29F8635C}"/>
              </a:ext>
            </a:extLst>
          </p:cNvPr>
          <p:cNvSpPr txBox="1"/>
          <p:nvPr/>
        </p:nvSpPr>
        <p:spPr>
          <a:xfrm>
            <a:off x="7966661" y="3787700"/>
            <a:ext cx="1920240" cy="2872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0268A9-1500-B0E4-FAB7-BB9F4F398BFD}"/>
              </a:ext>
            </a:extLst>
          </p:cNvPr>
          <p:cNvSpPr txBox="1"/>
          <p:nvPr/>
        </p:nvSpPr>
        <p:spPr>
          <a:xfrm>
            <a:off x="10019725" y="3787700"/>
            <a:ext cx="1920240" cy="2872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D6ECE-84D8-E450-3BA8-F101D9E25D88}"/>
              </a:ext>
            </a:extLst>
          </p:cNvPr>
          <p:cNvSpPr txBox="1"/>
          <p:nvPr/>
        </p:nvSpPr>
        <p:spPr>
          <a:xfrm>
            <a:off x="176956" y="3103953"/>
            <a:ext cx="567119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Client Growth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C585DB-2F61-C23A-4BA3-C2D91E0E368B}"/>
              </a:ext>
            </a:extLst>
          </p:cNvPr>
          <p:cNvSpPr txBox="1"/>
          <p:nvPr/>
        </p:nvSpPr>
        <p:spPr>
          <a:xfrm>
            <a:off x="1199583" y="3485279"/>
            <a:ext cx="932689" cy="2641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TBD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D04354-BABE-2F1A-810F-906BD9D6F728}"/>
              </a:ext>
            </a:extLst>
          </p:cNvPr>
          <p:cNvSpPr txBox="1"/>
          <p:nvPr/>
        </p:nvSpPr>
        <p:spPr>
          <a:xfrm>
            <a:off x="1187945" y="3806125"/>
            <a:ext cx="932689" cy="2717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A2EF77-825C-733B-1663-905D4B31E266}"/>
              </a:ext>
            </a:extLst>
          </p:cNvPr>
          <p:cNvSpPr txBox="1"/>
          <p:nvPr/>
        </p:nvSpPr>
        <p:spPr>
          <a:xfrm>
            <a:off x="1187945" y="4143790"/>
            <a:ext cx="932689" cy="264044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8B1D0C-7C4C-720D-16B7-8090A111BEE8}"/>
              </a:ext>
            </a:extLst>
          </p:cNvPr>
          <p:cNvSpPr txBox="1"/>
          <p:nvPr/>
        </p:nvSpPr>
        <p:spPr>
          <a:xfrm>
            <a:off x="1199583" y="4581191"/>
            <a:ext cx="932689" cy="264044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38D6EC-6335-5D9D-AC93-39EE2C355C69}"/>
              </a:ext>
            </a:extLst>
          </p:cNvPr>
          <p:cNvSpPr txBox="1"/>
          <p:nvPr/>
        </p:nvSpPr>
        <p:spPr>
          <a:xfrm>
            <a:off x="2253458" y="3460934"/>
            <a:ext cx="3571831" cy="1371600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421CB7-7E06-544E-B505-199CE5776658}"/>
              </a:ext>
            </a:extLst>
          </p:cNvPr>
          <p:cNvSpPr txBox="1"/>
          <p:nvPr/>
        </p:nvSpPr>
        <p:spPr>
          <a:xfrm>
            <a:off x="196441" y="3475647"/>
            <a:ext cx="933689" cy="2641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Cumulative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CAAA32-1639-8B18-4730-DACEFF4A67F9}"/>
              </a:ext>
            </a:extLst>
          </p:cNvPr>
          <p:cNvSpPr txBox="1"/>
          <p:nvPr/>
        </p:nvSpPr>
        <p:spPr>
          <a:xfrm>
            <a:off x="190712" y="3806125"/>
            <a:ext cx="932688" cy="2743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E6BFC8-51C3-1830-AAD8-711F415507DB}"/>
              </a:ext>
            </a:extLst>
          </p:cNvPr>
          <p:cNvSpPr txBox="1"/>
          <p:nvPr/>
        </p:nvSpPr>
        <p:spPr>
          <a:xfrm>
            <a:off x="190712" y="4138652"/>
            <a:ext cx="93268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01425D-4F62-297E-08E2-7625E00FB0DD}"/>
              </a:ext>
            </a:extLst>
          </p:cNvPr>
          <p:cNvSpPr txBox="1"/>
          <p:nvPr/>
        </p:nvSpPr>
        <p:spPr>
          <a:xfrm>
            <a:off x="202322" y="4581191"/>
            <a:ext cx="932688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4A5067A-7AEF-4B01-C4AD-065CE89705F1}"/>
              </a:ext>
            </a:extLst>
          </p:cNvPr>
          <p:cNvCxnSpPr>
            <a:cxnSpLocks/>
          </p:cNvCxnSpPr>
          <p:nvPr/>
        </p:nvCxnSpPr>
        <p:spPr>
          <a:xfrm>
            <a:off x="162576" y="4491401"/>
            <a:ext cx="2011680" cy="0"/>
          </a:xfrm>
          <a:prstGeom prst="line">
            <a:avLst/>
          </a:prstGeom>
          <a:ln w="952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3D84151-DEC8-B8EB-1083-70BF33E27261}"/>
              </a:ext>
            </a:extLst>
          </p:cNvPr>
          <p:cNvSpPr txBox="1"/>
          <p:nvPr/>
        </p:nvSpPr>
        <p:spPr>
          <a:xfrm>
            <a:off x="202322" y="4977508"/>
            <a:ext cx="5611640" cy="298067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Recent Activations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586ADC-8AA5-DB6A-4A85-EEA59238934E}"/>
              </a:ext>
            </a:extLst>
          </p:cNvPr>
          <p:cNvSpPr txBox="1"/>
          <p:nvPr/>
        </p:nvSpPr>
        <p:spPr>
          <a:xfrm>
            <a:off x="162576" y="5359155"/>
            <a:ext cx="5622678" cy="109728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68207A-8DFE-4D77-E928-88CBD526ADAC}"/>
              </a:ext>
            </a:extLst>
          </p:cNvPr>
          <p:cNvSpPr txBox="1"/>
          <p:nvPr/>
        </p:nvSpPr>
        <p:spPr>
          <a:xfrm>
            <a:off x="5956709" y="4157423"/>
            <a:ext cx="5983255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Next Steps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104CD3-813A-A67A-4F5F-CE41531307D4}"/>
              </a:ext>
            </a:extLst>
          </p:cNvPr>
          <p:cNvSpPr txBox="1"/>
          <p:nvPr/>
        </p:nvSpPr>
        <p:spPr>
          <a:xfrm>
            <a:off x="5924543" y="4548099"/>
            <a:ext cx="5983255" cy="18288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4989581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496269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 </a:t>
            </a:r>
            <a:r>
              <a:rPr lang="en-US" sz="2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| Scale Stage Success Plan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3EC12-82D4-E67D-C1DD-DEFED87ACD22}"/>
              </a:ext>
            </a:extLst>
          </p:cNvPr>
          <p:cNvSpPr txBox="1"/>
          <p:nvPr/>
        </p:nvSpPr>
        <p:spPr>
          <a:xfrm>
            <a:off x="176957" y="949764"/>
            <a:ext cx="1543981" cy="1545336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PORTCO LOGO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A0355-BC6F-1766-DBA4-6D40B2D8839B}"/>
              </a:ext>
            </a:extLst>
          </p:cNvPr>
          <p:cNvSpPr txBox="1"/>
          <p:nvPr/>
        </p:nvSpPr>
        <p:spPr>
          <a:xfrm>
            <a:off x="1828253" y="991705"/>
            <a:ext cx="1017996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SemperSystem Outcomes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6F6444-F6A6-73DD-DCF5-6913A6B4BC90}"/>
              </a:ext>
            </a:extLst>
          </p:cNvPr>
          <p:cNvSpPr txBox="1"/>
          <p:nvPr/>
        </p:nvSpPr>
        <p:spPr>
          <a:xfrm>
            <a:off x="1828253" y="1311784"/>
            <a:ext cx="2215616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Revenue Impact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E42153-D46B-A0C6-B325-0061852F93E0}"/>
              </a:ext>
            </a:extLst>
          </p:cNvPr>
          <p:cNvSpPr txBox="1"/>
          <p:nvPr/>
        </p:nvSpPr>
        <p:spPr>
          <a:xfrm>
            <a:off x="5920525" y="1308676"/>
            <a:ext cx="6087689" cy="28724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Partnerships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C56248-CB4E-03BB-7628-7EBD7A9FFC8C}"/>
              </a:ext>
            </a:extLst>
          </p:cNvPr>
          <p:cNvSpPr txBox="1"/>
          <p:nvPr/>
        </p:nvSpPr>
        <p:spPr>
          <a:xfrm>
            <a:off x="2790539" y="1630407"/>
            <a:ext cx="1253330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C0F29B-F535-535D-530E-EC1BE56FCDEE}"/>
              </a:ext>
            </a:extLst>
          </p:cNvPr>
          <p:cNvSpPr txBox="1"/>
          <p:nvPr/>
        </p:nvSpPr>
        <p:spPr>
          <a:xfrm>
            <a:off x="2802177" y="1965067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5D75D2-A82B-C7DD-73F2-7AFF0FE3A32E}"/>
              </a:ext>
            </a:extLst>
          </p:cNvPr>
          <p:cNvSpPr txBox="1"/>
          <p:nvPr/>
        </p:nvSpPr>
        <p:spPr>
          <a:xfrm>
            <a:off x="2802177" y="2299727"/>
            <a:ext cx="125272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1E4DFC-18A1-2E3D-E52D-51F8380CADA9}"/>
              </a:ext>
            </a:extLst>
          </p:cNvPr>
          <p:cNvSpPr txBox="1"/>
          <p:nvPr/>
        </p:nvSpPr>
        <p:spPr>
          <a:xfrm>
            <a:off x="1833982" y="1637980"/>
            <a:ext cx="933689" cy="264115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Cumulative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49229F-EB29-DF19-B5FD-4E9604DAB76D}"/>
              </a:ext>
            </a:extLst>
          </p:cNvPr>
          <p:cNvSpPr txBox="1"/>
          <p:nvPr/>
        </p:nvSpPr>
        <p:spPr>
          <a:xfrm>
            <a:off x="1828253" y="1968458"/>
            <a:ext cx="93268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DADDE8-407D-DACE-26CC-6CEE4824D490}"/>
              </a:ext>
            </a:extLst>
          </p:cNvPr>
          <p:cNvSpPr txBox="1"/>
          <p:nvPr/>
        </p:nvSpPr>
        <p:spPr>
          <a:xfrm>
            <a:off x="1828253" y="2300985"/>
            <a:ext cx="93268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F5A45E-CAB5-F73B-5922-703E62B78E25}"/>
              </a:ext>
            </a:extLst>
          </p:cNvPr>
          <p:cNvSpPr txBox="1"/>
          <p:nvPr/>
        </p:nvSpPr>
        <p:spPr>
          <a:xfrm>
            <a:off x="1839863" y="2743524"/>
            <a:ext cx="932688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C434D6-BFF3-3C18-DBDC-3F3C8B968913}"/>
              </a:ext>
            </a:extLst>
          </p:cNvPr>
          <p:cNvSpPr txBox="1"/>
          <p:nvPr/>
        </p:nvSpPr>
        <p:spPr>
          <a:xfrm>
            <a:off x="2802177" y="2748420"/>
            <a:ext cx="1252728" cy="26411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00A902-7FE4-3BAF-6ED7-1BA6C4E53490}"/>
              </a:ext>
            </a:extLst>
          </p:cNvPr>
          <p:cNvSpPr txBox="1"/>
          <p:nvPr/>
        </p:nvSpPr>
        <p:spPr>
          <a:xfrm>
            <a:off x="4075002" y="1311056"/>
            <a:ext cx="1810512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Exposure Opportunity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B4AE46-BC29-C23C-5C57-90468EE6093D}"/>
              </a:ext>
            </a:extLst>
          </p:cNvPr>
          <p:cNvSpPr txBox="1"/>
          <p:nvPr/>
        </p:nvSpPr>
        <p:spPr>
          <a:xfrm>
            <a:off x="4054905" y="1637110"/>
            <a:ext cx="1793249" cy="27177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E05E0-D54E-28D9-4984-2FF7C32B4E74}"/>
              </a:ext>
            </a:extLst>
          </p:cNvPr>
          <p:cNvSpPr txBox="1"/>
          <p:nvPr/>
        </p:nvSpPr>
        <p:spPr>
          <a:xfrm>
            <a:off x="4054905" y="1967962"/>
            <a:ext cx="1793249" cy="2717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6E5FAA-14E3-B158-B657-AFBD4A3480DF}"/>
              </a:ext>
            </a:extLst>
          </p:cNvPr>
          <p:cNvSpPr txBox="1"/>
          <p:nvPr/>
        </p:nvSpPr>
        <p:spPr>
          <a:xfrm>
            <a:off x="4075002" y="2296737"/>
            <a:ext cx="1793249" cy="271777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980FBE-8B97-296C-C724-14542A6806B3}"/>
              </a:ext>
            </a:extLst>
          </p:cNvPr>
          <p:cNvSpPr txBox="1"/>
          <p:nvPr/>
        </p:nvSpPr>
        <p:spPr>
          <a:xfrm>
            <a:off x="4075001" y="2740758"/>
            <a:ext cx="1793249" cy="271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332239-E3B8-FB36-F073-9D8B1751DCB8}"/>
              </a:ext>
            </a:extLst>
          </p:cNvPr>
          <p:cNvSpPr txBox="1"/>
          <p:nvPr/>
        </p:nvSpPr>
        <p:spPr>
          <a:xfrm>
            <a:off x="5950766" y="1617326"/>
            <a:ext cx="1920240" cy="28724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Deal Closed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5EB00D-234B-1C76-2ED3-80B7AE7B6BE0}"/>
              </a:ext>
            </a:extLst>
          </p:cNvPr>
          <p:cNvSpPr txBox="1"/>
          <p:nvPr/>
        </p:nvSpPr>
        <p:spPr>
          <a:xfrm>
            <a:off x="7973618" y="1617810"/>
            <a:ext cx="1920240" cy="2872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In Discussion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DA390D-4156-0F45-7036-7182AEE35F1E}"/>
              </a:ext>
            </a:extLst>
          </p:cNvPr>
          <p:cNvSpPr txBox="1"/>
          <p:nvPr/>
        </p:nvSpPr>
        <p:spPr>
          <a:xfrm>
            <a:off x="9996470" y="1614853"/>
            <a:ext cx="1920240" cy="2872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Pipeline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E4FF51-0712-F3FF-7762-A481CD2B3BBA}"/>
              </a:ext>
            </a:extLst>
          </p:cNvPr>
          <p:cNvSpPr txBox="1"/>
          <p:nvPr/>
        </p:nvSpPr>
        <p:spPr>
          <a:xfrm>
            <a:off x="5920525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458960-18E1-A11D-91B8-74D21BED8D37}"/>
              </a:ext>
            </a:extLst>
          </p:cNvPr>
          <p:cNvSpPr txBox="1"/>
          <p:nvPr/>
        </p:nvSpPr>
        <p:spPr>
          <a:xfrm>
            <a:off x="7966661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2A6CFC-AF0F-3ABE-71E6-1D4FABCB99FA}"/>
              </a:ext>
            </a:extLst>
          </p:cNvPr>
          <p:cNvSpPr txBox="1"/>
          <p:nvPr/>
        </p:nvSpPr>
        <p:spPr>
          <a:xfrm>
            <a:off x="10019725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7AAB04-A57D-7E14-4B4E-1388615B4711}"/>
              </a:ext>
            </a:extLst>
          </p:cNvPr>
          <p:cNvCxnSpPr>
            <a:cxnSpLocks/>
          </p:cNvCxnSpPr>
          <p:nvPr/>
        </p:nvCxnSpPr>
        <p:spPr>
          <a:xfrm>
            <a:off x="1828253" y="2655755"/>
            <a:ext cx="402336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111F28B-C900-E17E-E704-C3AD05072BA4}"/>
              </a:ext>
            </a:extLst>
          </p:cNvPr>
          <p:cNvSpPr txBox="1"/>
          <p:nvPr/>
        </p:nvSpPr>
        <p:spPr>
          <a:xfrm>
            <a:off x="176956" y="2636386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Scale Stage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09996-24A1-D4A8-C098-0245BDBFF6FD}"/>
              </a:ext>
            </a:extLst>
          </p:cNvPr>
          <p:cNvSpPr txBox="1"/>
          <p:nvPr/>
        </p:nvSpPr>
        <p:spPr>
          <a:xfrm>
            <a:off x="5958113" y="3787700"/>
            <a:ext cx="1920240" cy="28724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6ACCF1-BFE5-65F2-170C-FADD29F8635C}"/>
              </a:ext>
            </a:extLst>
          </p:cNvPr>
          <p:cNvSpPr txBox="1"/>
          <p:nvPr/>
        </p:nvSpPr>
        <p:spPr>
          <a:xfrm>
            <a:off x="7966661" y="3787700"/>
            <a:ext cx="1920240" cy="2872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0268A9-1500-B0E4-FAB7-BB9F4F398BFD}"/>
              </a:ext>
            </a:extLst>
          </p:cNvPr>
          <p:cNvSpPr txBox="1"/>
          <p:nvPr/>
        </p:nvSpPr>
        <p:spPr>
          <a:xfrm>
            <a:off x="10019725" y="3787700"/>
            <a:ext cx="1920240" cy="2872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D6ECE-84D8-E450-3BA8-F101D9E25D88}"/>
              </a:ext>
            </a:extLst>
          </p:cNvPr>
          <p:cNvSpPr txBox="1"/>
          <p:nvPr/>
        </p:nvSpPr>
        <p:spPr>
          <a:xfrm>
            <a:off x="176956" y="3103953"/>
            <a:ext cx="567119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Client Growth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C585DB-2F61-C23A-4BA3-C2D91E0E368B}"/>
              </a:ext>
            </a:extLst>
          </p:cNvPr>
          <p:cNvSpPr txBox="1"/>
          <p:nvPr/>
        </p:nvSpPr>
        <p:spPr>
          <a:xfrm>
            <a:off x="1199583" y="3485279"/>
            <a:ext cx="932689" cy="2641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TBD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D04354-BABE-2F1A-810F-906BD9D6F728}"/>
              </a:ext>
            </a:extLst>
          </p:cNvPr>
          <p:cNvSpPr txBox="1"/>
          <p:nvPr/>
        </p:nvSpPr>
        <p:spPr>
          <a:xfrm>
            <a:off x="1187945" y="3806125"/>
            <a:ext cx="932689" cy="2717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A2EF77-825C-733B-1663-905D4B31E266}"/>
              </a:ext>
            </a:extLst>
          </p:cNvPr>
          <p:cNvSpPr txBox="1"/>
          <p:nvPr/>
        </p:nvSpPr>
        <p:spPr>
          <a:xfrm>
            <a:off x="1187945" y="4143790"/>
            <a:ext cx="932689" cy="264044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8B1D0C-7C4C-720D-16B7-8090A111BEE8}"/>
              </a:ext>
            </a:extLst>
          </p:cNvPr>
          <p:cNvSpPr txBox="1"/>
          <p:nvPr/>
        </p:nvSpPr>
        <p:spPr>
          <a:xfrm>
            <a:off x="1199583" y="4581191"/>
            <a:ext cx="932689" cy="264044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38D6EC-6335-5D9D-AC93-39EE2C355C69}"/>
              </a:ext>
            </a:extLst>
          </p:cNvPr>
          <p:cNvSpPr txBox="1"/>
          <p:nvPr/>
        </p:nvSpPr>
        <p:spPr>
          <a:xfrm>
            <a:off x="2253458" y="3460934"/>
            <a:ext cx="3571831" cy="1371600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421CB7-7E06-544E-B505-199CE5776658}"/>
              </a:ext>
            </a:extLst>
          </p:cNvPr>
          <p:cNvSpPr txBox="1"/>
          <p:nvPr/>
        </p:nvSpPr>
        <p:spPr>
          <a:xfrm>
            <a:off x="196441" y="3475647"/>
            <a:ext cx="933689" cy="2641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Cumulative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CAAA32-1639-8B18-4730-DACEFF4A67F9}"/>
              </a:ext>
            </a:extLst>
          </p:cNvPr>
          <p:cNvSpPr txBox="1"/>
          <p:nvPr/>
        </p:nvSpPr>
        <p:spPr>
          <a:xfrm>
            <a:off x="190712" y="3806125"/>
            <a:ext cx="932688" cy="2743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E6BFC8-51C3-1830-AAD8-711F415507DB}"/>
              </a:ext>
            </a:extLst>
          </p:cNvPr>
          <p:cNvSpPr txBox="1"/>
          <p:nvPr/>
        </p:nvSpPr>
        <p:spPr>
          <a:xfrm>
            <a:off x="190712" y="4138652"/>
            <a:ext cx="93268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01425D-4F62-297E-08E2-7625E00FB0DD}"/>
              </a:ext>
            </a:extLst>
          </p:cNvPr>
          <p:cNvSpPr txBox="1"/>
          <p:nvPr/>
        </p:nvSpPr>
        <p:spPr>
          <a:xfrm>
            <a:off x="202322" y="4581191"/>
            <a:ext cx="932688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4A5067A-7AEF-4B01-C4AD-065CE89705F1}"/>
              </a:ext>
            </a:extLst>
          </p:cNvPr>
          <p:cNvCxnSpPr>
            <a:cxnSpLocks/>
          </p:cNvCxnSpPr>
          <p:nvPr/>
        </p:nvCxnSpPr>
        <p:spPr>
          <a:xfrm>
            <a:off x="162576" y="4491401"/>
            <a:ext cx="2011680" cy="0"/>
          </a:xfrm>
          <a:prstGeom prst="line">
            <a:avLst/>
          </a:prstGeom>
          <a:ln w="952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3D84151-DEC8-B8EB-1083-70BF33E27261}"/>
              </a:ext>
            </a:extLst>
          </p:cNvPr>
          <p:cNvSpPr txBox="1"/>
          <p:nvPr/>
        </p:nvSpPr>
        <p:spPr>
          <a:xfrm>
            <a:off x="202322" y="4977508"/>
            <a:ext cx="5611640" cy="298067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Recent Activations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586ADC-8AA5-DB6A-4A85-EEA59238934E}"/>
              </a:ext>
            </a:extLst>
          </p:cNvPr>
          <p:cNvSpPr txBox="1"/>
          <p:nvPr/>
        </p:nvSpPr>
        <p:spPr>
          <a:xfrm>
            <a:off x="162576" y="5359155"/>
            <a:ext cx="5622678" cy="109728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68207A-8DFE-4D77-E928-88CBD526ADAC}"/>
              </a:ext>
            </a:extLst>
          </p:cNvPr>
          <p:cNvSpPr txBox="1"/>
          <p:nvPr/>
        </p:nvSpPr>
        <p:spPr>
          <a:xfrm>
            <a:off x="5956709" y="4157423"/>
            <a:ext cx="5983255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Next Steps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104CD3-813A-A67A-4F5F-CE41531307D4}"/>
              </a:ext>
            </a:extLst>
          </p:cNvPr>
          <p:cNvSpPr txBox="1"/>
          <p:nvPr/>
        </p:nvSpPr>
        <p:spPr>
          <a:xfrm>
            <a:off x="5924543" y="4548099"/>
            <a:ext cx="5983255" cy="18288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978737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3101483"/>
            <a:ext cx="11831257" cy="649922"/>
          </a:xfrm>
          <a:prstGeom prst="rect">
            <a:avLst/>
          </a:prstGeom>
          <a:noFill/>
          <a:ln w="6350">
            <a:noFill/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</a:t>
            </a:r>
            <a:r>
              <a:rPr lang="en-US" sz="4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Success Plan Examples</a:t>
            </a:r>
            <a:endParaRPr lang="en-US" sz="4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145155875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AFE9540-6392-1386-6A45-3428E9D27D51}"/>
              </a:ext>
            </a:extLst>
          </p:cNvPr>
          <p:cNvSpPr txBox="1"/>
          <p:nvPr/>
        </p:nvSpPr>
        <p:spPr>
          <a:xfrm>
            <a:off x="176956" y="958193"/>
            <a:ext cx="1543981" cy="1645920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496269"/>
            <a:ext cx="11831257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2000" b="1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</a:t>
            </a: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 </a:t>
            </a:r>
            <a:r>
              <a:rPr lang="en-US" sz="2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| Scale Stage Success Plan</a:t>
            </a:r>
            <a:endParaRPr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A0355-BC6F-1766-DBA4-6D40B2D8839B}"/>
              </a:ext>
            </a:extLst>
          </p:cNvPr>
          <p:cNvSpPr txBox="1"/>
          <p:nvPr/>
        </p:nvSpPr>
        <p:spPr>
          <a:xfrm>
            <a:off x="1828253" y="991705"/>
            <a:ext cx="1017996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SemperSystem Outcomes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6F6444-F6A6-73DD-DCF5-6913A6B4BC90}"/>
              </a:ext>
            </a:extLst>
          </p:cNvPr>
          <p:cNvSpPr txBox="1"/>
          <p:nvPr/>
        </p:nvSpPr>
        <p:spPr>
          <a:xfrm>
            <a:off x="1828253" y="1311784"/>
            <a:ext cx="2215616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Revenue Impact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E42153-D46B-A0C6-B325-0061852F93E0}"/>
              </a:ext>
            </a:extLst>
          </p:cNvPr>
          <p:cNvSpPr txBox="1"/>
          <p:nvPr/>
        </p:nvSpPr>
        <p:spPr>
          <a:xfrm>
            <a:off x="5920525" y="1308676"/>
            <a:ext cx="6087689" cy="28724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Partnerships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C56248-CB4E-03BB-7628-7EBD7A9FFC8C}"/>
              </a:ext>
            </a:extLst>
          </p:cNvPr>
          <p:cNvSpPr txBox="1"/>
          <p:nvPr/>
        </p:nvSpPr>
        <p:spPr>
          <a:xfrm>
            <a:off x="2790539" y="1630407"/>
            <a:ext cx="1253330" cy="274320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C0F29B-F535-535D-530E-EC1BE56FCDEE}"/>
              </a:ext>
            </a:extLst>
          </p:cNvPr>
          <p:cNvSpPr txBox="1"/>
          <p:nvPr/>
        </p:nvSpPr>
        <p:spPr>
          <a:xfrm>
            <a:off x="2802177" y="1965067"/>
            <a:ext cx="125272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5D75D2-A82B-C7DD-73F2-7AFF0FE3A32E}"/>
              </a:ext>
            </a:extLst>
          </p:cNvPr>
          <p:cNvSpPr txBox="1"/>
          <p:nvPr/>
        </p:nvSpPr>
        <p:spPr>
          <a:xfrm>
            <a:off x="2802177" y="2299727"/>
            <a:ext cx="125272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1E4DFC-18A1-2E3D-E52D-51F8380CADA9}"/>
              </a:ext>
            </a:extLst>
          </p:cNvPr>
          <p:cNvSpPr txBox="1"/>
          <p:nvPr/>
        </p:nvSpPr>
        <p:spPr>
          <a:xfrm>
            <a:off x="1833982" y="1637980"/>
            <a:ext cx="933689" cy="264115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Cumulative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49229F-EB29-DF19-B5FD-4E9604DAB76D}"/>
              </a:ext>
            </a:extLst>
          </p:cNvPr>
          <p:cNvSpPr txBox="1"/>
          <p:nvPr/>
        </p:nvSpPr>
        <p:spPr>
          <a:xfrm>
            <a:off x="1828253" y="1968458"/>
            <a:ext cx="932688" cy="274320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DADDE8-407D-DACE-26CC-6CEE4824D490}"/>
              </a:ext>
            </a:extLst>
          </p:cNvPr>
          <p:cNvSpPr txBox="1"/>
          <p:nvPr/>
        </p:nvSpPr>
        <p:spPr>
          <a:xfrm>
            <a:off x="1828253" y="2300985"/>
            <a:ext cx="93268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F5A45E-CAB5-F73B-5922-703E62B78E25}"/>
              </a:ext>
            </a:extLst>
          </p:cNvPr>
          <p:cNvSpPr txBox="1"/>
          <p:nvPr/>
        </p:nvSpPr>
        <p:spPr>
          <a:xfrm>
            <a:off x="1839863" y="2743524"/>
            <a:ext cx="932688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C434D6-BFF3-3C18-DBDC-3F3C8B968913}"/>
              </a:ext>
            </a:extLst>
          </p:cNvPr>
          <p:cNvSpPr txBox="1"/>
          <p:nvPr/>
        </p:nvSpPr>
        <p:spPr>
          <a:xfrm>
            <a:off x="2802177" y="2748420"/>
            <a:ext cx="1252728" cy="26411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00A902-7FE4-3BAF-6ED7-1BA6C4E53490}"/>
              </a:ext>
            </a:extLst>
          </p:cNvPr>
          <p:cNvSpPr txBox="1"/>
          <p:nvPr/>
        </p:nvSpPr>
        <p:spPr>
          <a:xfrm>
            <a:off x="4075002" y="1311056"/>
            <a:ext cx="1810512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Exposure Opportunity 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B4AE46-BC29-C23C-5C57-90468EE6093D}"/>
              </a:ext>
            </a:extLst>
          </p:cNvPr>
          <p:cNvSpPr txBox="1"/>
          <p:nvPr/>
        </p:nvSpPr>
        <p:spPr>
          <a:xfrm>
            <a:off x="4054905" y="1637110"/>
            <a:ext cx="1793249" cy="271777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E05E0-D54E-28D9-4984-2FF7C32B4E74}"/>
              </a:ext>
            </a:extLst>
          </p:cNvPr>
          <p:cNvSpPr txBox="1"/>
          <p:nvPr/>
        </p:nvSpPr>
        <p:spPr>
          <a:xfrm>
            <a:off x="4054905" y="1967962"/>
            <a:ext cx="1793249" cy="271777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6E5FAA-14E3-B158-B657-AFBD4A3480DF}"/>
              </a:ext>
            </a:extLst>
          </p:cNvPr>
          <p:cNvSpPr txBox="1"/>
          <p:nvPr/>
        </p:nvSpPr>
        <p:spPr>
          <a:xfrm>
            <a:off x="4075002" y="2296737"/>
            <a:ext cx="1793249" cy="271777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980FBE-8B97-296C-C724-14542A6806B3}"/>
              </a:ext>
            </a:extLst>
          </p:cNvPr>
          <p:cNvSpPr txBox="1"/>
          <p:nvPr/>
        </p:nvSpPr>
        <p:spPr>
          <a:xfrm>
            <a:off x="4075001" y="2740758"/>
            <a:ext cx="1793249" cy="27177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332239-E3B8-FB36-F073-9D8B1751DCB8}"/>
              </a:ext>
            </a:extLst>
          </p:cNvPr>
          <p:cNvSpPr txBox="1"/>
          <p:nvPr/>
        </p:nvSpPr>
        <p:spPr>
          <a:xfrm>
            <a:off x="5950766" y="1617326"/>
            <a:ext cx="1920240" cy="28724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Deal Closed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5EB00D-234B-1C76-2ED3-80B7AE7B6BE0}"/>
              </a:ext>
            </a:extLst>
          </p:cNvPr>
          <p:cNvSpPr txBox="1"/>
          <p:nvPr/>
        </p:nvSpPr>
        <p:spPr>
          <a:xfrm>
            <a:off x="7973618" y="1617810"/>
            <a:ext cx="1920240" cy="2872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In Discussion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BDA390D-4156-0F45-7036-7182AEE35F1E}"/>
              </a:ext>
            </a:extLst>
          </p:cNvPr>
          <p:cNvSpPr txBox="1"/>
          <p:nvPr/>
        </p:nvSpPr>
        <p:spPr>
          <a:xfrm>
            <a:off x="9996470" y="1614853"/>
            <a:ext cx="1920240" cy="2872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Pipeline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EE4FF51-0712-F3FF-7762-A481CD2B3BBA}"/>
              </a:ext>
            </a:extLst>
          </p:cNvPr>
          <p:cNvSpPr txBox="1"/>
          <p:nvPr/>
        </p:nvSpPr>
        <p:spPr>
          <a:xfrm>
            <a:off x="5920525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458960-18E1-A11D-91B8-74D21BED8D37}"/>
              </a:ext>
            </a:extLst>
          </p:cNvPr>
          <p:cNvSpPr txBox="1"/>
          <p:nvPr/>
        </p:nvSpPr>
        <p:spPr>
          <a:xfrm>
            <a:off x="7966661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2A6CFC-AF0F-3ABE-71E6-1D4FABCB99FA}"/>
              </a:ext>
            </a:extLst>
          </p:cNvPr>
          <p:cNvSpPr txBox="1"/>
          <p:nvPr/>
        </p:nvSpPr>
        <p:spPr>
          <a:xfrm>
            <a:off x="10019725" y="1921030"/>
            <a:ext cx="1981563" cy="1828800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47AAB04-A57D-7E14-4B4E-1388615B4711}"/>
              </a:ext>
            </a:extLst>
          </p:cNvPr>
          <p:cNvCxnSpPr>
            <a:cxnSpLocks/>
          </p:cNvCxnSpPr>
          <p:nvPr/>
        </p:nvCxnSpPr>
        <p:spPr>
          <a:xfrm>
            <a:off x="1828253" y="2655755"/>
            <a:ext cx="402336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6111F28B-C900-E17E-E704-C3AD05072BA4}"/>
              </a:ext>
            </a:extLst>
          </p:cNvPr>
          <p:cNvSpPr txBox="1"/>
          <p:nvPr/>
        </p:nvSpPr>
        <p:spPr>
          <a:xfrm>
            <a:off x="162576" y="2735243"/>
            <a:ext cx="1543981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Scale Stage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09996-24A1-D4A8-C098-0245BDBFF6FD}"/>
              </a:ext>
            </a:extLst>
          </p:cNvPr>
          <p:cNvSpPr txBox="1"/>
          <p:nvPr/>
        </p:nvSpPr>
        <p:spPr>
          <a:xfrm>
            <a:off x="5958113" y="3787700"/>
            <a:ext cx="1920240" cy="287242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6ACCF1-BFE5-65F2-170C-FADD29F8635C}"/>
              </a:ext>
            </a:extLst>
          </p:cNvPr>
          <p:cNvSpPr txBox="1"/>
          <p:nvPr/>
        </p:nvSpPr>
        <p:spPr>
          <a:xfrm>
            <a:off x="7966661" y="3787700"/>
            <a:ext cx="1920240" cy="2872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E0268A9-1500-B0E4-FAB7-BB9F4F398BFD}"/>
              </a:ext>
            </a:extLst>
          </p:cNvPr>
          <p:cNvSpPr txBox="1"/>
          <p:nvPr/>
        </p:nvSpPr>
        <p:spPr>
          <a:xfrm>
            <a:off x="10019725" y="3787700"/>
            <a:ext cx="1920240" cy="28724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#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6FD6ECE-84D8-E450-3BA8-F101D9E25D88}"/>
              </a:ext>
            </a:extLst>
          </p:cNvPr>
          <p:cNvSpPr txBox="1"/>
          <p:nvPr/>
        </p:nvSpPr>
        <p:spPr>
          <a:xfrm>
            <a:off x="176956" y="3103953"/>
            <a:ext cx="5671197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Client Growth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C585DB-2F61-C23A-4BA3-C2D91E0E368B}"/>
              </a:ext>
            </a:extLst>
          </p:cNvPr>
          <p:cNvSpPr txBox="1"/>
          <p:nvPr/>
        </p:nvSpPr>
        <p:spPr>
          <a:xfrm>
            <a:off x="1199583" y="3485279"/>
            <a:ext cx="932689" cy="2641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05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TBD</a:t>
            </a:r>
            <a:endParaRPr kumimoji="0" lang="en-US" sz="105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D04354-BABE-2F1A-810F-906BD9D6F728}"/>
              </a:ext>
            </a:extLst>
          </p:cNvPr>
          <p:cNvSpPr txBox="1"/>
          <p:nvPr/>
        </p:nvSpPr>
        <p:spPr>
          <a:xfrm>
            <a:off x="1187945" y="3806125"/>
            <a:ext cx="932689" cy="27177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A2EF77-825C-733B-1663-905D4B31E266}"/>
              </a:ext>
            </a:extLst>
          </p:cNvPr>
          <p:cNvSpPr txBox="1"/>
          <p:nvPr/>
        </p:nvSpPr>
        <p:spPr>
          <a:xfrm>
            <a:off x="1187945" y="4143790"/>
            <a:ext cx="932689" cy="264044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8B1D0C-7C4C-720D-16B7-8090A111BEE8}"/>
              </a:ext>
            </a:extLst>
          </p:cNvPr>
          <p:cNvSpPr txBox="1"/>
          <p:nvPr/>
        </p:nvSpPr>
        <p:spPr>
          <a:xfrm>
            <a:off x="1199583" y="4581191"/>
            <a:ext cx="932689" cy="264044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/>
                <a:cs typeface="Calibri Light"/>
              </a:rPr>
              <a:t>TBD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38D6EC-6335-5D9D-AC93-39EE2C355C69}"/>
              </a:ext>
            </a:extLst>
          </p:cNvPr>
          <p:cNvSpPr txBox="1"/>
          <p:nvPr/>
        </p:nvSpPr>
        <p:spPr>
          <a:xfrm>
            <a:off x="2253458" y="3460934"/>
            <a:ext cx="3571831" cy="1371600"/>
          </a:xfrm>
          <a:prstGeom prst="roundRect">
            <a:avLst/>
          </a:prstGeom>
          <a:noFill/>
          <a:ln>
            <a:solidFill>
              <a:schemeClr val="accent2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421CB7-7E06-544E-B505-199CE5776658}"/>
              </a:ext>
            </a:extLst>
          </p:cNvPr>
          <p:cNvSpPr txBox="1"/>
          <p:nvPr/>
        </p:nvSpPr>
        <p:spPr>
          <a:xfrm>
            <a:off x="196441" y="3475647"/>
            <a:ext cx="933689" cy="2641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Cumulative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CAAA32-1639-8B18-4730-DACEFF4A67F9}"/>
              </a:ext>
            </a:extLst>
          </p:cNvPr>
          <p:cNvSpPr txBox="1"/>
          <p:nvPr/>
        </p:nvSpPr>
        <p:spPr>
          <a:xfrm>
            <a:off x="190712" y="3806125"/>
            <a:ext cx="932688" cy="27432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E6BFC8-51C3-1830-AAD8-711F415507DB}"/>
              </a:ext>
            </a:extLst>
          </p:cNvPr>
          <p:cNvSpPr txBox="1"/>
          <p:nvPr/>
        </p:nvSpPr>
        <p:spPr>
          <a:xfrm>
            <a:off x="190712" y="4138652"/>
            <a:ext cx="932688" cy="274320"/>
          </a:xfrm>
          <a:prstGeom prst="round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PY6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01425D-4F62-297E-08E2-7625E00FB0DD}"/>
              </a:ext>
            </a:extLst>
          </p:cNvPr>
          <p:cNvSpPr txBox="1"/>
          <p:nvPr/>
        </p:nvSpPr>
        <p:spPr>
          <a:xfrm>
            <a:off x="202322" y="4581191"/>
            <a:ext cx="932688" cy="2741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Pipeline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4A5067A-7AEF-4B01-C4AD-065CE89705F1}"/>
              </a:ext>
            </a:extLst>
          </p:cNvPr>
          <p:cNvCxnSpPr>
            <a:cxnSpLocks/>
          </p:cNvCxnSpPr>
          <p:nvPr/>
        </p:nvCxnSpPr>
        <p:spPr>
          <a:xfrm>
            <a:off x="162576" y="4491401"/>
            <a:ext cx="2011680" cy="0"/>
          </a:xfrm>
          <a:prstGeom prst="line">
            <a:avLst/>
          </a:prstGeom>
          <a:ln w="9525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23D84151-DEC8-B8EB-1083-70BF33E27261}"/>
              </a:ext>
            </a:extLst>
          </p:cNvPr>
          <p:cNvSpPr txBox="1"/>
          <p:nvPr/>
        </p:nvSpPr>
        <p:spPr>
          <a:xfrm>
            <a:off x="202322" y="4977508"/>
            <a:ext cx="5611640" cy="298067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Recent Activations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E586ADC-8AA5-DB6A-4A85-EEA59238934E}"/>
              </a:ext>
            </a:extLst>
          </p:cNvPr>
          <p:cNvSpPr txBox="1"/>
          <p:nvPr/>
        </p:nvSpPr>
        <p:spPr>
          <a:xfrm>
            <a:off x="162576" y="5359155"/>
            <a:ext cx="5622678" cy="109728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68207A-8DFE-4D77-E928-88CBD526ADAC}"/>
              </a:ext>
            </a:extLst>
          </p:cNvPr>
          <p:cNvSpPr txBox="1"/>
          <p:nvPr/>
        </p:nvSpPr>
        <p:spPr>
          <a:xfrm>
            <a:off x="5956709" y="4157423"/>
            <a:ext cx="5983255" cy="287242"/>
          </a:xfrm>
          <a:prstGeom prst="round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r>
              <a:rPr lang="en-US" sz="1200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Next Steps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104CD3-813A-A67A-4F5F-CE41531307D4}"/>
              </a:ext>
            </a:extLst>
          </p:cNvPr>
          <p:cNvSpPr txBox="1"/>
          <p:nvPr/>
        </p:nvSpPr>
        <p:spPr>
          <a:xfrm>
            <a:off x="5924543" y="4548099"/>
            <a:ext cx="5983255" cy="182880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None/>
              <a:tabLst/>
              <a:defRPr/>
            </a:pPr>
            <a:endParaRPr lang="en-US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4650104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32DE969B-E9F4-AE97-9550-D5920BCDCB1B}"/>
              </a:ext>
            </a:extLst>
          </p:cNvPr>
          <p:cNvSpPr/>
          <p:nvPr/>
        </p:nvSpPr>
        <p:spPr>
          <a:xfrm rot="5400000">
            <a:off x="11086929" y="5501680"/>
            <a:ext cx="1050168" cy="542448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186EBE-5452-73D5-4DBB-AE8D75C4694E}"/>
              </a:ext>
            </a:extLst>
          </p:cNvPr>
          <p:cNvSpPr/>
          <p:nvPr/>
        </p:nvSpPr>
        <p:spPr>
          <a:xfrm>
            <a:off x="244934" y="5497550"/>
            <a:ext cx="4096153" cy="53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5F4E3B-6AB1-A2DC-A7A7-66246324FD3F}"/>
              </a:ext>
            </a:extLst>
          </p:cNvPr>
          <p:cNvSpPr txBox="1"/>
          <p:nvPr/>
        </p:nvSpPr>
        <p:spPr>
          <a:xfrm>
            <a:off x="203843" y="489213"/>
            <a:ext cx="11740871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SemperVirens' Proprietary SemperSystem Portfolio Support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28DD5-9D6D-0F9E-2055-C8BF5309CF0D}"/>
              </a:ext>
            </a:extLst>
          </p:cNvPr>
          <p:cNvSpPr txBox="1"/>
          <p:nvPr/>
        </p:nvSpPr>
        <p:spPr>
          <a:xfrm>
            <a:off x="592047" y="1307836"/>
            <a:ext cx="3749040" cy="71323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Pre-Seed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MS PGothic"/>
                <a:cs typeface="Calibri Light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Seed, Series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77A72-DD9A-E1C2-A29A-2B198C65C386}"/>
              </a:ext>
            </a:extLst>
          </p:cNvPr>
          <p:cNvSpPr txBox="1"/>
          <p:nvPr/>
        </p:nvSpPr>
        <p:spPr>
          <a:xfrm>
            <a:off x="630306" y="999671"/>
            <a:ext cx="1675301" cy="28724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New Investment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147EA-C192-07FF-E1FD-DEBF264B5E25}"/>
              </a:ext>
            </a:extLst>
          </p:cNvPr>
          <p:cNvSpPr txBox="1"/>
          <p:nvPr/>
        </p:nvSpPr>
        <p:spPr>
          <a:xfrm>
            <a:off x="592047" y="4057702"/>
            <a:ext cx="3749040" cy="110642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Feedback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Exposure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10 Customers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A3132-2116-DC4B-32F5-9E86BEA2AA88}"/>
              </a:ext>
            </a:extLst>
          </p:cNvPr>
          <p:cNvSpPr txBox="1"/>
          <p:nvPr/>
        </p:nvSpPr>
        <p:spPr>
          <a:xfrm>
            <a:off x="570678" y="2152941"/>
            <a:ext cx="3749040" cy="1731042"/>
          </a:xfrm>
          <a:prstGeom prst="round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Initial Investment: </a:t>
            </a:r>
            <a:r>
              <a:rPr kumimoji="0" lang="en-US" sz="120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Capital deployed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Feedback Sessions: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Venture Advisors in target market </a:t>
            </a:r>
          </a:p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Early Revenue: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Introductions to in-seat buyers from SemperVirens subsidiaries </a:t>
            </a:r>
          </a:p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Speaking Engagement: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Introduce portfolio founders as thought leader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79206-7C92-F9C7-E78B-FD2DB730B71D}"/>
              </a:ext>
            </a:extLst>
          </p:cNvPr>
          <p:cNvSpPr txBox="1"/>
          <p:nvPr/>
        </p:nvSpPr>
        <p:spPr>
          <a:xfrm rot="16200000">
            <a:off x="-566993" y="2874842"/>
            <a:ext cx="1911098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Activation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FB56F1-2E2A-51C7-4583-1B08DCE6281C}"/>
              </a:ext>
            </a:extLst>
          </p:cNvPr>
          <p:cNvSpPr txBox="1"/>
          <p:nvPr/>
        </p:nvSpPr>
        <p:spPr>
          <a:xfrm rot="16200000">
            <a:off x="-151725" y="4440423"/>
            <a:ext cx="1105300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Outcomes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202BD2-830F-5CDF-0C01-5B8DDE1F4E3F}"/>
              </a:ext>
            </a:extLst>
          </p:cNvPr>
          <p:cNvSpPr txBox="1"/>
          <p:nvPr/>
        </p:nvSpPr>
        <p:spPr>
          <a:xfrm rot="16200000">
            <a:off x="41146" y="1504022"/>
            <a:ext cx="715777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Stage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440BE9-9E53-E910-7023-09C9F77F79C7}"/>
              </a:ext>
            </a:extLst>
          </p:cNvPr>
          <p:cNvSpPr/>
          <p:nvPr/>
        </p:nvSpPr>
        <p:spPr>
          <a:xfrm flipV="1">
            <a:off x="206022" y="944032"/>
            <a:ext cx="11730566" cy="5442655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63EFB6-BB83-3ACF-5268-347878E83192}"/>
              </a:ext>
            </a:extLst>
          </p:cNvPr>
          <p:cNvSpPr txBox="1"/>
          <p:nvPr/>
        </p:nvSpPr>
        <p:spPr>
          <a:xfrm>
            <a:off x="4355463" y="998691"/>
            <a:ext cx="3749040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Early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BE339F-0912-6BF2-9BA3-9CD999172F09}"/>
              </a:ext>
            </a:extLst>
          </p:cNvPr>
          <p:cNvSpPr txBox="1"/>
          <p:nvPr/>
        </p:nvSpPr>
        <p:spPr>
          <a:xfrm>
            <a:off x="4365102" y="1303001"/>
            <a:ext cx="3749040" cy="713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Series A, Series B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Series C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B59CA1-F30A-D5D1-C5CE-731AD34719D8}"/>
              </a:ext>
            </a:extLst>
          </p:cNvPr>
          <p:cNvSpPr txBox="1"/>
          <p:nvPr/>
        </p:nvSpPr>
        <p:spPr>
          <a:xfrm>
            <a:off x="2352907" y="1002513"/>
            <a:ext cx="1966811" cy="28724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1A3BAE-58D2-4A11-A930-7A310A0FF938}"/>
              </a:ext>
            </a:extLst>
          </p:cNvPr>
          <p:cNvSpPr txBox="1"/>
          <p:nvPr/>
        </p:nvSpPr>
        <p:spPr>
          <a:xfrm>
            <a:off x="8140248" y="999671"/>
            <a:ext cx="3749040" cy="283464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Scale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BBE87A-0BC9-1A25-63C9-81BED768B6D6}"/>
              </a:ext>
            </a:extLst>
          </p:cNvPr>
          <p:cNvSpPr txBox="1"/>
          <p:nvPr/>
        </p:nvSpPr>
        <p:spPr>
          <a:xfrm>
            <a:off x="8150845" y="1323954"/>
            <a:ext cx="3749040" cy="7132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Series C, Series D+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A4583E-465D-155C-B768-75016A3D3933}"/>
              </a:ext>
            </a:extLst>
          </p:cNvPr>
          <p:cNvSpPr txBox="1"/>
          <p:nvPr/>
        </p:nvSpPr>
        <p:spPr>
          <a:xfrm>
            <a:off x="4388588" y="4057702"/>
            <a:ext cx="3749040" cy="110642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Distribution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Partnerships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$10M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C261C6-4E43-B194-0399-08DB8A4F8919}"/>
              </a:ext>
            </a:extLst>
          </p:cNvPr>
          <p:cNvSpPr txBox="1"/>
          <p:nvPr/>
        </p:nvSpPr>
        <p:spPr>
          <a:xfrm>
            <a:off x="4358219" y="2522179"/>
            <a:ext cx="3749040" cy="1065824"/>
          </a:xfrm>
          <a:prstGeom prst="roundRect">
            <a:avLst/>
          </a:prstGeom>
          <a:noFill/>
          <a:ln w="6350"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Distribution: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Channel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and client distribution with SemperVirens strategic partners</a:t>
            </a:r>
          </a:p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1C4846"/>
                </a:solidFill>
                <a:latin typeface="Aptos Light"/>
                <a:ea typeface="MS PGothic"/>
                <a:cs typeface="Calibri Light"/>
              </a:rPr>
              <a:t>GTM Advisory: </a:t>
            </a:r>
          </a:p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FDD0C5-048B-E58E-2E19-D72BA6940D57}"/>
              </a:ext>
            </a:extLst>
          </p:cNvPr>
          <p:cNvSpPr txBox="1"/>
          <p:nvPr/>
        </p:nvSpPr>
        <p:spPr>
          <a:xfrm>
            <a:off x="8168070" y="4057702"/>
            <a:ext cx="3749040" cy="1106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Channel Distribution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Exit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55969-A9F3-4CE4-7FDD-D14BA31B7240}"/>
              </a:ext>
            </a:extLst>
          </p:cNvPr>
          <p:cNvSpPr txBox="1"/>
          <p:nvPr/>
        </p:nvSpPr>
        <p:spPr>
          <a:xfrm>
            <a:off x="8134198" y="2503546"/>
            <a:ext cx="3749040" cy="1065895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Distribution: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Channel</a:t>
            </a: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and client distribution with large enterprise, carriers, brokers, etc.</a:t>
            </a:r>
          </a:p>
          <a:p>
            <a:pPr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D2C4F395-93A5-53F7-DE5A-040F47145BAB}"/>
              </a:ext>
            </a:extLst>
          </p:cNvPr>
          <p:cNvSpPr/>
          <p:nvPr/>
        </p:nvSpPr>
        <p:spPr>
          <a:xfrm>
            <a:off x="255412" y="5211189"/>
            <a:ext cx="11627826" cy="1105300"/>
          </a:xfrm>
          <a:prstGeom prst="rightArrow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EEF2B-10F3-6698-159E-719B9BFA6AF3}"/>
              </a:ext>
            </a:extLst>
          </p:cNvPr>
          <p:cNvSpPr txBox="1"/>
          <p:nvPr/>
        </p:nvSpPr>
        <p:spPr>
          <a:xfrm>
            <a:off x="1338494" y="5598625"/>
            <a:ext cx="2028825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10 Customers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F7B6E4-B21D-1DBE-4F12-41AD5E73C2DD}"/>
              </a:ext>
            </a:extLst>
          </p:cNvPr>
          <p:cNvSpPr/>
          <p:nvPr/>
        </p:nvSpPr>
        <p:spPr>
          <a:xfrm>
            <a:off x="4319718" y="5491120"/>
            <a:ext cx="4096153" cy="5394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639038-902E-42FA-0ED0-94AA92AB4889}"/>
              </a:ext>
            </a:extLst>
          </p:cNvPr>
          <p:cNvSpPr txBox="1"/>
          <p:nvPr/>
        </p:nvSpPr>
        <p:spPr>
          <a:xfrm>
            <a:off x="5280075" y="5624307"/>
            <a:ext cx="1899815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$10M in ARR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4B8B14-BF79-BCE0-5195-E352241AD555}"/>
              </a:ext>
            </a:extLst>
          </p:cNvPr>
          <p:cNvSpPr/>
          <p:nvPr/>
        </p:nvSpPr>
        <p:spPr>
          <a:xfrm>
            <a:off x="8397162" y="5488104"/>
            <a:ext cx="3214851" cy="5394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29A0C1-75E6-25EE-D633-2885E98C082E}"/>
              </a:ext>
            </a:extLst>
          </p:cNvPr>
          <p:cNvSpPr txBox="1"/>
          <p:nvPr/>
        </p:nvSpPr>
        <p:spPr>
          <a:xfrm>
            <a:off x="10744088" y="5615232"/>
            <a:ext cx="1107996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0" marR="0" lvl="0" indent="0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50x Return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F9E4CE-E787-D380-2511-25D0E21895F3}"/>
              </a:ext>
            </a:extLst>
          </p:cNvPr>
          <p:cNvSpPr txBox="1"/>
          <p:nvPr/>
        </p:nvSpPr>
        <p:spPr>
          <a:xfrm>
            <a:off x="8508243" y="5607900"/>
            <a:ext cx="2143472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$10M ARR Deal</a:t>
            </a:r>
          </a:p>
        </p:txBody>
      </p:sp>
    </p:spTree>
    <p:extLst>
      <p:ext uri="{BB962C8B-B14F-4D97-AF65-F5344CB8AC3E}">
        <p14:creationId xmlns:p14="http://schemas.microsoft.com/office/powerpoint/2010/main" val="3986743694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8F2E2A0-15BA-7ED3-3241-1DA51BF8ADD8}"/>
              </a:ext>
            </a:extLst>
          </p:cNvPr>
          <p:cNvSpPr txBox="1"/>
          <p:nvPr/>
        </p:nvSpPr>
        <p:spPr>
          <a:xfrm>
            <a:off x="176957" y="3101483"/>
            <a:ext cx="11831257" cy="649922"/>
          </a:xfrm>
          <a:prstGeom prst="rect">
            <a:avLst/>
          </a:prstGeom>
          <a:noFill/>
          <a:ln w="6350">
            <a:noFill/>
          </a:ln>
        </p:spPr>
        <p:txBody>
          <a:bodyPr wrap="square" lIns="91440" tIns="45720" rIns="91440" bIns="45720" rtlCol="0" anchor="ctr">
            <a:spAutoFit/>
          </a:bodyPr>
          <a:lstStyle/>
          <a:p>
            <a:pPr algn="ctr" defTabSz="543705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defRPr/>
            </a:pPr>
            <a:r>
              <a:rPr kumimoji="0" lang="en-US" sz="4000" b="1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</a:t>
            </a:r>
            <a:r>
              <a:rPr kumimoji="0" lang="en-US" sz="4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 </a:t>
            </a:r>
            <a:r>
              <a:rPr lang="en-US" sz="4000" b="1">
                <a:solidFill>
                  <a:srgbClr val="1C4846"/>
                </a:solidFill>
                <a:latin typeface="Aptos Display"/>
                <a:ea typeface="MS PGothic"/>
                <a:cs typeface="Calibri Light"/>
              </a:rPr>
              <a:t>Case Studies</a:t>
            </a:r>
            <a:endParaRPr lang="en-US" sz="4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411450636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186EBE-5452-73D5-4DBB-AE8D75C4694E}"/>
              </a:ext>
            </a:extLst>
          </p:cNvPr>
          <p:cNvSpPr/>
          <p:nvPr/>
        </p:nvSpPr>
        <p:spPr>
          <a:xfrm>
            <a:off x="244934" y="5497550"/>
            <a:ext cx="4096153" cy="53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5F4E3B-6AB1-A2DC-A7A7-66246324FD3F}"/>
              </a:ext>
            </a:extLst>
          </p:cNvPr>
          <p:cNvSpPr txBox="1"/>
          <p:nvPr/>
        </p:nvSpPr>
        <p:spPr>
          <a:xfrm>
            <a:off x="203843" y="489213"/>
            <a:ext cx="11740871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Portfolio Support | Spring Health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28DD5-9D6D-0F9E-2055-C8BF5309CF0D}"/>
              </a:ext>
            </a:extLst>
          </p:cNvPr>
          <p:cNvSpPr txBox="1"/>
          <p:nvPr/>
        </p:nvSpPr>
        <p:spPr>
          <a:xfrm>
            <a:off x="592047" y="1513811"/>
            <a:ext cx="2168596" cy="287171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Pre-Seed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MS PGothic"/>
                <a:cs typeface="Calibri Light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Seed, Series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77A72-DD9A-E1C2-A29A-2B198C65C386}"/>
              </a:ext>
            </a:extLst>
          </p:cNvPr>
          <p:cNvSpPr txBox="1"/>
          <p:nvPr/>
        </p:nvSpPr>
        <p:spPr>
          <a:xfrm>
            <a:off x="623251" y="989123"/>
            <a:ext cx="1357801" cy="287171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New Investment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147EA-C192-07FF-E1FD-DEBF264B5E25}"/>
              </a:ext>
            </a:extLst>
          </p:cNvPr>
          <p:cNvSpPr txBox="1"/>
          <p:nvPr/>
        </p:nvSpPr>
        <p:spPr>
          <a:xfrm>
            <a:off x="599102" y="3160748"/>
            <a:ext cx="2401430" cy="100944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Feedback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Exposure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10 Customers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A3132-2116-DC4B-32F5-9E86BEA2AA88}"/>
              </a:ext>
            </a:extLst>
          </p:cNvPr>
          <p:cNvSpPr txBox="1"/>
          <p:nvPr/>
        </p:nvSpPr>
        <p:spPr>
          <a:xfrm>
            <a:off x="605956" y="2242352"/>
            <a:ext cx="2387319" cy="896055"/>
          </a:xfrm>
          <a:prstGeom prst="round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10 out of 20 customers 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PeopleTech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Accelerator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Invested in Series 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79206-7C92-F9C7-E78B-FD2DB730B71D}"/>
              </a:ext>
            </a:extLst>
          </p:cNvPr>
          <p:cNvSpPr txBox="1"/>
          <p:nvPr/>
        </p:nvSpPr>
        <p:spPr>
          <a:xfrm rot="16200000">
            <a:off x="-221271" y="2490350"/>
            <a:ext cx="1226710" cy="287171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</a:t>
            </a:r>
            <a:endParaRPr kumimoji="0" lang="en-US" sz="1200" b="0" i="0" u="none" strike="noStrike" kern="1200" cap="none" spc="0" normalizeH="0" baseline="0" noProof="0" err="1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FB56F1-2E2A-51C7-4583-1B08DCE6281C}"/>
              </a:ext>
            </a:extLst>
          </p:cNvPr>
          <p:cNvSpPr txBox="1"/>
          <p:nvPr/>
        </p:nvSpPr>
        <p:spPr>
          <a:xfrm rot="16200000">
            <a:off x="-119974" y="3590229"/>
            <a:ext cx="971245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Outcomes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202BD2-830F-5CDF-0C01-5B8DDE1F4E3F}"/>
              </a:ext>
            </a:extLst>
          </p:cNvPr>
          <p:cNvSpPr txBox="1"/>
          <p:nvPr/>
        </p:nvSpPr>
        <p:spPr>
          <a:xfrm rot="16200000">
            <a:off x="41146" y="1504022"/>
            <a:ext cx="715777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Stage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440BE9-9E53-E910-7023-09C9F77F79C7}"/>
              </a:ext>
            </a:extLst>
          </p:cNvPr>
          <p:cNvSpPr/>
          <p:nvPr/>
        </p:nvSpPr>
        <p:spPr>
          <a:xfrm flipV="1">
            <a:off x="206022" y="944032"/>
            <a:ext cx="11730566" cy="5442655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B59CA1-F30A-D5D1-C5CE-731AD34719D8}"/>
              </a:ext>
            </a:extLst>
          </p:cNvPr>
          <p:cNvSpPr txBox="1"/>
          <p:nvPr/>
        </p:nvSpPr>
        <p:spPr>
          <a:xfrm>
            <a:off x="2014241" y="988438"/>
            <a:ext cx="739144" cy="287171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D2C4F395-93A5-53F7-DE5A-040F47145BAB}"/>
              </a:ext>
            </a:extLst>
          </p:cNvPr>
          <p:cNvSpPr/>
          <p:nvPr/>
        </p:nvSpPr>
        <p:spPr>
          <a:xfrm>
            <a:off x="255412" y="5211189"/>
            <a:ext cx="11627826" cy="1105300"/>
          </a:xfrm>
          <a:prstGeom prst="rightArrow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EEF2B-10F3-6698-159E-719B9BFA6AF3}"/>
              </a:ext>
            </a:extLst>
          </p:cNvPr>
          <p:cNvSpPr txBox="1"/>
          <p:nvPr/>
        </p:nvSpPr>
        <p:spPr>
          <a:xfrm>
            <a:off x="1338494" y="5598625"/>
            <a:ext cx="2028825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10 Customers</a:t>
            </a:r>
          </a:p>
        </p:txBody>
      </p:sp>
      <p:pic>
        <p:nvPicPr>
          <p:cNvPr id="32" name="Picture 3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60FB3F1-E104-9CFC-7C4E-D3567F3BD8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61" b="33959"/>
          <a:stretch/>
        </p:blipFill>
        <p:spPr>
          <a:xfrm>
            <a:off x="8970818" y="138870"/>
            <a:ext cx="1475510" cy="280145"/>
          </a:xfrm>
          <a:prstGeom prst="rect">
            <a:avLst/>
          </a:prstGeom>
        </p:spPr>
      </p:pic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5876097-C566-529B-533F-5512A90BA2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4576670"/>
              </p:ext>
            </p:extLst>
          </p:nvPr>
        </p:nvGraphicFramePr>
        <p:xfrm>
          <a:off x="7754056" y="995892"/>
          <a:ext cx="4141610" cy="2996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45187360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186EBE-5452-73D5-4DBB-AE8D75C4694E}"/>
              </a:ext>
            </a:extLst>
          </p:cNvPr>
          <p:cNvSpPr/>
          <p:nvPr/>
        </p:nvSpPr>
        <p:spPr>
          <a:xfrm>
            <a:off x="244934" y="5497550"/>
            <a:ext cx="4096153" cy="53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5F4E3B-6AB1-A2DC-A7A7-66246324FD3F}"/>
              </a:ext>
            </a:extLst>
          </p:cNvPr>
          <p:cNvSpPr txBox="1"/>
          <p:nvPr/>
        </p:nvSpPr>
        <p:spPr>
          <a:xfrm>
            <a:off x="203843" y="489213"/>
            <a:ext cx="11740871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Portfolio Support | Spring Health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28DD5-9D6D-0F9E-2055-C8BF5309CF0D}"/>
              </a:ext>
            </a:extLst>
          </p:cNvPr>
          <p:cNvSpPr txBox="1"/>
          <p:nvPr/>
        </p:nvSpPr>
        <p:spPr>
          <a:xfrm>
            <a:off x="592047" y="1307836"/>
            <a:ext cx="3749040" cy="71323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Pre-Seed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MS PGothic"/>
                <a:cs typeface="Calibri Light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Seed, Series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77A72-DD9A-E1C2-A29A-2B198C65C386}"/>
              </a:ext>
            </a:extLst>
          </p:cNvPr>
          <p:cNvSpPr txBox="1"/>
          <p:nvPr/>
        </p:nvSpPr>
        <p:spPr>
          <a:xfrm>
            <a:off x="630306" y="999671"/>
            <a:ext cx="1675301" cy="28724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New Investment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147EA-C192-07FF-E1FD-DEBF264B5E25}"/>
              </a:ext>
            </a:extLst>
          </p:cNvPr>
          <p:cNvSpPr txBox="1"/>
          <p:nvPr/>
        </p:nvSpPr>
        <p:spPr>
          <a:xfrm>
            <a:off x="592047" y="4057702"/>
            <a:ext cx="3749040" cy="110642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Feedback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Exposure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10 Customers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A3132-2116-DC4B-32F5-9E86BEA2AA88}"/>
              </a:ext>
            </a:extLst>
          </p:cNvPr>
          <p:cNvSpPr txBox="1"/>
          <p:nvPr/>
        </p:nvSpPr>
        <p:spPr>
          <a:xfrm>
            <a:off x="570678" y="2577455"/>
            <a:ext cx="3749040" cy="882015"/>
          </a:xfrm>
          <a:prstGeom prst="round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10 out of 20 customers 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PeopleTech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Accelerator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Invested in Series 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79206-7C92-F9C7-E78B-FD2DB730B71D}"/>
              </a:ext>
            </a:extLst>
          </p:cNvPr>
          <p:cNvSpPr txBox="1"/>
          <p:nvPr/>
        </p:nvSpPr>
        <p:spPr>
          <a:xfrm rot="16200000">
            <a:off x="-566993" y="2874842"/>
            <a:ext cx="1911098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Activation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FB56F1-2E2A-51C7-4583-1B08DCE6281C}"/>
              </a:ext>
            </a:extLst>
          </p:cNvPr>
          <p:cNvSpPr txBox="1"/>
          <p:nvPr/>
        </p:nvSpPr>
        <p:spPr>
          <a:xfrm rot="16200000">
            <a:off x="-151725" y="4440423"/>
            <a:ext cx="1105300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Outcomes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202BD2-830F-5CDF-0C01-5B8DDE1F4E3F}"/>
              </a:ext>
            </a:extLst>
          </p:cNvPr>
          <p:cNvSpPr txBox="1"/>
          <p:nvPr/>
        </p:nvSpPr>
        <p:spPr>
          <a:xfrm rot="16200000">
            <a:off x="41146" y="1504022"/>
            <a:ext cx="715777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Stage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440BE9-9E53-E910-7023-09C9F77F79C7}"/>
              </a:ext>
            </a:extLst>
          </p:cNvPr>
          <p:cNvSpPr/>
          <p:nvPr/>
        </p:nvSpPr>
        <p:spPr>
          <a:xfrm flipV="1">
            <a:off x="206022" y="944032"/>
            <a:ext cx="11730566" cy="5442655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63EFB6-BB83-3ACF-5268-347878E83192}"/>
              </a:ext>
            </a:extLst>
          </p:cNvPr>
          <p:cNvSpPr txBox="1"/>
          <p:nvPr/>
        </p:nvSpPr>
        <p:spPr>
          <a:xfrm>
            <a:off x="4355463" y="998691"/>
            <a:ext cx="3749040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Early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BE339F-0912-6BF2-9BA3-9CD999172F09}"/>
              </a:ext>
            </a:extLst>
          </p:cNvPr>
          <p:cNvSpPr txBox="1"/>
          <p:nvPr/>
        </p:nvSpPr>
        <p:spPr>
          <a:xfrm>
            <a:off x="4365102" y="1303001"/>
            <a:ext cx="3749040" cy="713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Series A, Series B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Series C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B59CA1-F30A-D5D1-C5CE-731AD34719D8}"/>
              </a:ext>
            </a:extLst>
          </p:cNvPr>
          <p:cNvSpPr txBox="1"/>
          <p:nvPr/>
        </p:nvSpPr>
        <p:spPr>
          <a:xfrm>
            <a:off x="2352907" y="1002513"/>
            <a:ext cx="1966811" cy="28724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A4583E-465D-155C-B768-75016A3D3933}"/>
              </a:ext>
            </a:extLst>
          </p:cNvPr>
          <p:cNvSpPr txBox="1"/>
          <p:nvPr/>
        </p:nvSpPr>
        <p:spPr>
          <a:xfrm>
            <a:off x="4388588" y="4057702"/>
            <a:ext cx="3749040" cy="110642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Distribution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Partnerships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$10M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C261C6-4E43-B194-0399-08DB8A4F8919}"/>
              </a:ext>
            </a:extLst>
          </p:cNvPr>
          <p:cNvSpPr txBox="1"/>
          <p:nvPr/>
        </p:nvSpPr>
        <p:spPr>
          <a:xfrm>
            <a:off x="4358219" y="2762777"/>
            <a:ext cx="3749040" cy="584629"/>
          </a:xfrm>
          <a:prstGeom prst="roundRect">
            <a:avLst/>
          </a:prstGeom>
          <a:noFill/>
          <a:ln w="6350"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Broker partnership with top 10 broker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Invested in Series B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D2C4F395-93A5-53F7-DE5A-040F47145BAB}"/>
              </a:ext>
            </a:extLst>
          </p:cNvPr>
          <p:cNvSpPr/>
          <p:nvPr/>
        </p:nvSpPr>
        <p:spPr>
          <a:xfrm>
            <a:off x="255412" y="5211189"/>
            <a:ext cx="11627826" cy="1105300"/>
          </a:xfrm>
          <a:prstGeom prst="rightArrow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EEF2B-10F3-6698-159E-719B9BFA6AF3}"/>
              </a:ext>
            </a:extLst>
          </p:cNvPr>
          <p:cNvSpPr txBox="1"/>
          <p:nvPr/>
        </p:nvSpPr>
        <p:spPr>
          <a:xfrm>
            <a:off x="1338494" y="5598625"/>
            <a:ext cx="2028825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10 Customers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F7B6E4-B21D-1DBE-4F12-41AD5E73C2DD}"/>
              </a:ext>
            </a:extLst>
          </p:cNvPr>
          <p:cNvSpPr/>
          <p:nvPr/>
        </p:nvSpPr>
        <p:spPr>
          <a:xfrm>
            <a:off x="4319718" y="5491120"/>
            <a:ext cx="4096153" cy="5394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639038-902E-42FA-0ED0-94AA92AB4889}"/>
              </a:ext>
            </a:extLst>
          </p:cNvPr>
          <p:cNvSpPr txBox="1"/>
          <p:nvPr/>
        </p:nvSpPr>
        <p:spPr>
          <a:xfrm>
            <a:off x="5280075" y="5624307"/>
            <a:ext cx="1899815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$10M in ARR</a:t>
            </a:r>
          </a:p>
        </p:txBody>
      </p:sp>
      <p:pic>
        <p:nvPicPr>
          <p:cNvPr id="32" name="Picture 3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60FB3F1-E104-9CFC-7C4E-D3567F3BD8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61" b="33959"/>
          <a:stretch/>
        </p:blipFill>
        <p:spPr>
          <a:xfrm>
            <a:off x="8970818" y="138870"/>
            <a:ext cx="1475510" cy="28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223394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32DE969B-E9F4-AE97-9550-D5920BCDCB1B}"/>
              </a:ext>
            </a:extLst>
          </p:cNvPr>
          <p:cNvSpPr/>
          <p:nvPr/>
        </p:nvSpPr>
        <p:spPr>
          <a:xfrm rot="5400000">
            <a:off x="11086929" y="5501680"/>
            <a:ext cx="1050168" cy="542448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186EBE-5452-73D5-4DBB-AE8D75C4694E}"/>
              </a:ext>
            </a:extLst>
          </p:cNvPr>
          <p:cNvSpPr/>
          <p:nvPr/>
        </p:nvSpPr>
        <p:spPr>
          <a:xfrm>
            <a:off x="244934" y="5497550"/>
            <a:ext cx="4096153" cy="53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5F4E3B-6AB1-A2DC-A7A7-66246324FD3F}"/>
              </a:ext>
            </a:extLst>
          </p:cNvPr>
          <p:cNvSpPr txBox="1"/>
          <p:nvPr/>
        </p:nvSpPr>
        <p:spPr>
          <a:xfrm>
            <a:off x="203843" y="489213"/>
            <a:ext cx="11740871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Portfolio Support | Spring Health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28DD5-9D6D-0F9E-2055-C8BF5309CF0D}"/>
              </a:ext>
            </a:extLst>
          </p:cNvPr>
          <p:cNvSpPr txBox="1"/>
          <p:nvPr/>
        </p:nvSpPr>
        <p:spPr>
          <a:xfrm>
            <a:off x="592047" y="1307836"/>
            <a:ext cx="3749040" cy="71323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Pre-Seed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MS PGothic"/>
                <a:cs typeface="Calibri Light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Seed, Series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77A72-DD9A-E1C2-A29A-2B198C65C386}"/>
              </a:ext>
            </a:extLst>
          </p:cNvPr>
          <p:cNvSpPr txBox="1"/>
          <p:nvPr/>
        </p:nvSpPr>
        <p:spPr>
          <a:xfrm>
            <a:off x="630306" y="999671"/>
            <a:ext cx="1675301" cy="28724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New Investment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147EA-C192-07FF-E1FD-DEBF264B5E25}"/>
              </a:ext>
            </a:extLst>
          </p:cNvPr>
          <p:cNvSpPr txBox="1"/>
          <p:nvPr/>
        </p:nvSpPr>
        <p:spPr>
          <a:xfrm>
            <a:off x="592047" y="4057702"/>
            <a:ext cx="3749040" cy="110642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Feedback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Exposure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10 Customers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A3132-2116-DC4B-32F5-9E86BEA2AA88}"/>
              </a:ext>
            </a:extLst>
          </p:cNvPr>
          <p:cNvSpPr txBox="1"/>
          <p:nvPr/>
        </p:nvSpPr>
        <p:spPr>
          <a:xfrm>
            <a:off x="570678" y="2577455"/>
            <a:ext cx="3749040" cy="882015"/>
          </a:xfrm>
          <a:prstGeom prst="round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10 out of 20 customers 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PeopleTech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 Accelerator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Invested in Series 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79206-7C92-F9C7-E78B-FD2DB730B71D}"/>
              </a:ext>
            </a:extLst>
          </p:cNvPr>
          <p:cNvSpPr txBox="1"/>
          <p:nvPr/>
        </p:nvSpPr>
        <p:spPr>
          <a:xfrm rot="16200000">
            <a:off x="-566993" y="2874842"/>
            <a:ext cx="1911098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Activation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FB56F1-2E2A-51C7-4583-1B08DCE6281C}"/>
              </a:ext>
            </a:extLst>
          </p:cNvPr>
          <p:cNvSpPr txBox="1"/>
          <p:nvPr/>
        </p:nvSpPr>
        <p:spPr>
          <a:xfrm rot="16200000">
            <a:off x="-151725" y="4440423"/>
            <a:ext cx="1105300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Outcomes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202BD2-830F-5CDF-0C01-5B8DDE1F4E3F}"/>
              </a:ext>
            </a:extLst>
          </p:cNvPr>
          <p:cNvSpPr txBox="1"/>
          <p:nvPr/>
        </p:nvSpPr>
        <p:spPr>
          <a:xfrm rot="16200000">
            <a:off x="41146" y="1504022"/>
            <a:ext cx="715777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Stage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440BE9-9E53-E910-7023-09C9F77F79C7}"/>
              </a:ext>
            </a:extLst>
          </p:cNvPr>
          <p:cNvSpPr/>
          <p:nvPr/>
        </p:nvSpPr>
        <p:spPr>
          <a:xfrm flipV="1">
            <a:off x="206022" y="944032"/>
            <a:ext cx="11730566" cy="5442655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63EFB6-BB83-3ACF-5268-347878E83192}"/>
              </a:ext>
            </a:extLst>
          </p:cNvPr>
          <p:cNvSpPr txBox="1"/>
          <p:nvPr/>
        </p:nvSpPr>
        <p:spPr>
          <a:xfrm>
            <a:off x="4355463" y="998691"/>
            <a:ext cx="3749040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Early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BE339F-0912-6BF2-9BA3-9CD999172F09}"/>
              </a:ext>
            </a:extLst>
          </p:cNvPr>
          <p:cNvSpPr txBox="1"/>
          <p:nvPr/>
        </p:nvSpPr>
        <p:spPr>
          <a:xfrm>
            <a:off x="4365102" y="1303001"/>
            <a:ext cx="3749040" cy="713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Series A, Series B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Series C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B59CA1-F30A-D5D1-C5CE-731AD34719D8}"/>
              </a:ext>
            </a:extLst>
          </p:cNvPr>
          <p:cNvSpPr txBox="1"/>
          <p:nvPr/>
        </p:nvSpPr>
        <p:spPr>
          <a:xfrm>
            <a:off x="2352907" y="1002513"/>
            <a:ext cx="1966811" cy="28724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1A3BAE-58D2-4A11-A930-7A310A0FF938}"/>
              </a:ext>
            </a:extLst>
          </p:cNvPr>
          <p:cNvSpPr txBox="1"/>
          <p:nvPr/>
        </p:nvSpPr>
        <p:spPr>
          <a:xfrm>
            <a:off x="8140248" y="999671"/>
            <a:ext cx="3749040" cy="283464"/>
          </a:xfrm>
          <a:prstGeom prst="round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Scale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BBE87A-0BC9-1A25-63C9-81BED768B6D6}"/>
              </a:ext>
            </a:extLst>
          </p:cNvPr>
          <p:cNvSpPr txBox="1"/>
          <p:nvPr/>
        </p:nvSpPr>
        <p:spPr>
          <a:xfrm>
            <a:off x="8150845" y="1323954"/>
            <a:ext cx="3749040" cy="71323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Series C, Series D+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A4583E-465D-155C-B768-75016A3D3933}"/>
              </a:ext>
            </a:extLst>
          </p:cNvPr>
          <p:cNvSpPr txBox="1"/>
          <p:nvPr/>
        </p:nvSpPr>
        <p:spPr>
          <a:xfrm>
            <a:off x="4388588" y="4057702"/>
            <a:ext cx="3749040" cy="110642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Distribution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Partnerships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$10M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C261C6-4E43-B194-0399-08DB8A4F8919}"/>
              </a:ext>
            </a:extLst>
          </p:cNvPr>
          <p:cNvSpPr txBox="1"/>
          <p:nvPr/>
        </p:nvSpPr>
        <p:spPr>
          <a:xfrm>
            <a:off x="4358219" y="2762777"/>
            <a:ext cx="3749040" cy="584629"/>
          </a:xfrm>
          <a:prstGeom prst="roundRect">
            <a:avLst/>
          </a:prstGeom>
          <a:noFill/>
          <a:ln w="6350"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Broker partnership with top 10 broker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Invested in Series 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FDD0C5-048B-E58E-2E19-D72BA6940D57}"/>
              </a:ext>
            </a:extLst>
          </p:cNvPr>
          <p:cNvSpPr txBox="1"/>
          <p:nvPr/>
        </p:nvSpPr>
        <p:spPr>
          <a:xfrm>
            <a:off x="8162588" y="4057702"/>
            <a:ext cx="3749040" cy="11064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Channel Distribution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55969-A9F3-4CE4-7FDD-D14BA31B7240}"/>
              </a:ext>
            </a:extLst>
          </p:cNvPr>
          <p:cNvSpPr txBox="1"/>
          <p:nvPr/>
        </p:nvSpPr>
        <p:spPr>
          <a:xfrm>
            <a:off x="8134198" y="2652239"/>
            <a:ext cx="3749040" cy="768509"/>
          </a:xfrm>
          <a:prstGeom prst="roundRect">
            <a:avLst/>
          </a:prstGeom>
          <a:noFill/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$10M partnership deal with a top Life and Disability Broker, now worth $40M+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Invested in Series C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D2C4F395-93A5-53F7-DE5A-040F47145BAB}"/>
              </a:ext>
            </a:extLst>
          </p:cNvPr>
          <p:cNvSpPr/>
          <p:nvPr/>
        </p:nvSpPr>
        <p:spPr>
          <a:xfrm>
            <a:off x="255412" y="5211189"/>
            <a:ext cx="11627826" cy="1105300"/>
          </a:xfrm>
          <a:prstGeom prst="rightArrow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EEF2B-10F3-6698-159E-719B9BFA6AF3}"/>
              </a:ext>
            </a:extLst>
          </p:cNvPr>
          <p:cNvSpPr txBox="1"/>
          <p:nvPr/>
        </p:nvSpPr>
        <p:spPr>
          <a:xfrm>
            <a:off x="1338494" y="5598625"/>
            <a:ext cx="2028825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10 Customers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F7B6E4-B21D-1DBE-4F12-41AD5E73C2DD}"/>
              </a:ext>
            </a:extLst>
          </p:cNvPr>
          <p:cNvSpPr/>
          <p:nvPr/>
        </p:nvSpPr>
        <p:spPr>
          <a:xfrm>
            <a:off x="4319718" y="5491120"/>
            <a:ext cx="4096153" cy="5394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639038-902E-42FA-0ED0-94AA92AB4889}"/>
              </a:ext>
            </a:extLst>
          </p:cNvPr>
          <p:cNvSpPr txBox="1"/>
          <p:nvPr/>
        </p:nvSpPr>
        <p:spPr>
          <a:xfrm>
            <a:off x="5280075" y="5624307"/>
            <a:ext cx="1899815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$10M in ARR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4B8B14-BF79-BCE0-5195-E352241AD555}"/>
              </a:ext>
            </a:extLst>
          </p:cNvPr>
          <p:cNvSpPr/>
          <p:nvPr/>
        </p:nvSpPr>
        <p:spPr>
          <a:xfrm>
            <a:off x="8397162" y="5488104"/>
            <a:ext cx="3214851" cy="5394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F9E4CE-E787-D380-2511-25D0E21895F3}"/>
              </a:ext>
            </a:extLst>
          </p:cNvPr>
          <p:cNvSpPr txBox="1"/>
          <p:nvPr/>
        </p:nvSpPr>
        <p:spPr>
          <a:xfrm>
            <a:off x="8508243" y="5607900"/>
            <a:ext cx="2143472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$10M ARR Deal</a:t>
            </a:r>
          </a:p>
        </p:txBody>
      </p:sp>
      <p:pic>
        <p:nvPicPr>
          <p:cNvPr id="32" name="Picture 31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460FB3F1-E104-9CFC-7C4E-D3567F3BD8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61" b="33959"/>
          <a:stretch/>
        </p:blipFill>
        <p:spPr>
          <a:xfrm>
            <a:off x="8970818" y="138870"/>
            <a:ext cx="1475510" cy="28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333770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186EBE-5452-73D5-4DBB-AE8D75C4694E}"/>
              </a:ext>
            </a:extLst>
          </p:cNvPr>
          <p:cNvSpPr/>
          <p:nvPr/>
        </p:nvSpPr>
        <p:spPr>
          <a:xfrm>
            <a:off x="244934" y="5497550"/>
            <a:ext cx="4096153" cy="53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5F4E3B-6AB1-A2DC-A7A7-66246324FD3F}"/>
              </a:ext>
            </a:extLst>
          </p:cNvPr>
          <p:cNvSpPr txBox="1"/>
          <p:nvPr/>
        </p:nvSpPr>
        <p:spPr>
          <a:xfrm>
            <a:off x="203843" y="489213"/>
            <a:ext cx="11740871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Portfolio Support | Summer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28DD5-9D6D-0F9E-2055-C8BF5309CF0D}"/>
              </a:ext>
            </a:extLst>
          </p:cNvPr>
          <p:cNvSpPr txBox="1"/>
          <p:nvPr/>
        </p:nvSpPr>
        <p:spPr>
          <a:xfrm>
            <a:off x="592047" y="1307836"/>
            <a:ext cx="3749040" cy="71323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Pre-Seed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MS PGothic"/>
                <a:cs typeface="Calibri Light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Seed, Series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77A72-DD9A-E1C2-A29A-2B198C65C386}"/>
              </a:ext>
            </a:extLst>
          </p:cNvPr>
          <p:cNvSpPr txBox="1"/>
          <p:nvPr/>
        </p:nvSpPr>
        <p:spPr>
          <a:xfrm>
            <a:off x="630306" y="999671"/>
            <a:ext cx="1675301" cy="28724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New Investment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147EA-C192-07FF-E1FD-DEBF264B5E25}"/>
              </a:ext>
            </a:extLst>
          </p:cNvPr>
          <p:cNvSpPr txBox="1"/>
          <p:nvPr/>
        </p:nvSpPr>
        <p:spPr>
          <a:xfrm>
            <a:off x="592047" y="4057702"/>
            <a:ext cx="3749040" cy="110642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Feedback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Exposure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10 Customers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A3132-2116-DC4B-32F5-9E86BEA2AA88}"/>
              </a:ext>
            </a:extLst>
          </p:cNvPr>
          <p:cNvSpPr txBox="1"/>
          <p:nvPr/>
        </p:nvSpPr>
        <p:spPr>
          <a:xfrm>
            <a:off x="570678" y="2096189"/>
            <a:ext cx="3749040" cy="1844548"/>
          </a:xfrm>
          <a:prstGeom prst="round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Influenced revenue growth of up to $320,000K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40+ key connections to direct sales conversations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6 CHRO Board Members: Mattel Albertsons, ADP,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PetVet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, LEARN Behavioral, DirectTV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Structured feedback opportunities with Venture Advisors of 165+ leaders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Invested in Series A round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79206-7C92-F9C7-E78B-FD2DB730B71D}"/>
              </a:ext>
            </a:extLst>
          </p:cNvPr>
          <p:cNvSpPr txBox="1"/>
          <p:nvPr/>
        </p:nvSpPr>
        <p:spPr>
          <a:xfrm rot="16200000">
            <a:off x="-566993" y="2874842"/>
            <a:ext cx="1911098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Activation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FB56F1-2E2A-51C7-4583-1B08DCE6281C}"/>
              </a:ext>
            </a:extLst>
          </p:cNvPr>
          <p:cNvSpPr txBox="1"/>
          <p:nvPr/>
        </p:nvSpPr>
        <p:spPr>
          <a:xfrm rot="16200000">
            <a:off x="-151725" y="4440423"/>
            <a:ext cx="1105300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Outcomes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202BD2-830F-5CDF-0C01-5B8DDE1F4E3F}"/>
              </a:ext>
            </a:extLst>
          </p:cNvPr>
          <p:cNvSpPr txBox="1"/>
          <p:nvPr/>
        </p:nvSpPr>
        <p:spPr>
          <a:xfrm rot="16200000">
            <a:off x="41146" y="1504022"/>
            <a:ext cx="715777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Stage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440BE9-9E53-E910-7023-09C9F77F79C7}"/>
              </a:ext>
            </a:extLst>
          </p:cNvPr>
          <p:cNvSpPr/>
          <p:nvPr/>
        </p:nvSpPr>
        <p:spPr>
          <a:xfrm flipV="1">
            <a:off x="206022" y="944032"/>
            <a:ext cx="11730566" cy="5442655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B59CA1-F30A-D5D1-C5CE-731AD34719D8}"/>
              </a:ext>
            </a:extLst>
          </p:cNvPr>
          <p:cNvSpPr txBox="1"/>
          <p:nvPr/>
        </p:nvSpPr>
        <p:spPr>
          <a:xfrm>
            <a:off x="2352907" y="1002513"/>
            <a:ext cx="1966811" cy="28724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D2C4F395-93A5-53F7-DE5A-040F47145BAB}"/>
              </a:ext>
            </a:extLst>
          </p:cNvPr>
          <p:cNvSpPr/>
          <p:nvPr/>
        </p:nvSpPr>
        <p:spPr>
          <a:xfrm>
            <a:off x="255412" y="5211189"/>
            <a:ext cx="11627826" cy="1105300"/>
          </a:xfrm>
          <a:prstGeom prst="rightArrow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EEF2B-10F3-6698-159E-719B9BFA6AF3}"/>
              </a:ext>
            </a:extLst>
          </p:cNvPr>
          <p:cNvSpPr txBox="1"/>
          <p:nvPr/>
        </p:nvSpPr>
        <p:spPr>
          <a:xfrm>
            <a:off x="1338494" y="5598625"/>
            <a:ext cx="2028825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10 Customers</a:t>
            </a:r>
          </a:p>
        </p:txBody>
      </p:sp>
      <p:pic>
        <p:nvPicPr>
          <p:cNvPr id="28" name="Picture 27" descr="A blue and black logo&#10;&#10;Description automatically generated">
            <a:extLst>
              <a:ext uri="{FF2B5EF4-FFF2-40B4-BE49-F238E27FC236}">
                <a16:creationId xmlns:a16="http://schemas.microsoft.com/office/drawing/2014/main" id="{6577F8AA-7043-68E8-56BD-82B257D90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947" y="178470"/>
            <a:ext cx="935107" cy="20038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9348D3E-A9C8-A41A-F8D1-183FBEE024AF}"/>
              </a:ext>
            </a:extLst>
          </p:cNvPr>
          <p:cNvSpPr txBox="1"/>
          <p:nvPr/>
        </p:nvSpPr>
        <p:spPr>
          <a:xfrm>
            <a:off x="268435" y="6124452"/>
            <a:ext cx="110190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*SemperSystem ARR Tracking is non-exhaustive across the entirety of the portfolio. Data includes PY6 Q4 SemperSystem activation tracking and early reporting from PY7 activations.</a:t>
            </a:r>
          </a:p>
        </p:txBody>
      </p:sp>
    </p:spTree>
    <p:extLst>
      <p:ext uri="{BB962C8B-B14F-4D97-AF65-F5344CB8AC3E}">
        <p14:creationId xmlns:p14="http://schemas.microsoft.com/office/powerpoint/2010/main" val="1205348542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186EBE-5452-73D5-4DBB-AE8D75C4694E}"/>
              </a:ext>
            </a:extLst>
          </p:cNvPr>
          <p:cNvSpPr/>
          <p:nvPr/>
        </p:nvSpPr>
        <p:spPr>
          <a:xfrm>
            <a:off x="244934" y="5497550"/>
            <a:ext cx="4096153" cy="53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5F4E3B-6AB1-A2DC-A7A7-66246324FD3F}"/>
              </a:ext>
            </a:extLst>
          </p:cNvPr>
          <p:cNvSpPr txBox="1"/>
          <p:nvPr/>
        </p:nvSpPr>
        <p:spPr>
          <a:xfrm>
            <a:off x="203843" y="489213"/>
            <a:ext cx="11740871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Portfolio Support | Summer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28DD5-9D6D-0F9E-2055-C8BF5309CF0D}"/>
              </a:ext>
            </a:extLst>
          </p:cNvPr>
          <p:cNvSpPr txBox="1"/>
          <p:nvPr/>
        </p:nvSpPr>
        <p:spPr>
          <a:xfrm>
            <a:off x="592047" y="1307836"/>
            <a:ext cx="3749040" cy="71323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Pre-Seed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MS PGothic"/>
                <a:cs typeface="Calibri Light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Seed, Series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77A72-DD9A-E1C2-A29A-2B198C65C386}"/>
              </a:ext>
            </a:extLst>
          </p:cNvPr>
          <p:cNvSpPr txBox="1"/>
          <p:nvPr/>
        </p:nvSpPr>
        <p:spPr>
          <a:xfrm>
            <a:off x="630306" y="999671"/>
            <a:ext cx="1675301" cy="28724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New Investment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147EA-C192-07FF-E1FD-DEBF264B5E25}"/>
              </a:ext>
            </a:extLst>
          </p:cNvPr>
          <p:cNvSpPr txBox="1"/>
          <p:nvPr/>
        </p:nvSpPr>
        <p:spPr>
          <a:xfrm>
            <a:off x="592047" y="4057702"/>
            <a:ext cx="3749040" cy="110642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Feedback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Exposure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10 Customers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A3132-2116-DC4B-32F5-9E86BEA2AA88}"/>
              </a:ext>
            </a:extLst>
          </p:cNvPr>
          <p:cNvSpPr txBox="1"/>
          <p:nvPr/>
        </p:nvSpPr>
        <p:spPr>
          <a:xfrm>
            <a:off x="570678" y="2096189"/>
            <a:ext cx="3749040" cy="1844548"/>
          </a:xfrm>
          <a:prstGeom prst="round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Influenced revenue growth of up to $320,000K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40+ key connections to direct sales conversations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6 CHRO Board Members: Mattel Albertsons, ADP,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PetVet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, LEARN Behavioral, DirectTV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Structured feedback opportunities with Venture Advisors of 165+ leaders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Invested in Series A round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79206-7C92-F9C7-E78B-FD2DB730B71D}"/>
              </a:ext>
            </a:extLst>
          </p:cNvPr>
          <p:cNvSpPr txBox="1"/>
          <p:nvPr/>
        </p:nvSpPr>
        <p:spPr>
          <a:xfrm rot="16200000">
            <a:off x="-566993" y="2874842"/>
            <a:ext cx="1911098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Activation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FB56F1-2E2A-51C7-4583-1B08DCE6281C}"/>
              </a:ext>
            </a:extLst>
          </p:cNvPr>
          <p:cNvSpPr txBox="1"/>
          <p:nvPr/>
        </p:nvSpPr>
        <p:spPr>
          <a:xfrm rot="16200000">
            <a:off x="-151725" y="4440423"/>
            <a:ext cx="1105300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Outcomes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202BD2-830F-5CDF-0C01-5B8DDE1F4E3F}"/>
              </a:ext>
            </a:extLst>
          </p:cNvPr>
          <p:cNvSpPr txBox="1"/>
          <p:nvPr/>
        </p:nvSpPr>
        <p:spPr>
          <a:xfrm rot="16200000">
            <a:off x="41146" y="1504022"/>
            <a:ext cx="715777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Stage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440BE9-9E53-E910-7023-09C9F77F79C7}"/>
              </a:ext>
            </a:extLst>
          </p:cNvPr>
          <p:cNvSpPr/>
          <p:nvPr/>
        </p:nvSpPr>
        <p:spPr>
          <a:xfrm flipV="1">
            <a:off x="206022" y="944032"/>
            <a:ext cx="11730566" cy="5442655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63EFB6-BB83-3ACF-5268-347878E83192}"/>
              </a:ext>
            </a:extLst>
          </p:cNvPr>
          <p:cNvSpPr txBox="1"/>
          <p:nvPr/>
        </p:nvSpPr>
        <p:spPr>
          <a:xfrm>
            <a:off x="4355463" y="998691"/>
            <a:ext cx="3749040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Early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BE339F-0912-6BF2-9BA3-9CD999172F09}"/>
              </a:ext>
            </a:extLst>
          </p:cNvPr>
          <p:cNvSpPr txBox="1"/>
          <p:nvPr/>
        </p:nvSpPr>
        <p:spPr>
          <a:xfrm>
            <a:off x="4365102" y="1303001"/>
            <a:ext cx="3749040" cy="713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Series A, Series B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Series C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B59CA1-F30A-D5D1-C5CE-731AD34719D8}"/>
              </a:ext>
            </a:extLst>
          </p:cNvPr>
          <p:cNvSpPr txBox="1"/>
          <p:nvPr/>
        </p:nvSpPr>
        <p:spPr>
          <a:xfrm>
            <a:off x="2352907" y="1002513"/>
            <a:ext cx="1966811" cy="28724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A4583E-465D-155C-B768-75016A3D3933}"/>
              </a:ext>
            </a:extLst>
          </p:cNvPr>
          <p:cNvSpPr txBox="1"/>
          <p:nvPr/>
        </p:nvSpPr>
        <p:spPr>
          <a:xfrm>
            <a:off x="4388588" y="4057702"/>
            <a:ext cx="3749040" cy="110642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Distribution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Partnerships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$10M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C261C6-4E43-B194-0399-08DB8A4F8919}"/>
              </a:ext>
            </a:extLst>
          </p:cNvPr>
          <p:cNvSpPr txBox="1"/>
          <p:nvPr/>
        </p:nvSpPr>
        <p:spPr>
          <a:xfrm>
            <a:off x="4358219" y="2762777"/>
            <a:ext cx="3749040" cy="584629"/>
          </a:xfrm>
          <a:prstGeom prst="roundRect">
            <a:avLst/>
          </a:prstGeom>
          <a:noFill/>
          <a:ln w="6350"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8 large distribution connections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$9m of pipeline ARR reported*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D2C4F395-93A5-53F7-DE5A-040F47145BAB}"/>
              </a:ext>
            </a:extLst>
          </p:cNvPr>
          <p:cNvSpPr/>
          <p:nvPr/>
        </p:nvSpPr>
        <p:spPr>
          <a:xfrm>
            <a:off x="255412" y="5211189"/>
            <a:ext cx="11627826" cy="1105300"/>
          </a:xfrm>
          <a:prstGeom prst="rightArrow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EEF2B-10F3-6698-159E-719B9BFA6AF3}"/>
              </a:ext>
            </a:extLst>
          </p:cNvPr>
          <p:cNvSpPr txBox="1"/>
          <p:nvPr/>
        </p:nvSpPr>
        <p:spPr>
          <a:xfrm>
            <a:off x="1338494" y="5598625"/>
            <a:ext cx="2028825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10 Customers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F7B6E4-B21D-1DBE-4F12-41AD5E73C2DD}"/>
              </a:ext>
            </a:extLst>
          </p:cNvPr>
          <p:cNvSpPr/>
          <p:nvPr/>
        </p:nvSpPr>
        <p:spPr>
          <a:xfrm>
            <a:off x="4319718" y="5491120"/>
            <a:ext cx="4096153" cy="5394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8" name="Picture 27" descr="A blue and black logo&#10;&#10;Description automatically generated">
            <a:extLst>
              <a:ext uri="{FF2B5EF4-FFF2-40B4-BE49-F238E27FC236}">
                <a16:creationId xmlns:a16="http://schemas.microsoft.com/office/drawing/2014/main" id="{6577F8AA-7043-68E8-56BD-82B257D90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947" y="178470"/>
            <a:ext cx="935107" cy="20038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9348D3E-A9C8-A41A-F8D1-183FBEE024AF}"/>
              </a:ext>
            </a:extLst>
          </p:cNvPr>
          <p:cNvSpPr txBox="1"/>
          <p:nvPr/>
        </p:nvSpPr>
        <p:spPr>
          <a:xfrm>
            <a:off x="268435" y="6124452"/>
            <a:ext cx="110190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*SemperSystem ARR Tracking is non-exhaustive across the entirety of the portfolio. Data includes PY6 Q4 SemperSystem activation tracking and early reporting from PY7 activations.</a:t>
            </a:r>
          </a:p>
        </p:txBody>
      </p:sp>
    </p:spTree>
    <p:extLst>
      <p:ext uri="{BB962C8B-B14F-4D97-AF65-F5344CB8AC3E}">
        <p14:creationId xmlns:p14="http://schemas.microsoft.com/office/powerpoint/2010/main" val="1141107107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riangle 13">
            <a:extLst>
              <a:ext uri="{FF2B5EF4-FFF2-40B4-BE49-F238E27FC236}">
                <a16:creationId xmlns:a16="http://schemas.microsoft.com/office/drawing/2014/main" id="{32DE969B-E9F4-AE97-9550-D5920BCDCB1B}"/>
              </a:ext>
            </a:extLst>
          </p:cNvPr>
          <p:cNvSpPr/>
          <p:nvPr/>
        </p:nvSpPr>
        <p:spPr>
          <a:xfrm rot="5400000">
            <a:off x="11086929" y="5501680"/>
            <a:ext cx="1050168" cy="542448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186EBE-5452-73D5-4DBB-AE8D75C4694E}"/>
              </a:ext>
            </a:extLst>
          </p:cNvPr>
          <p:cNvSpPr/>
          <p:nvPr/>
        </p:nvSpPr>
        <p:spPr>
          <a:xfrm>
            <a:off x="244934" y="5497550"/>
            <a:ext cx="4096153" cy="53035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5F4E3B-6AB1-A2DC-A7A7-66246324FD3F}"/>
              </a:ext>
            </a:extLst>
          </p:cNvPr>
          <p:cNvSpPr txBox="1"/>
          <p:nvPr/>
        </p:nvSpPr>
        <p:spPr>
          <a:xfrm>
            <a:off x="203843" y="489213"/>
            <a:ext cx="11740871" cy="37112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Display"/>
                <a:ea typeface="MS PGothic"/>
                <a:cs typeface="Calibri Light"/>
              </a:rPr>
              <a:t>SemperSystem Portfolio Support | Summer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 Display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228DD5-9D6D-0F9E-2055-C8BF5309CF0D}"/>
              </a:ext>
            </a:extLst>
          </p:cNvPr>
          <p:cNvSpPr txBox="1"/>
          <p:nvPr/>
        </p:nvSpPr>
        <p:spPr>
          <a:xfrm>
            <a:off x="592047" y="1307836"/>
            <a:ext cx="3749040" cy="713232"/>
          </a:xfrm>
          <a:prstGeom prst="round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Pre-Seed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MS PGothic"/>
                <a:cs typeface="Calibri Light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Seed, Series 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177A72-DD9A-E1C2-A29A-2B198C65C386}"/>
              </a:ext>
            </a:extLst>
          </p:cNvPr>
          <p:cNvSpPr txBox="1"/>
          <p:nvPr/>
        </p:nvSpPr>
        <p:spPr>
          <a:xfrm>
            <a:off x="630306" y="999671"/>
            <a:ext cx="1675301" cy="28724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New Investment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147EA-C192-07FF-E1FD-DEBF264B5E25}"/>
              </a:ext>
            </a:extLst>
          </p:cNvPr>
          <p:cNvSpPr txBox="1"/>
          <p:nvPr/>
        </p:nvSpPr>
        <p:spPr>
          <a:xfrm>
            <a:off x="592047" y="4057702"/>
            <a:ext cx="3749040" cy="1106424"/>
          </a:xfrm>
          <a:prstGeom prst="round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Feedback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Market Exposure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10 Customers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A3132-2116-DC4B-32F5-9E86BEA2AA88}"/>
              </a:ext>
            </a:extLst>
          </p:cNvPr>
          <p:cNvSpPr txBox="1"/>
          <p:nvPr/>
        </p:nvSpPr>
        <p:spPr>
          <a:xfrm>
            <a:off x="570678" y="2096189"/>
            <a:ext cx="3749040" cy="1844548"/>
          </a:xfrm>
          <a:prstGeom prst="round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Influenced revenue growth of up to $320,000K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40+ key connections to direct sales conversations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6 CHRO Board Members: Mattel Albertsons, ADP, </a:t>
            </a: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PetVet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, LEARN Behavioral, DirectTV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Structured feedback opportunities with Venture Advisors of 165+ leaders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Invested in Series A round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79206-7C92-F9C7-E78B-FD2DB730B71D}"/>
              </a:ext>
            </a:extLst>
          </p:cNvPr>
          <p:cNvSpPr txBox="1"/>
          <p:nvPr/>
        </p:nvSpPr>
        <p:spPr>
          <a:xfrm rot="16200000">
            <a:off x="-566993" y="2874842"/>
            <a:ext cx="1911098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SemperSystem Activation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FB56F1-2E2A-51C7-4583-1B08DCE6281C}"/>
              </a:ext>
            </a:extLst>
          </p:cNvPr>
          <p:cNvSpPr txBox="1"/>
          <p:nvPr/>
        </p:nvSpPr>
        <p:spPr>
          <a:xfrm rot="16200000">
            <a:off x="-151725" y="4440423"/>
            <a:ext cx="1105300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Outcomes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202BD2-830F-5CDF-0C01-5B8DDE1F4E3F}"/>
              </a:ext>
            </a:extLst>
          </p:cNvPr>
          <p:cNvSpPr txBox="1"/>
          <p:nvPr/>
        </p:nvSpPr>
        <p:spPr>
          <a:xfrm rot="16200000">
            <a:off x="41146" y="1504022"/>
            <a:ext cx="715777" cy="28724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Stage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440BE9-9E53-E910-7023-09C9F77F79C7}"/>
              </a:ext>
            </a:extLst>
          </p:cNvPr>
          <p:cNvSpPr/>
          <p:nvPr/>
        </p:nvSpPr>
        <p:spPr>
          <a:xfrm flipV="1">
            <a:off x="206022" y="944032"/>
            <a:ext cx="11730566" cy="5442655"/>
          </a:xfrm>
          <a:prstGeom prst="rect">
            <a:avLst/>
          </a:prstGeom>
          <a:noFill/>
          <a:ln w="63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63EFB6-BB83-3ACF-5268-347878E83192}"/>
              </a:ext>
            </a:extLst>
          </p:cNvPr>
          <p:cNvSpPr txBox="1"/>
          <p:nvPr/>
        </p:nvSpPr>
        <p:spPr>
          <a:xfrm>
            <a:off x="4355463" y="998691"/>
            <a:ext cx="3749040" cy="287242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Early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BE339F-0912-6BF2-9BA3-9CD999172F09}"/>
              </a:ext>
            </a:extLst>
          </p:cNvPr>
          <p:cNvSpPr txBox="1"/>
          <p:nvPr/>
        </p:nvSpPr>
        <p:spPr>
          <a:xfrm>
            <a:off x="4365102" y="1303001"/>
            <a:ext cx="3749040" cy="713232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Series A, Series B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D2F3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Series C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0B59CA1-F30A-D5D1-C5CE-731AD34719D8}"/>
              </a:ext>
            </a:extLst>
          </p:cNvPr>
          <p:cNvSpPr txBox="1"/>
          <p:nvPr/>
        </p:nvSpPr>
        <p:spPr>
          <a:xfrm>
            <a:off x="2352907" y="1002513"/>
            <a:ext cx="1966811" cy="287242"/>
          </a:xfrm>
          <a:prstGeom prst="round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Seed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31A3BAE-58D2-4A11-A930-7A310A0FF938}"/>
              </a:ext>
            </a:extLst>
          </p:cNvPr>
          <p:cNvSpPr txBox="1"/>
          <p:nvPr/>
        </p:nvSpPr>
        <p:spPr>
          <a:xfrm>
            <a:off x="8140248" y="999671"/>
            <a:ext cx="3749040" cy="28346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Scale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BBE87A-0BC9-1A25-63C9-81BED768B6D6}"/>
              </a:ext>
            </a:extLst>
          </p:cNvPr>
          <p:cNvSpPr txBox="1"/>
          <p:nvPr/>
        </p:nvSpPr>
        <p:spPr>
          <a:xfrm>
            <a:off x="8150845" y="1323954"/>
            <a:ext cx="3749040" cy="71323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Series C, Series D+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A4583E-465D-155C-B768-75016A3D3933}"/>
              </a:ext>
            </a:extLst>
          </p:cNvPr>
          <p:cNvSpPr txBox="1"/>
          <p:nvPr/>
        </p:nvSpPr>
        <p:spPr>
          <a:xfrm>
            <a:off x="4388588" y="4057702"/>
            <a:ext cx="3749040" cy="1106424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Distribution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Partnerships</a:t>
            </a: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First $10M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C261C6-4E43-B194-0399-08DB8A4F8919}"/>
              </a:ext>
            </a:extLst>
          </p:cNvPr>
          <p:cNvSpPr txBox="1"/>
          <p:nvPr/>
        </p:nvSpPr>
        <p:spPr>
          <a:xfrm>
            <a:off x="4358219" y="2762777"/>
            <a:ext cx="3749040" cy="584629"/>
          </a:xfrm>
          <a:prstGeom prst="roundRect">
            <a:avLst/>
          </a:prstGeom>
          <a:noFill/>
          <a:ln w="6350">
            <a:solidFill>
              <a:schemeClr val="accent3">
                <a:lumMod val="75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8 large distribution connections</a:t>
            </a:r>
          </a:p>
          <a:p>
            <a:pPr marL="171450" marR="0" lvl="0" indent="-17145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$9m of pipeline ARR reported*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FDD0C5-048B-E58E-2E19-D72BA6940D57}"/>
              </a:ext>
            </a:extLst>
          </p:cNvPr>
          <p:cNvSpPr txBox="1"/>
          <p:nvPr/>
        </p:nvSpPr>
        <p:spPr>
          <a:xfrm>
            <a:off x="8168070" y="4287881"/>
            <a:ext cx="3749040" cy="64606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  <a:p>
            <a:pPr marL="0" marR="0" lvl="0" indent="0" algn="ctr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1D2F32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D55969-A9F3-4CE4-7FDD-D14BA31B7240}"/>
              </a:ext>
            </a:extLst>
          </p:cNvPr>
          <p:cNvSpPr txBox="1"/>
          <p:nvPr/>
        </p:nvSpPr>
        <p:spPr>
          <a:xfrm>
            <a:off x="8134198" y="2892872"/>
            <a:ext cx="3749040" cy="28724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1C4846"/>
              </a:solidFill>
              <a:effectLst/>
              <a:uLnTx/>
              <a:uFillTx/>
              <a:latin typeface="Aptos Light"/>
              <a:ea typeface="MS PGothic"/>
              <a:cs typeface="Calibri Light"/>
            </a:endParaRP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D2C4F395-93A5-53F7-DE5A-040F47145BAB}"/>
              </a:ext>
            </a:extLst>
          </p:cNvPr>
          <p:cNvSpPr/>
          <p:nvPr/>
        </p:nvSpPr>
        <p:spPr>
          <a:xfrm>
            <a:off x="255412" y="5211189"/>
            <a:ext cx="11627826" cy="1105300"/>
          </a:xfrm>
          <a:prstGeom prst="rightArrow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BEEF2B-10F3-6698-159E-719B9BFA6AF3}"/>
              </a:ext>
            </a:extLst>
          </p:cNvPr>
          <p:cNvSpPr txBox="1"/>
          <p:nvPr/>
        </p:nvSpPr>
        <p:spPr>
          <a:xfrm>
            <a:off x="1338494" y="5598625"/>
            <a:ext cx="2028825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10 Customers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F7B6E4-B21D-1DBE-4F12-41AD5E73C2DD}"/>
              </a:ext>
            </a:extLst>
          </p:cNvPr>
          <p:cNvSpPr/>
          <p:nvPr/>
        </p:nvSpPr>
        <p:spPr>
          <a:xfrm>
            <a:off x="4319718" y="5491120"/>
            <a:ext cx="4096153" cy="5394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639038-902E-42FA-0ED0-94AA92AB4889}"/>
              </a:ext>
            </a:extLst>
          </p:cNvPr>
          <p:cNvSpPr txBox="1"/>
          <p:nvPr/>
        </p:nvSpPr>
        <p:spPr>
          <a:xfrm>
            <a:off x="5280075" y="5624307"/>
            <a:ext cx="1899815" cy="31534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marL="213352" marR="0" lvl="0" indent="-213352" algn="l" defTabSz="543705" rtl="0" eaLnBrk="1" fontAlgn="base" latinLnBrk="0" hangingPunct="1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Tx/>
              <a:buSzPct val="80000"/>
              <a:buFont typeface="Wingdings" pitchFamily="2" charset="2"/>
              <a:buChar char="ü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 panose="020B0004020202020204" pitchFamily="34" charset="0"/>
                <a:ea typeface="MS PGothic" pitchFamily="34" charset="-128"/>
                <a:cs typeface="Calibri Light"/>
              </a:rPr>
              <a:t>First $10M in ARR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4B8B14-BF79-BCE0-5195-E352241AD555}"/>
              </a:ext>
            </a:extLst>
          </p:cNvPr>
          <p:cNvSpPr/>
          <p:nvPr/>
        </p:nvSpPr>
        <p:spPr>
          <a:xfrm>
            <a:off x="8397162" y="5488104"/>
            <a:ext cx="3214851" cy="5394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8" name="Picture 27" descr="A blue and black logo&#10;&#10;Description automatically generated">
            <a:extLst>
              <a:ext uri="{FF2B5EF4-FFF2-40B4-BE49-F238E27FC236}">
                <a16:creationId xmlns:a16="http://schemas.microsoft.com/office/drawing/2014/main" id="{6577F8AA-7043-68E8-56BD-82B257D90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1947" y="178470"/>
            <a:ext cx="935107" cy="20038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9348D3E-A9C8-A41A-F8D1-183FBEE024AF}"/>
              </a:ext>
            </a:extLst>
          </p:cNvPr>
          <p:cNvSpPr txBox="1"/>
          <p:nvPr/>
        </p:nvSpPr>
        <p:spPr>
          <a:xfrm>
            <a:off x="268435" y="6124452"/>
            <a:ext cx="1101900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5437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C4846"/>
                </a:solidFill>
                <a:effectLst/>
                <a:uLnTx/>
                <a:uFillTx/>
                <a:latin typeface="Aptos Light"/>
                <a:ea typeface="MS PGothic"/>
                <a:cs typeface="Calibri Light"/>
              </a:rPr>
              <a:t>*SemperSystem ARR Tracking is non-exhaustive across the entirety of the portfolio. Data includes PY6 Q4 SemperSystem activation tracking and early reporting from PY7 activations.</a:t>
            </a:r>
          </a:p>
        </p:txBody>
      </p:sp>
    </p:spTree>
    <p:extLst>
      <p:ext uri="{BB962C8B-B14F-4D97-AF65-F5344CB8AC3E}">
        <p14:creationId xmlns:p14="http://schemas.microsoft.com/office/powerpoint/2010/main" val="3872173001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SemperVirens Theme">
  <a:themeElements>
    <a:clrScheme name="SemperVirens 2024">
      <a:dk1>
        <a:srgbClr val="1D2F32"/>
      </a:dk1>
      <a:lt1>
        <a:srgbClr val="FFFFFF"/>
      </a:lt1>
      <a:dk2>
        <a:srgbClr val="231D41"/>
      </a:dk2>
      <a:lt2>
        <a:srgbClr val="F1F0EA"/>
      </a:lt2>
      <a:accent1>
        <a:srgbClr val="81C583"/>
      </a:accent1>
      <a:accent2>
        <a:srgbClr val="EE4337"/>
      </a:accent2>
      <a:accent3>
        <a:srgbClr val="5AC6D8"/>
      </a:accent3>
      <a:accent4>
        <a:srgbClr val="20A752"/>
      </a:accent4>
      <a:accent5>
        <a:srgbClr val="0C7A6B"/>
      </a:accent5>
      <a:accent6>
        <a:srgbClr val="F7971C"/>
      </a:accent6>
      <a:hlink>
        <a:srgbClr val="5EBDCC"/>
      </a:hlink>
      <a:folHlink>
        <a:srgbClr val="30C3D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 anchor="ctr">
        <a:spAutoFit/>
      </a:bodyPr>
      <a:lstStyle>
        <a:defPPr marL="213352" marR="0" indent="-213352" algn="l" defTabSz="543705" rtl="0" eaLnBrk="1" fontAlgn="base" latinLnBrk="0" hangingPunct="1">
          <a:lnSpc>
            <a:spcPct val="90000"/>
          </a:lnSpc>
          <a:spcBef>
            <a:spcPts val="400"/>
          </a:spcBef>
          <a:spcAft>
            <a:spcPts val="400"/>
          </a:spcAft>
          <a:buClrTx/>
          <a:buSzPct val="80000"/>
          <a:buFont typeface="Wingdings" pitchFamily="2" charset="2"/>
          <a:buChar char="ü"/>
          <a:tabLst/>
          <a:defRPr kumimoji="0" sz="1600" b="0" i="0" u="none" strike="noStrike" kern="1200" cap="none" spc="0" normalizeH="0" baseline="0" noProof="0" dirty="0" smtClean="0">
            <a:ln>
              <a:noFill/>
            </a:ln>
            <a:solidFill>
              <a:srgbClr val="1C4846"/>
            </a:solidFill>
            <a:effectLst/>
            <a:uLnTx/>
            <a:uFillTx/>
            <a:latin typeface="Aptos Light" panose="020B0004020202020204" pitchFamily="34" charset="0"/>
            <a:ea typeface="MS PGothic" pitchFamily="34" charset="-128"/>
            <a:cs typeface="Calibri Ligh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4" id="{5A4015EF-E751-3146-8A4D-7ED1A0EC65C7}" vid="{024FE2F9-B8B7-A04F-8CF1-7AEDBB461E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F1C2E615ACEF4BB292E61AB2605F04" ma:contentTypeVersion="16" ma:contentTypeDescription="Create a new document." ma:contentTypeScope="" ma:versionID="97e70171b94653120e04a70c7af1fee8">
  <xsd:schema xmlns:xsd="http://www.w3.org/2001/XMLSchema" xmlns:xs="http://www.w3.org/2001/XMLSchema" xmlns:p="http://schemas.microsoft.com/office/2006/metadata/properties" xmlns:ns2="7f50e7df-5d91-4eac-ae56-c17bdc0fdf29" xmlns:ns3="03234d81-a713-4ef7-a061-049f861ba5b2" targetNamespace="http://schemas.microsoft.com/office/2006/metadata/properties" ma:root="true" ma:fieldsID="85849bd326e5c812a7b3e7124faca5b8" ns2:_="" ns3:_="">
    <xsd:import namespace="7f50e7df-5d91-4eac-ae56-c17bdc0fdf29"/>
    <xsd:import namespace="03234d81-a713-4ef7-a061-049f861ba5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ink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50e7df-5d91-4eac-ae56-c17bdc0fdf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ec9451e-5637-44ac-aa50-c716f48178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ink" ma:index="22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234d81-a713-4ef7-a061-049f861ba5b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756d9e5-c5b7-46de-b79e-b6ec3c130b20}" ma:internalName="TaxCatchAll" ma:showField="CatchAllData" ma:web="03234d81-a713-4ef7-a061-049f861ba5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3234d81-a713-4ef7-a061-049f861ba5b2" xsi:nil="true"/>
    <Link xmlns="7f50e7df-5d91-4eac-ae56-c17bdc0fdf29">
      <Url xsi:nil="true"/>
      <Description xsi:nil="true"/>
    </Link>
    <lcf76f155ced4ddcb4097134ff3c332f xmlns="7f50e7df-5d91-4eac-ae56-c17bdc0fdf2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89B196-27B7-49F9-ABDC-437962305F64}">
  <ds:schemaRefs>
    <ds:schemaRef ds:uri="03234d81-a713-4ef7-a061-049f861ba5b2"/>
    <ds:schemaRef ds:uri="7f50e7df-5d91-4eac-ae56-c17bdc0fdf2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5CF2359-256E-44B5-8A4D-940E3101F4EE}">
  <ds:schemaRefs>
    <ds:schemaRef ds:uri="03234d81-a713-4ef7-a061-049f861ba5b2"/>
    <ds:schemaRef ds:uri="7f50e7df-5d91-4eac-ae56-c17bdc0fdf2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DE163A6-BD39-4962-955F-4589EA16E53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33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SemperVirens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SemperSystem Success Plan – Early Stage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Dalton Dahms-Shermer</dc:creator>
  <cp:revision>3</cp:revision>
  <dcterms:created xsi:type="dcterms:W3CDTF">2024-11-21T02:44:56Z</dcterms:created>
  <dcterms:modified xsi:type="dcterms:W3CDTF">2025-04-28T20:51:59Z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0x010100E2F1C2E615ACEF4BB292E61AB2605F04</vt:lpwstr>
  </property>
  <property fmtid="{D5CDD505-2E9C-101B-9397-08002B2CF9AE}" pid="3" name="MediaServiceImageTags">
    <vt:lpwstr/>
  </property>
</Properties>
</file>